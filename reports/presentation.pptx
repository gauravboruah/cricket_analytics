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1986" y="1779630"/>
            <a:ext cx="8088565" cy="29340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9332" y="2008159"/>
            <a:ext cx="8108950" cy="24911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jp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655"/>
            <a:ext cx="10058400" cy="56586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0010" rIns="0" bIns="0" rtlCol="0" vert="horz">
            <a:spAutoFit/>
          </a:bodyPr>
          <a:lstStyle/>
          <a:p>
            <a:pPr algn="ctr" marL="38735" marR="5080">
              <a:lnSpc>
                <a:spcPct val="90100"/>
              </a:lnSpc>
              <a:spcBef>
                <a:spcPts val="630"/>
              </a:spcBef>
            </a:pPr>
            <a:r>
              <a:rPr dirty="0" sz="4450" spc="960" b="1">
                <a:solidFill>
                  <a:srgbClr val="FF0000"/>
                </a:solidFill>
                <a:latin typeface="Cambria"/>
                <a:cs typeface="Cambria"/>
              </a:rPr>
              <a:t>CRICKET</a:t>
            </a:r>
            <a:r>
              <a:rPr dirty="0" sz="4450" spc="135" b="1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4450" spc="715" b="1">
                <a:solidFill>
                  <a:srgbClr val="FF0000"/>
                </a:solidFill>
                <a:latin typeface="Cambria"/>
                <a:cs typeface="Cambria"/>
              </a:rPr>
              <a:t>ANALYTICS </a:t>
            </a:r>
            <a:r>
              <a:rPr dirty="0" sz="4450" spc="785" b="1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dirty="0" sz="4450" spc="180" b="1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4450" spc="875" b="1">
                <a:solidFill>
                  <a:srgbClr val="FF0000"/>
                </a:solidFill>
                <a:latin typeface="Cambria"/>
                <a:cs typeface="Cambria"/>
              </a:rPr>
              <a:t>TOURNAMENT </a:t>
            </a:r>
            <a:r>
              <a:rPr dirty="0" sz="4450" spc="1045" b="1">
                <a:solidFill>
                  <a:srgbClr val="FF0000"/>
                </a:solidFill>
                <a:latin typeface="Cambria"/>
                <a:cs typeface="Cambria"/>
              </a:rPr>
              <a:t>INTELLIGENCE </a:t>
            </a:r>
            <a:r>
              <a:rPr dirty="0" sz="4450" spc="880" b="1">
                <a:solidFill>
                  <a:srgbClr val="FF0000"/>
                </a:solidFill>
                <a:latin typeface="Cambria"/>
                <a:cs typeface="Cambria"/>
              </a:rPr>
              <a:t>SYSTEM</a:t>
            </a:r>
            <a:endParaRPr sz="44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9212" y="1262445"/>
            <a:ext cx="2749550" cy="1025525"/>
          </a:xfrm>
          <a:prstGeom prst="rect">
            <a:avLst/>
          </a:prstGeom>
        </p:spPr>
        <p:txBody>
          <a:bodyPr wrap="square" lIns="0" tIns="130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dirty="0" sz="1650" spc="425">
                <a:latin typeface="Cambria"/>
                <a:cs typeface="Cambria"/>
              </a:rPr>
              <a:t>PRESENTED</a:t>
            </a:r>
            <a:r>
              <a:rPr dirty="0" sz="1650" spc="45">
                <a:latin typeface="Cambria"/>
                <a:cs typeface="Cambria"/>
              </a:rPr>
              <a:t> </a:t>
            </a:r>
            <a:r>
              <a:rPr dirty="0" sz="1650" spc="210">
                <a:latin typeface="Cambria"/>
                <a:cs typeface="Cambria"/>
              </a:rPr>
              <a:t>BY,</a:t>
            </a:r>
            <a:endParaRPr sz="1650">
              <a:latin typeface="Cambria"/>
              <a:cs typeface="Cambria"/>
            </a:endParaRPr>
          </a:p>
          <a:p>
            <a:pPr algn="r" marR="5080">
              <a:lnSpc>
                <a:spcPct val="100000"/>
              </a:lnSpc>
              <a:spcBef>
                <a:spcPts val="875"/>
              </a:spcBef>
            </a:pPr>
            <a:r>
              <a:rPr dirty="0" sz="1450">
                <a:latin typeface="Courier New"/>
                <a:cs typeface="Courier New"/>
              </a:rPr>
              <a:t>GROUP</a:t>
            </a:r>
            <a:r>
              <a:rPr dirty="0" sz="1450" spc="114">
                <a:latin typeface="Courier New"/>
                <a:cs typeface="Courier New"/>
              </a:rPr>
              <a:t> </a:t>
            </a:r>
            <a:r>
              <a:rPr dirty="0" sz="1450" spc="-50">
                <a:latin typeface="Calibri"/>
                <a:cs typeface="Calibri"/>
              </a:rPr>
              <a:t>I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450">
                <a:latin typeface="Calibri"/>
                <a:cs typeface="Calibri"/>
              </a:rPr>
              <a:t>MEMBERS</a:t>
            </a:r>
            <a:r>
              <a:rPr dirty="0" sz="1450" spc="65">
                <a:latin typeface="Calibri"/>
                <a:cs typeface="Calibri"/>
              </a:rPr>
              <a:t> </a:t>
            </a:r>
            <a:r>
              <a:rPr dirty="0" sz="1450" spc="-50">
                <a:latin typeface="Calibri"/>
                <a:cs typeface="Calibri"/>
              </a:rPr>
              <a:t>:</a:t>
            </a:r>
            <a:endParaRPr sz="145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560" y="2592324"/>
            <a:ext cx="8406384" cy="2564891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65226" y="2586989"/>
          <a:ext cx="8493760" cy="3097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1670"/>
                <a:gridCol w="3542029"/>
                <a:gridCol w="2101850"/>
                <a:gridCol w="2101850"/>
              </a:tblGrid>
              <a:tr h="3429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45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S.N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98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45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4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College/University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4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Subject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099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50" spc="-50">
                          <a:latin typeface="Calibri"/>
                          <a:cs typeface="Calibri"/>
                        </a:rPr>
                        <a:t>1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Gaurav</a:t>
                      </a:r>
                      <a:r>
                        <a:rPr dirty="0" sz="1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>
                          <a:latin typeface="Calibri"/>
                          <a:cs typeface="Calibri"/>
                        </a:rPr>
                        <a:t>Kishor</a:t>
                      </a:r>
                      <a:r>
                        <a:rPr dirty="0" sz="145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Boruah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Dhemaji</a:t>
                      </a:r>
                      <a:r>
                        <a:rPr dirty="0" sz="14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College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50" spc="-10">
                          <a:latin typeface="Calibri"/>
                          <a:cs typeface="Calibri"/>
                        </a:rPr>
                        <a:t>Physics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50" spc="-50">
                          <a:latin typeface="Calibri"/>
                          <a:cs typeface="Calibri"/>
                        </a:rPr>
                        <a:t>2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Jigyash</a:t>
                      </a:r>
                      <a:r>
                        <a:rPr dirty="0" sz="14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Boruah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marR="713740">
                        <a:lnSpc>
                          <a:spcPct val="102099"/>
                        </a:lnSpc>
                        <a:spcBef>
                          <a:spcPts val="190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North</a:t>
                      </a:r>
                      <a:r>
                        <a:rPr dirty="0" sz="1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Lakhimpur University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50" spc="-10">
                          <a:latin typeface="Calibri"/>
                          <a:cs typeface="Calibri"/>
                        </a:rPr>
                        <a:t>Anthropology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50" spc="-50">
                          <a:latin typeface="Calibri"/>
                          <a:cs typeface="Calibri"/>
                        </a:rPr>
                        <a:t>3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Monojjol</a:t>
                      </a:r>
                      <a:r>
                        <a:rPr dirty="0" sz="14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20">
                          <a:latin typeface="Calibri"/>
                          <a:cs typeface="Calibri"/>
                        </a:rPr>
                        <a:t>Borah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marR="713740">
                        <a:lnSpc>
                          <a:spcPct val="102099"/>
                        </a:lnSpc>
                        <a:spcBef>
                          <a:spcPts val="190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North</a:t>
                      </a:r>
                      <a:r>
                        <a:rPr dirty="0" sz="1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Lakhimpur University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50" spc="-10">
                          <a:latin typeface="Calibri"/>
                          <a:cs typeface="Calibri"/>
                        </a:rPr>
                        <a:t>Statistics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450" spc="-50">
                          <a:latin typeface="Calibri"/>
                          <a:cs typeface="Calibri"/>
                        </a:rPr>
                        <a:t>4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Riddhi</a:t>
                      </a:r>
                      <a:r>
                        <a:rPr dirty="0" sz="1450" spc="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35">
                          <a:latin typeface="Calibri"/>
                          <a:cs typeface="Calibri"/>
                        </a:rPr>
                        <a:t>Kr.</a:t>
                      </a:r>
                      <a:r>
                        <a:rPr dirty="0" sz="1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20">
                          <a:latin typeface="Calibri"/>
                          <a:cs typeface="Calibri"/>
                        </a:rPr>
                        <a:t>Dutta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Silapathar</a:t>
                      </a:r>
                      <a:r>
                        <a:rPr dirty="0" sz="1450" spc="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College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450" spc="-10">
                          <a:latin typeface="Calibri"/>
                          <a:cs typeface="Calibri"/>
                        </a:rPr>
                        <a:t>Physics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480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50" spc="-50">
                          <a:latin typeface="Calibri"/>
                          <a:cs typeface="Calibri"/>
                        </a:rPr>
                        <a:t>5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Rokibur</a:t>
                      </a:r>
                      <a:r>
                        <a:rPr dirty="0" sz="1450" spc="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Rahman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50" spc="-20">
                          <a:latin typeface="Calibri"/>
                          <a:cs typeface="Calibri"/>
                        </a:rPr>
                        <a:t>A.D.P.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College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50" spc="-10">
                          <a:latin typeface="Calibri"/>
                          <a:cs typeface="Calibri"/>
                        </a:rPr>
                        <a:t>Physics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0860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450" spc="-50">
                          <a:latin typeface="Calibri"/>
                          <a:cs typeface="Calibri"/>
                        </a:rPr>
                        <a:t>6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330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Saradi</a:t>
                      </a:r>
                      <a:r>
                        <a:rPr dirty="0" sz="1450" spc="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Boruah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330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18745" marR="370205" indent="-43180">
                        <a:lnSpc>
                          <a:spcPct val="102099"/>
                        </a:lnSpc>
                        <a:spcBef>
                          <a:spcPts val="220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Dhakuakhana</a:t>
                      </a:r>
                      <a:r>
                        <a:rPr dirty="0" sz="1450" spc="1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College (Autonomous)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450" spc="-10">
                          <a:latin typeface="Calibri"/>
                          <a:cs typeface="Calibri"/>
                        </a:rPr>
                        <a:t>Physics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33019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6072" y="1384738"/>
            <a:ext cx="3433445" cy="42799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2650" spc="165">
                <a:uFill>
                  <a:solidFill>
                    <a:srgbClr val="000000"/>
                  </a:solidFill>
                </a:uFill>
              </a:rPr>
              <a:t>Project</a:t>
            </a:r>
            <a:r>
              <a:rPr dirty="0" u="sng" sz="2650" spc="-30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z="2650" spc="120">
                <a:uFill>
                  <a:solidFill>
                    <a:srgbClr val="000000"/>
                  </a:solidFill>
                </a:uFill>
              </a:rPr>
              <a:t>Objective</a:t>
            </a:r>
            <a:r>
              <a:rPr dirty="0" sz="2650" spc="-15"/>
              <a:t> </a:t>
            </a:r>
            <a:r>
              <a:rPr dirty="0" sz="2650" spc="-375"/>
              <a:t>:</a:t>
            </a:r>
            <a:endParaRPr sz="2650"/>
          </a:p>
        </p:txBody>
      </p:sp>
      <p:sp>
        <p:nvSpPr>
          <p:cNvPr id="3" name="object 3"/>
          <p:cNvSpPr txBox="1"/>
          <p:nvPr/>
        </p:nvSpPr>
        <p:spPr>
          <a:xfrm>
            <a:off x="872709" y="2046217"/>
            <a:ext cx="7994015" cy="38989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5"/>
              </a:spcBef>
            </a:pPr>
            <a:r>
              <a:rPr dirty="0" sz="2300" spc="125">
                <a:latin typeface="Trebuchet MS"/>
                <a:cs typeface="Trebuchet MS"/>
              </a:rPr>
              <a:t>This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project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analyzes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75">
                <a:latin typeface="Trebuchet MS"/>
                <a:cs typeface="Trebuchet MS"/>
              </a:rPr>
              <a:t>IPL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85">
                <a:latin typeface="Trebuchet MS"/>
                <a:cs typeface="Trebuchet MS"/>
              </a:rPr>
              <a:t>player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75">
                <a:latin typeface="Trebuchet MS"/>
                <a:cs typeface="Trebuchet MS"/>
              </a:rPr>
              <a:t>team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performances </a:t>
            </a:r>
            <a:r>
              <a:rPr dirty="0" sz="2300" spc="165">
                <a:latin typeface="Trebuchet MS"/>
                <a:cs typeface="Trebuchet MS"/>
              </a:rPr>
              <a:t>using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70">
                <a:latin typeface="Trebuchet MS"/>
                <a:cs typeface="Trebuchet MS"/>
              </a:rPr>
              <a:t>Python,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Pandas,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-10">
                <a:latin typeface="Trebuchet MS"/>
                <a:cs typeface="Trebuchet MS"/>
              </a:rPr>
              <a:t>Matplotlib.</a:t>
            </a:r>
            <a:endParaRPr sz="2300">
              <a:latin typeface="Trebuchet MS"/>
              <a:cs typeface="Trebuchet MS"/>
            </a:endParaRPr>
          </a:p>
          <a:p>
            <a:pPr marL="85725">
              <a:lnSpc>
                <a:spcPct val="100000"/>
              </a:lnSpc>
              <a:spcBef>
                <a:spcPts val="10"/>
              </a:spcBef>
            </a:pPr>
            <a:r>
              <a:rPr dirty="0" sz="2300" spc="110">
                <a:latin typeface="Trebuchet MS"/>
                <a:cs typeface="Trebuchet MS"/>
              </a:rPr>
              <a:t>The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project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75">
                <a:latin typeface="Trebuchet MS"/>
                <a:cs typeface="Trebuchet MS"/>
              </a:rPr>
              <a:t>includes: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300">
              <a:latin typeface="Trebuchet MS"/>
              <a:cs typeface="Trebuchet MS"/>
            </a:endParaRPr>
          </a:p>
          <a:p>
            <a:pPr marL="352425" indent="-266700">
              <a:lnSpc>
                <a:spcPct val="100000"/>
              </a:lnSpc>
              <a:buSzPct val="95652"/>
              <a:buAutoNum type="arabicPeriod"/>
              <a:tabLst>
                <a:tab pos="352425" algn="l"/>
              </a:tabLst>
            </a:pPr>
            <a:r>
              <a:rPr dirty="0" sz="2300" spc="105">
                <a:latin typeface="Trebuchet MS"/>
                <a:cs typeface="Trebuchet MS"/>
              </a:rPr>
              <a:t>Data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Cleaning</a:t>
            </a:r>
            <a:endParaRPr sz="2300">
              <a:latin typeface="Trebuchet MS"/>
              <a:cs typeface="Trebuchet MS"/>
            </a:endParaRPr>
          </a:p>
          <a:p>
            <a:pPr marL="424815" indent="-339090">
              <a:lnSpc>
                <a:spcPct val="100000"/>
              </a:lnSpc>
              <a:spcBef>
                <a:spcPts val="10"/>
              </a:spcBef>
              <a:buSzPct val="95652"/>
              <a:buAutoNum type="arabicPeriod"/>
              <a:tabLst>
                <a:tab pos="424815" algn="l"/>
              </a:tabLst>
            </a:pPr>
            <a:r>
              <a:rPr dirty="0" sz="2300" spc="90">
                <a:latin typeface="Trebuchet MS"/>
                <a:cs typeface="Trebuchet MS"/>
              </a:rPr>
              <a:t>Batting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140">
                <a:latin typeface="Trebuchet MS"/>
                <a:cs typeface="Trebuchet MS"/>
              </a:rPr>
              <a:t>Analysis</a:t>
            </a:r>
            <a:endParaRPr sz="2300">
              <a:latin typeface="Trebuchet MS"/>
              <a:cs typeface="Trebuchet MS"/>
            </a:endParaRPr>
          </a:p>
          <a:p>
            <a:pPr marL="424815" indent="-339090">
              <a:lnSpc>
                <a:spcPct val="100000"/>
              </a:lnSpc>
              <a:spcBef>
                <a:spcPts val="15"/>
              </a:spcBef>
              <a:buSzPct val="95652"/>
              <a:buAutoNum type="arabicPeriod"/>
              <a:tabLst>
                <a:tab pos="424815" algn="l"/>
              </a:tabLst>
            </a:pPr>
            <a:r>
              <a:rPr dirty="0" sz="2300" spc="140">
                <a:latin typeface="Trebuchet MS"/>
                <a:cs typeface="Trebuchet MS"/>
              </a:rPr>
              <a:t>Bowling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40">
                <a:latin typeface="Trebuchet MS"/>
                <a:cs typeface="Trebuchet MS"/>
              </a:rPr>
              <a:t>Analysis</a:t>
            </a:r>
            <a:endParaRPr sz="2300">
              <a:latin typeface="Trebuchet MS"/>
              <a:cs typeface="Trebuchet MS"/>
            </a:endParaRPr>
          </a:p>
          <a:p>
            <a:pPr marL="424815" indent="-339090">
              <a:lnSpc>
                <a:spcPct val="100000"/>
              </a:lnSpc>
              <a:spcBef>
                <a:spcPts val="10"/>
              </a:spcBef>
              <a:buSzPct val="95652"/>
              <a:buAutoNum type="arabicPeriod"/>
              <a:tabLst>
                <a:tab pos="424815" algn="l"/>
              </a:tabLst>
            </a:pPr>
            <a:r>
              <a:rPr dirty="0" sz="2300" spc="90">
                <a:latin typeface="Trebuchet MS"/>
                <a:cs typeface="Trebuchet MS"/>
              </a:rPr>
              <a:t>Team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140">
                <a:latin typeface="Trebuchet MS"/>
                <a:cs typeface="Trebuchet MS"/>
              </a:rPr>
              <a:t>Analysis</a:t>
            </a:r>
            <a:endParaRPr sz="2300">
              <a:latin typeface="Trebuchet MS"/>
              <a:cs typeface="Trebuchet MS"/>
            </a:endParaRPr>
          </a:p>
          <a:p>
            <a:pPr marL="352425" indent="-266700">
              <a:lnSpc>
                <a:spcPct val="100000"/>
              </a:lnSpc>
              <a:spcBef>
                <a:spcPts val="10"/>
              </a:spcBef>
              <a:buSzPct val="95652"/>
              <a:buAutoNum type="arabicPeriod"/>
              <a:tabLst>
                <a:tab pos="352425" algn="l"/>
              </a:tabLst>
            </a:pPr>
            <a:r>
              <a:rPr dirty="0" sz="2300" spc="70">
                <a:latin typeface="Trebuchet MS"/>
                <a:cs typeface="Trebuchet MS"/>
              </a:rPr>
              <a:t>Statistical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40">
                <a:latin typeface="Trebuchet MS"/>
                <a:cs typeface="Trebuchet MS"/>
              </a:rPr>
              <a:t>Analysis</a:t>
            </a:r>
            <a:endParaRPr sz="2300">
              <a:latin typeface="Trebuchet MS"/>
              <a:cs typeface="Trebuchet MS"/>
            </a:endParaRPr>
          </a:p>
          <a:p>
            <a:pPr marL="424815" indent="-339090">
              <a:lnSpc>
                <a:spcPct val="100000"/>
              </a:lnSpc>
              <a:spcBef>
                <a:spcPts val="15"/>
              </a:spcBef>
              <a:buSzPct val="95652"/>
              <a:buAutoNum type="arabicPeriod"/>
              <a:tabLst>
                <a:tab pos="424815" algn="l"/>
              </a:tabLst>
            </a:pPr>
            <a:r>
              <a:rPr dirty="0" sz="2300" spc="100">
                <a:latin typeface="Trebuchet MS"/>
                <a:cs typeface="Trebuchet MS"/>
              </a:rPr>
              <a:t>Player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Performance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Index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75">
                <a:latin typeface="Trebuchet MS"/>
                <a:cs typeface="Trebuchet MS"/>
              </a:rPr>
              <a:t>(PPI)</a:t>
            </a:r>
            <a:endParaRPr sz="2300">
              <a:latin typeface="Trebuchet MS"/>
              <a:cs typeface="Trebuchet MS"/>
            </a:endParaRPr>
          </a:p>
          <a:p>
            <a:pPr marL="352425" indent="-266700">
              <a:lnSpc>
                <a:spcPct val="100000"/>
              </a:lnSpc>
              <a:spcBef>
                <a:spcPts val="10"/>
              </a:spcBef>
              <a:buSzPct val="95652"/>
              <a:buAutoNum type="arabicPeriod"/>
              <a:tabLst>
                <a:tab pos="352425" algn="l"/>
              </a:tabLst>
            </a:pPr>
            <a:r>
              <a:rPr dirty="0" sz="2300" spc="105">
                <a:latin typeface="Trebuchet MS"/>
                <a:cs typeface="Trebuchet MS"/>
              </a:rPr>
              <a:t>Data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55">
                <a:latin typeface="Trebuchet MS"/>
                <a:cs typeface="Trebuchet MS"/>
              </a:rPr>
              <a:t>Visualization.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8170" y="1512873"/>
            <a:ext cx="215201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75">
                <a:latin typeface="Verdana"/>
                <a:cs typeface="Verdana"/>
              </a:rPr>
              <a:t>DATA</a:t>
            </a:r>
            <a:r>
              <a:rPr dirty="0" sz="1950" spc="-15">
                <a:latin typeface="Verdana"/>
                <a:cs typeface="Verdana"/>
              </a:rPr>
              <a:t> </a:t>
            </a:r>
            <a:r>
              <a:rPr dirty="0" sz="1950" spc="140">
                <a:latin typeface="Verdana"/>
                <a:cs typeface="Verdana"/>
              </a:rPr>
              <a:t>SOURCE</a:t>
            </a:r>
            <a:r>
              <a:rPr dirty="0" sz="1950" spc="10">
                <a:latin typeface="Verdana"/>
                <a:cs typeface="Verdana"/>
              </a:rPr>
              <a:t> </a:t>
            </a:r>
            <a:r>
              <a:rPr dirty="0" sz="1950" spc="-50">
                <a:latin typeface="Calibri"/>
                <a:cs typeface="Calibri"/>
              </a:rPr>
              <a:t>: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63824" y="2128511"/>
            <a:ext cx="1220470" cy="37846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70">
                <a:latin typeface="Trebuchet MS"/>
                <a:cs typeface="Trebuchet MS"/>
              </a:rPr>
              <a:t>Dataset: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1057" y="2832530"/>
            <a:ext cx="3973829" cy="24911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49250" indent="-336550">
              <a:lnSpc>
                <a:spcPct val="100000"/>
              </a:lnSpc>
              <a:spcBef>
                <a:spcPts val="114"/>
              </a:spcBef>
              <a:buAutoNum type="arabicPeriod"/>
              <a:tabLst>
                <a:tab pos="349250" algn="l"/>
              </a:tabLst>
            </a:pPr>
            <a:r>
              <a:rPr dirty="0" sz="2300" spc="70">
                <a:latin typeface="Trebuchet MS"/>
                <a:cs typeface="Trebuchet MS"/>
              </a:rPr>
              <a:t>Ipl_Tournament_Data.csv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Font typeface="Trebuchet MS"/>
              <a:buAutoNum type="arabicPeriod"/>
            </a:pP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15"/>
              </a:spcBef>
              <a:buFont typeface="Trebuchet MS"/>
              <a:buAutoNum type="arabicPeriod"/>
            </a:pPr>
            <a:endParaRPr sz="2300">
              <a:latin typeface="Trebuchet MS"/>
              <a:cs typeface="Trebuchet MS"/>
            </a:endParaRPr>
          </a:p>
          <a:p>
            <a:pPr marL="422275" indent="-336550">
              <a:lnSpc>
                <a:spcPct val="100000"/>
              </a:lnSpc>
              <a:buAutoNum type="arabicPeriod"/>
              <a:tabLst>
                <a:tab pos="422275" algn="l"/>
              </a:tabLst>
            </a:pPr>
            <a:r>
              <a:rPr dirty="0" sz="2300" spc="85">
                <a:latin typeface="Trebuchet MS"/>
                <a:cs typeface="Trebuchet MS"/>
              </a:rPr>
              <a:t>cleaned_data.csv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Font typeface="Trebuchet MS"/>
              <a:buAutoNum type="arabicPeriod"/>
            </a:pP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15"/>
              </a:spcBef>
              <a:buFont typeface="Trebuchet MS"/>
              <a:buAutoNum type="arabicPeriod"/>
            </a:pPr>
            <a:endParaRPr sz="2300">
              <a:latin typeface="Trebuchet MS"/>
              <a:cs typeface="Trebuchet MS"/>
            </a:endParaRPr>
          </a:p>
          <a:p>
            <a:pPr marL="352425" indent="-273050">
              <a:lnSpc>
                <a:spcPct val="100000"/>
              </a:lnSpc>
              <a:buAutoNum type="arabicPeriod"/>
              <a:tabLst>
                <a:tab pos="352425" algn="l"/>
              </a:tabLst>
            </a:pPr>
            <a:r>
              <a:rPr dirty="0" sz="2300" spc="90">
                <a:latin typeface="Trebuchet MS"/>
                <a:cs typeface="Trebuchet MS"/>
              </a:rPr>
              <a:t>team_summary.csv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3400" y="1885188"/>
            <a:ext cx="2042160" cy="0"/>
          </a:xfrm>
          <a:custGeom>
            <a:avLst/>
            <a:gdLst/>
            <a:ahLst/>
            <a:cxnLst/>
            <a:rect l="l" t="t" r="r" b="b"/>
            <a:pathLst>
              <a:path w="2042160" h="0">
                <a:moveTo>
                  <a:pt x="0" y="0"/>
                </a:moveTo>
                <a:lnTo>
                  <a:pt x="2042159" y="0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73604" y="1409131"/>
            <a:ext cx="5307330" cy="42799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50" spc="-10"/>
              <a:t>1.</a:t>
            </a:r>
            <a:r>
              <a:rPr dirty="0" sz="2650" spc="-375"/>
              <a:t> </a:t>
            </a:r>
            <a:r>
              <a:rPr dirty="0" u="sng" sz="2650" spc="-405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z="2650" spc="65">
                <a:uFill>
                  <a:solidFill>
                    <a:srgbClr val="000000"/>
                  </a:solidFill>
                </a:uFill>
              </a:rPr>
              <a:t>Ipl_Tournament_Data.csv</a:t>
            </a:r>
            <a:r>
              <a:rPr dirty="0" u="sng" sz="2650" spc="-40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sz="2650" spc="-490"/>
              <a:t>:</a:t>
            </a:r>
            <a:endParaRPr sz="2650"/>
          </a:p>
        </p:txBody>
      </p:sp>
      <p:sp>
        <p:nvSpPr>
          <p:cNvPr id="3" name="object 3"/>
          <p:cNvSpPr txBox="1"/>
          <p:nvPr/>
        </p:nvSpPr>
        <p:spPr>
          <a:xfrm>
            <a:off x="753936" y="2122479"/>
            <a:ext cx="9100185" cy="24911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85725" marR="5080" indent="-73660">
              <a:lnSpc>
                <a:spcPct val="100400"/>
              </a:lnSpc>
              <a:spcBef>
                <a:spcPts val="105"/>
              </a:spcBef>
            </a:pPr>
            <a:r>
              <a:rPr dirty="0" sz="2300" spc="110">
                <a:latin typeface="Trebuchet MS"/>
                <a:cs typeface="Trebuchet MS"/>
              </a:rPr>
              <a:t>The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dataset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contains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165">
                <a:latin typeface="Trebuchet MS"/>
                <a:cs typeface="Trebuchet MS"/>
              </a:rPr>
              <a:t>250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50">
                <a:latin typeface="Trebuchet MS"/>
                <a:cs typeface="Trebuchet MS"/>
              </a:rPr>
              <a:t>records</a:t>
            </a:r>
            <a:r>
              <a:rPr dirty="0" sz="2300" spc="-16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70">
                <a:latin typeface="Trebuchet MS"/>
                <a:cs typeface="Trebuchet MS"/>
              </a:rPr>
              <a:t>18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-10">
                <a:latin typeface="Trebuchet MS"/>
                <a:cs typeface="Trebuchet MS"/>
              </a:rPr>
              <a:t>attributes. </a:t>
            </a:r>
            <a:r>
              <a:rPr dirty="0" sz="2300" spc="65">
                <a:latin typeface="Trebuchet MS"/>
                <a:cs typeface="Trebuchet MS"/>
              </a:rPr>
              <a:t>ipl_tournament_data.csv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is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primary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90">
                <a:latin typeface="Trebuchet MS"/>
                <a:cs typeface="Trebuchet MS"/>
              </a:rPr>
              <a:t>dataset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of</a:t>
            </a:r>
            <a:r>
              <a:rPr dirty="0" sz="2300" spc="18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-10">
                <a:latin typeface="Trebuchet MS"/>
                <a:cs typeface="Trebuchet MS"/>
              </a:rPr>
              <a:t>project.</a:t>
            </a:r>
            <a:r>
              <a:rPr dirty="0" sz="2300" spc="575">
                <a:latin typeface="Trebuchet MS"/>
                <a:cs typeface="Trebuchet MS"/>
              </a:rPr>
              <a:t>  </a:t>
            </a:r>
            <a:r>
              <a:rPr dirty="0" sz="2300">
                <a:latin typeface="Trebuchet MS"/>
                <a:cs typeface="Trebuchet MS"/>
              </a:rPr>
              <a:t>It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contains</a:t>
            </a:r>
            <a:r>
              <a:rPr dirty="0" sz="2300" spc="-160">
                <a:latin typeface="Trebuchet MS"/>
                <a:cs typeface="Trebuchet MS"/>
              </a:rPr>
              <a:t> </a:t>
            </a:r>
            <a:r>
              <a:rPr dirty="0" sz="2300" spc="65">
                <a:latin typeface="Trebuchet MS"/>
                <a:cs typeface="Trebuchet MS"/>
              </a:rPr>
              <a:t>detailed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85">
                <a:latin typeface="Trebuchet MS"/>
                <a:cs typeface="Trebuchet MS"/>
              </a:rPr>
              <a:t>IPL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match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50">
                <a:latin typeface="Trebuchet MS"/>
                <a:cs typeface="Trebuchet MS"/>
              </a:rPr>
              <a:t>and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85">
                <a:latin typeface="Trebuchet MS"/>
                <a:cs typeface="Trebuchet MS"/>
              </a:rPr>
              <a:t>player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performance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-10">
                <a:latin typeface="Trebuchet MS"/>
                <a:cs typeface="Trebuchet MS"/>
              </a:rPr>
              <a:t>data, </a:t>
            </a:r>
            <a:r>
              <a:rPr dirty="0" sz="2300" spc="95">
                <a:latin typeface="Trebuchet MS"/>
                <a:cs typeface="Trebuchet MS"/>
              </a:rPr>
              <a:t>including</a:t>
            </a:r>
            <a:r>
              <a:rPr dirty="0" sz="2300" spc="25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team</a:t>
            </a:r>
            <a:r>
              <a:rPr dirty="0" sz="2300" spc="2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information,</a:t>
            </a:r>
            <a:r>
              <a:rPr dirty="0" sz="2300" spc="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batting,</a:t>
            </a:r>
            <a:r>
              <a:rPr dirty="0" sz="2300" spc="30">
                <a:latin typeface="Trebuchet MS"/>
                <a:cs typeface="Trebuchet MS"/>
              </a:rPr>
              <a:t> </a:t>
            </a:r>
            <a:r>
              <a:rPr dirty="0" sz="2300" spc="75">
                <a:latin typeface="Trebuchet MS"/>
                <a:cs typeface="Trebuchet MS"/>
              </a:rPr>
              <a:t>bowling,</a:t>
            </a:r>
            <a:r>
              <a:rPr dirty="0" sz="2300" spc="3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fielding,</a:t>
            </a:r>
            <a:r>
              <a:rPr dirty="0" sz="2300" spc="60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venues,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match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65">
                <a:latin typeface="Trebuchet MS"/>
                <a:cs typeface="Trebuchet MS"/>
              </a:rPr>
              <a:t>results.</a:t>
            </a:r>
            <a:r>
              <a:rPr dirty="0" sz="2300" spc="-160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This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00">
                <a:latin typeface="Trebuchet MS"/>
                <a:cs typeface="Trebuchet MS"/>
              </a:rPr>
              <a:t>raw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90">
                <a:latin typeface="Trebuchet MS"/>
                <a:cs typeface="Trebuchet MS"/>
              </a:rPr>
              <a:t>dataset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is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180">
                <a:latin typeface="Trebuchet MS"/>
                <a:cs typeface="Trebuchet MS"/>
              </a:rPr>
              <a:t>used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245">
                <a:latin typeface="Trebuchet MS"/>
                <a:cs typeface="Trebuchet MS"/>
              </a:rPr>
              <a:t>as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starting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35">
                <a:latin typeface="Trebuchet MS"/>
                <a:cs typeface="Trebuchet MS"/>
              </a:rPr>
              <a:t>point </a:t>
            </a:r>
            <a:r>
              <a:rPr dirty="0" sz="2300">
                <a:latin typeface="Trebuchet MS"/>
                <a:cs typeface="Trebuchet MS"/>
              </a:rPr>
              <a:t>for</a:t>
            </a:r>
            <a:r>
              <a:rPr dirty="0" sz="2300" spc="-75">
                <a:latin typeface="Trebuchet MS"/>
                <a:cs typeface="Trebuchet MS"/>
              </a:rPr>
              <a:t> </a:t>
            </a:r>
            <a:r>
              <a:rPr dirty="0" sz="2300" spc="75">
                <a:latin typeface="Trebuchet MS"/>
                <a:cs typeface="Trebuchet MS"/>
              </a:rPr>
              <a:t>data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75">
                <a:latin typeface="Trebuchet MS"/>
                <a:cs typeface="Trebuchet MS"/>
              </a:rPr>
              <a:t>cleaning,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analysis,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50">
                <a:latin typeface="Trebuchet MS"/>
                <a:cs typeface="Trebuchet MS"/>
              </a:rPr>
              <a:t>and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creation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of</a:t>
            </a:r>
            <a:r>
              <a:rPr dirty="0" sz="2300" spc="185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summarized </a:t>
            </a:r>
            <a:r>
              <a:rPr dirty="0" sz="2300">
                <a:latin typeface="Trebuchet MS"/>
                <a:cs typeface="Trebuchet MS"/>
              </a:rPr>
              <a:t>team-</a:t>
            </a:r>
            <a:r>
              <a:rPr dirty="0" sz="2300" spc="114">
                <a:latin typeface="Trebuchet MS"/>
                <a:cs typeface="Trebuchet MS"/>
              </a:rPr>
              <a:t>performance</a:t>
            </a:r>
            <a:r>
              <a:rPr dirty="0" sz="2300" spc="50">
                <a:latin typeface="Trebuchet MS"/>
                <a:cs typeface="Trebuchet MS"/>
              </a:rPr>
              <a:t> </a:t>
            </a:r>
            <a:r>
              <a:rPr dirty="0" sz="2300" spc="-10">
                <a:latin typeface="Trebuchet MS"/>
                <a:cs typeface="Trebuchet MS"/>
              </a:rPr>
              <a:t>data.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2772" y="1450386"/>
            <a:ext cx="3869054" cy="42799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50" spc="-10"/>
              <a:t>2.</a:t>
            </a:r>
            <a:r>
              <a:rPr dirty="0" sz="2650" spc="-570"/>
              <a:t> </a:t>
            </a:r>
            <a:r>
              <a:rPr dirty="0" u="sng" sz="2650" spc="-17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650" spc="114">
                <a:uFill>
                  <a:solidFill>
                    <a:srgbClr val="000000"/>
                  </a:solidFill>
                </a:uFill>
              </a:rPr>
              <a:t>cleaned_data.csv</a:t>
            </a:r>
            <a:r>
              <a:rPr dirty="0" u="sng" sz="2650" spc="-60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sz="2650" spc="-375"/>
              <a:t>: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1350" y="2146750"/>
            <a:ext cx="7747634" cy="212852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99800"/>
              </a:lnSpc>
              <a:spcBef>
                <a:spcPts val="120"/>
              </a:spcBef>
            </a:pPr>
            <a:r>
              <a:rPr dirty="0" sz="2300" spc="95">
                <a:latin typeface="Trebuchet MS"/>
                <a:cs typeface="Trebuchet MS"/>
              </a:rPr>
              <a:t>cleaned_data.csv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is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75">
                <a:latin typeface="Trebuchet MS"/>
                <a:cs typeface="Trebuchet MS"/>
              </a:rPr>
              <a:t>processed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cleaned </a:t>
            </a:r>
            <a:r>
              <a:rPr dirty="0" sz="2300" spc="120">
                <a:latin typeface="Trebuchet MS"/>
                <a:cs typeface="Trebuchet MS"/>
              </a:rPr>
              <a:t>version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of</a:t>
            </a:r>
            <a:r>
              <a:rPr dirty="0" sz="2300" spc="155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90">
                <a:latin typeface="Trebuchet MS"/>
                <a:cs typeface="Trebuchet MS"/>
              </a:rPr>
              <a:t>original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185">
                <a:latin typeface="Trebuchet MS"/>
                <a:cs typeface="Trebuchet MS"/>
              </a:rPr>
              <a:t>IPL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60">
                <a:latin typeface="Trebuchet MS"/>
                <a:cs typeface="Trebuchet MS"/>
              </a:rPr>
              <a:t>dataset.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It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contains </a:t>
            </a:r>
            <a:r>
              <a:rPr dirty="0" sz="2300" spc="114">
                <a:latin typeface="Trebuchet MS"/>
                <a:cs typeface="Trebuchet MS"/>
              </a:rPr>
              <a:t>organized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standardized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match,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player,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-10">
                <a:latin typeface="Trebuchet MS"/>
                <a:cs typeface="Trebuchet MS"/>
              </a:rPr>
              <a:t>batting, </a:t>
            </a:r>
            <a:r>
              <a:rPr dirty="0" sz="2300" spc="75">
                <a:latin typeface="Trebuchet MS"/>
                <a:cs typeface="Trebuchet MS"/>
              </a:rPr>
              <a:t>bowling,</a:t>
            </a:r>
            <a:r>
              <a:rPr dirty="0" sz="2300" spc="-7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fielding,</a:t>
            </a:r>
            <a:r>
              <a:rPr dirty="0" sz="2300" spc="-45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70">
                <a:latin typeface="Trebuchet MS"/>
                <a:cs typeface="Trebuchet MS"/>
              </a:rPr>
              <a:t> </a:t>
            </a:r>
            <a:r>
              <a:rPr dirty="0" sz="2300" spc="75">
                <a:latin typeface="Trebuchet MS"/>
                <a:cs typeface="Trebuchet MS"/>
              </a:rPr>
              <a:t>result</a:t>
            </a:r>
            <a:r>
              <a:rPr dirty="0" sz="2300" spc="-7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data.</a:t>
            </a:r>
            <a:r>
              <a:rPr dirty="0" sz="2300" spc="-65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This</a:t>
            </a:r>
            <a:r>
              <a:rPr dirty="0" sz="2300" spc="-70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cleaned</a:t>
            </a:r>
            <a:r>
              <a:rPr dirty="0" sz="2300" spc="-70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dataset </a:t>
            </a:r>
            <a:r>
              <a:rPr dirty="0" sz="2300" spc="145">
                <a:latin typeface="Trebuchet MS"/>
                <a:cs typeface="Trebuchet MS"/>
              </a:rPr>
              <a:t>is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85">
                <a:latin typeface="Trebuchet MS"/>
                <a:cs typeface="Trebuchet MS"/>
              </a:rPr>
              <a:t>used</a:t>
            </a:r>
            <a:r>
              <a:rPr dirty="0" sz="2300" spc="-165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for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accurate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analysis,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75">
                <a:latin typeface="Trebuchet MS"/>
                <a:cs typeface="Trebuchet MS"/>
              </a:rPr>
              <a:t>data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90">
                <a:latin typeface="Trebuchet MS"/>
                <a:cs typeface="Trebuchet MS"/>
              </a:rPr>
              <a:t>aggregation,</a:t>
            </a:r>
            <a:r>
              <a:rPr dirty="0" sz="2300" spc="-165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and </a:t>
            </a:r>
            <a:r>
              <a:rPr dirty="0" sz="2300" spc="70">
                <a:latin typeface="Trebuchet MS"/>
                <a:cs typeface="Trebuchet MS"/>
              </a:rPr>
              <a:t>visualization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in</a:t>
            </a:r>
            <a:r>
              <a:rPr dirty="0" sz="2300" spc="-75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-10">
                <a:latin typeface="Trebuchet MS"/>
                <a:cs typeface="Trebuchet MS"/>
              </a:rPr>
              <a:t>project</a:t>
            </a:r>
            <a:r>
              <a:rPr dirty="0" sz="2300" spc="-10">
                <a:latin typeface="Arial MT"/>
                <a:cs typeface="Arial MT"/>
              </a:rPr>
              <a:t>.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3972" y="1369513"/>
            <a:ext cx="4093845" cy="42799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213360">
              <a:lnSpc>
                <a:spcPct val="100000"/>
              </a:lnSpc>
              <a:spcBef>
                <a:spcPts val="90"/>
              </a:spcBef>
            </a:pPr>
            <a:r>
              <a:rPr dirty="0" u="heavy" sz="2650" spc="-4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650" spc="65">
                <a:uFill>
                  <a:solidFill>
                    <a:srgbClr val="000000"/>
                  </a:solidFill>
                </a:uFill>
              </a:rPr>
              <a:t>.team_summary.csv</a:t>
            </a:r>
            <a:r>
              <a:rPr dirty="0" u="heavy" sz="2650" spc="5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sz="2650" spc="-375"/>
              <a:t>: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5"/>
              </a:spcBef>
            </a:pPr>
            <a:r>
              <a:rPr dirty="0" spc="75"/>
              <a:t>team_summary.csv,</a:t>
            </a:r>
            <a:r>
              <a:rPr dirty="0" spc="-135"/>
              <a:t> </a:t>
            </a:r>
            <a:r>
              <a:rPr dirty="0"/>
              <a:t>It</a:t>
            </a:r>
            <a:r>
              <a:rPr dirty="0" spc="-114"/>
              <a:t> </a:t>
            </a:r>
            <a:r>
              <a:rPr dirty="0" spc="120"/>
              <a:t>contains</a:t>
            </a:r>
            <a:r>
              <a:rPr dirty="0" spc="-130"/>
              <a:t> </a:t>
            </a:r>
            <a:r>
              <a:rPr dirty="0" spc="170"/>
              <a:t>10</a:t>
            </a:r>
            <a:r>
              <a:rPr dirty="0" spc="-165"/>
              <a:t> </a:t>
            </a:r>
            <a:r>
              <a:rPr dirty="0" spc="125"/>
              <a:t>teams</a:t>
            </a:r>
            <a:r>
              <a:rPr dirty="0" spc="-130"/>
              <a:t> </a:t>
            </a:r>
            <a:r>
              <a:rPr dirty="0" spc="145"/>
              <a:t>and</a:t>
            </a:r>
            <a:r>
              <a:rPr dirty="0" spc="-120"/>
              <a:t> </a:t>
            </a:r>
            <a:r>
              <a:rPr dirty="0" spc="165"/>
              <a:t>4</a:t>
            </a:r>
            <a:r>
              <a:rPr dirty="0" spc="-110"/>
              <a:t> </a:t>
            </a:r>
            <a:r>
              <a:rPr dirty="0" spc="45"/>
              <a:t>attributes </a:t>
            </a:r>
            <a:r>
              <a:rPr dirty="0" spc="145"/>
              <a:t>is</a:t>
            </a:r>
            <a:r>
              <a:rPr dirty="0" spc="-100"/>
              <a:t> </a:t>
            </a:r>
            <a:r>
              <a:rPr dirty="0" spc="50"/>
              <a:t>the</a:t>
            </a:r>
            <a:r>
              <a:rPr dirty="0" spc="-114"/>
              <a:t> </a:t>
            </a:r>
            <a:r>
              <a:rPr dirty="0" spc="55" b="1">
                <a:latin typeface="Trebuchet MS"/>
                <a:cs typeface="Trebuchet MS"/>
              </a:rPr>
              <a:t>summarized</a:t>
            </a:r>
            <a:r>
              <a:rPr dirty="0" spc="-125" b="1">
                <a:latin typeface="Trebuchet MS"/>
                <a:cs typeface="Trebuchet MS"/>
              </a:rPr>
              <a:t> </a:t>
            </a:r>
            <a:r>
              <a:rPr dirty="0" b="1">
                <a:latin typeface="Trebuchet MS"/>
                <a:cs typeface="Trebuchet MS"/>
              </a:rPr>
              <a:t>team-</a:t>
            </a:r>
            <a:r>
              <a:rPr dirty="0" spc="-25" b="1">
                <a:latin typeface="Trebuchet MS"/>
                <a:cs typeface="Trebuchet MS"/>
              </a:rPr>
              <a:t>level</a:t>
            </a:r>
            <a:r>
              <a:rPr dirty="0" spc="-145" b="1">
                <a:latin typeface="Trebuchet MS"/>
                <a:cs typeface="Trebuchet MS"/>
              </a:rPr>
              <a:t> </a:t>
            </a:r>
            <a:r>
              <a:rPr dirty="0" spc="65" b="1">
                <a:latin typeface="Trebuchet MS"/>
                <a:cs typeface="Trebuchet MS"/>
              </a:rPr>
              <a:t>dataset</a:t>
            </a:r>
            <a:r>
              <a:rPr dirty="0" spc="-135" b="1">
                <a:latin typeface="Trebuchet MS"/>
                <a:cs typeface="Trebuchet MS"/>
              </a:rPr>
              <a:t> </a:t>
            </a:r>
            <a:r>
              <a:rPr dirty="0" spc="95"/>
              <a:t>created</a:t>
            </a:r>
            <a:r>
              <a:rPr dirty="0" spc="-125"/>
              <a:t> </a:t>
            </a:r>
            <a:r>
              <a:rPr dirty="0" spc="55"/>
              <a:t>from</a:t>
            </a:r>
            <a:r>
              <a:rPr dirty="0" spc="-100"/>
              <a:t> </a:t>
            </a:r>
            <a:r>
              <a:rPr dirty="0" spc="-25"/>
              <a:t>the </a:t>
            </a:r>
            <a:r>
              <a:rPr dirty="0" spc="110"/>
              <a:t>cleaned</a:t>
            </a:r>
            <a:r>
              <a:rPr dirty="0" spc="-125"/>
              <a:t> </a:t>
            </a:r>
            <a:r>
              <a:rPr dirty="0" spc="185"/>
              <a:t>IPL</a:t>
            </a:r>
            <a:r>
              <a:rPr dirty="0" spc="-95"/>
              <a:t> </a:t>
            </a:r>
            <a:r>
              <a:rPr dirty="0"/>
              <a:t>data.</a:t>
            </a:r>
            <a:r>
              <a:rPr dirty="0" spc="-120"/>
              <a:t> </a:t>
            </a:r>
            <a:r>
              <a:rPr dirty="0"/>
              <a:t>It</a:t>
            </a:r>
            <a:r>
              <a:rPr dirty="0" spc="-95"/>
              <a:t> </a:t>
            </a:r>
            <a:r>
              <a:rPr dirty="0" spc="125"/>
              <a:t>provides</a:t>
            </a:r>
            <a:r>
              <a:rPr dirty="0" spc="-135"/>
              <a:t> </a:t>
            </a:r>
            <a:r>
              <a:rPr dirty="0" spc="135"/>
              <a:t>an</a:t>
            </a:r>
            <a:r>
              <a:rPr dirty="0" spc="-100"/>
              <a:t> </a:t>
            </a:r>
            <a:r>
              <a:rPr dirty="0" spc="60"/>
              <a:t>overall</a:t>
            </a:r>
            <a:r>
              <a:rPr dirty="0" spc="-110"/>
              <a:t> </a:t>
            </a:r>
            <a:r>
              <a:rPr dirty="0" spc="150"/>
              <a:t>comparison</a:t>
            </a:r>
            <a:r>
              <a:rPr dirty="0" spc="-145"/>
              <a:t> </a:t>
            </a:r>
            <a:r>
              <a:rPr dirty="0" spc="-25"/>
              <a:t>of </a:t>
            </a:r>
            <a:r>
              <a:rPr dirty="0" spc="125"/>
              <a:t>teams</a:t>
            </a:r>
            <a:r>
              <a:rPr dirty="0" spc="-135"/>
              <a:t> </a:t>
            </a:r>
            <a:r>
              <a:rPr dirty="0" spc="180"/>
              <a:t>based</a:t>
            </a:r>
            <a:r>
              <a:rPr dirty="0" spc="-160"/>
              <a:t> </a:t>
            </a:r>
            <a:r>
              <a:rPr dirty="0" spc="145"/>
              <a:t>on</a:t>
            </a:r>
            <a:r>
              <a:rPr dirty="0" spc="-110"/>
              <a:t> </a:t>
            </a:r>
            <a:r>
              <a:rPr dirty="0" spc="75"/>
              <a:t>key</a:t>
            </a:r>
            <a:r>
              <a:rPr dirty="0" spc="-130"/>
              <a:t> </a:t>
            </a:r>
            <a:r>
              <a:rPr dirty="0" spc="114"/>
              <a:t>performance</a:t>
            </a:r>
            <a:r>
              <a:rPr dirty="0" spc="-165"/>
              <a:t> </a:t>
            </a:r>
            <a:r>
              <a:rPr dirty="0" spc="95"/>
              <a:t>indicators</a:t>
            </a:r>
            <a:r>
              <a:rPr dirty="0" spc="-150"/>
              <a:t> </a:t>
            </a:r>
            <a:r>
              <a:rPr dirty="0" spc="185"/>
              <a:t>such</a:t>
            </a:r>
            <a:r>
              <a:rPr dirty="0" spc="-110"/>
              <a:t> </a:t>
            </a:r>
            <a:r>
              <a:rPr dirty="0" spc="245"/>
              <a:t>as</a:t>
            </a:r>
            <a:r>
              <a:rPr dirty="0" spc="-150"/>
              <a:t> </a:t>
            </a:r>
            <a:r>
              <a:rPr dirty="0" spc="-10" b="1">
                <a:latin typeface="Trebuchet MS"/>
                <a:cs typeface="Trebuchet MS"/>
              </a:rPr>
              <a:t>total </a:t>
            </a:r>
            <a:r>
              <a:rPr dirty="0" b="1">
                <a:latin typeface="Trebuchet MS"/>
                <a:cs typeface="Trebuchet MS"/>
              </a:rPr>
              <a:t>runs,</a:t>
            </a:r>
            <a:r>
              <a:rPr dirty="0" spc="-114" b="1">
                <a:latin typeface="Trebuchet MS"/>
                <a:cs typeface="Trebuchet MS"/>
              </a:rPr>
              <a:t> </a:t>
            </a:r>
            <a:r>
              <a:rPr dirty="0" b="1">
                <a:latin typeface="Trebuchet MS"/>
                <a:cs typeface="Trebuchet MS"/>
              </a:rPr>
              <a:t>total</a:t>
            </a:r>
            <a:r>
              <a:rPr dirty="0" spc="-105" b="1">
                <a:latin typeface="Trebuchet MS"/>
                <a:cs typeface="Trebuchet MS"/>
              </a:rPr>
              <a:t> </a:t>
            </a:r>
            <a:r>
              <a:rPr dirty="0" b="1">
                <a:latin typeface="Trebuchet MS"/>
                <a:cs typeface="Trebuchet MS"/>
              </a:rPr>
              <a:t>wickets,</a:t>
            </a:r>
            <a:r>
              <a:rPr dirty="0" spc="-135" b="1">
                <a:latin typeface="Trebuchet MS"/>
                <a:cs typeface="Trebuchet MS"/>
              </a:rPr>
              <a:t> </a:t>
            </a:r>
            <a:r>
              <a:rPr dirty="0" spc="100" b="1">
                <a:latin typeface="Trebuchet MS"/>
                <a:cs typeface="Trebuchet MS"/>
              </a:rPr>
              <a:t>and</a:t>
            </a:r>
            <a:r>
              <a:rPr dirty="0" spc="-120" b="1">
                <a:latin typeface="Trebuchet MS"/>
                <a:cs typeface="Trebuchet MS"/>
              </a:rPr>
              <a:t> </a:t>
            </a:r>
            <a:r>
              <a:rPr dirty="0" b="1">
                <a:latin typeface="Trebuchet MS"/>
                <a:cs typeface="Trebuchet MS"/>
              </a:rPr>
              <a:t>total</a:t>
            </a:r>
            <a:r>
              <a:rPr dirty="0" spc="-105" b="1">
                <a:latin typeface="Trebuchet MS"/>
                <a:cs typeface="Trebuchet MS"/>
              </a:rPr>
              <a:t> </a:t>
            </a:r>
            <a:r>
              <a:rPr dirty="0" spc="70" b="1">
                <a:latin typeface="Trebuchet MS"/>
                <a:cs typeface="Trebuchet MS"/>
              </a:rPr>
              <a:t>matches</a:t>
            </a:r>
            <a:r>
              <a:rPr dirty="0" spc="-110" b="1">
                <a:latin typeface="Trebuchet MS"/>
                <a:cs typeface="Trebuchet MS"/>
              </a:rPr>
              <a:t> </a:t>
            </a:r>
            <a:r>
              <a:rPr dirty="0" b="1">
                <a:latin typeface="Trebuchet MS"/>
                <a:cs typeface="Trebuchet MS"/>
              </a:rPr>
              <a:t>played</a:t>
            </a:r>
            <a:r>
              <a:rPr dirty="0"/>
              <a:t>.</a:t>
            </a:r>
            <a:r>
              <a:rPr dirty="0" spc="-110"/>
              <a:t> </a:t>
            </a:r>
            <a:r>
              <a:rPr dirty="0" spc="125"/>
              <a:t>This</a:t>
            </a:r>
            <a:r>
              <a:rPr dirty="0" spc="-110"/>
              <a:t> </a:t>
            </a:r>
            <a:r>
              <a:rPr dirty="0"/>
              <a:t>file</a:t>
            </a:r>
            <a:r>
              <a:rPr dirty="0" spc="-70"/>
              <a:t> </a:t>
            </a:r>
            <a:r>
              <a:rPr dirty="0" spc="120"/>
              <a:t>is </a:t>
            </a:r>
            <a:r>
              <a:rPr dirty="0" spc="185"/>
              <a:t>used</a:t>
            </a:r>
            <a:r>
              <a:rPr dirty="0" spc="-140"/>
              <a:t> </a:t>
            </a:r>
            <a:r>
              <a:rPr dirty="0"/>
              <a:t>to</a:t>
            </a:r>
            <a:r>
              <a:rPr dirty="0" spc="-114"/>
              <a:t> </a:t>
            </a:r>
            <a:r>
              <a:rPr dirty="0" spc="100"/>
              <a:t>analyze</a:t>
            </a:r>
            <a:r>
              <a:rPr dirty="0" spc="-165"/>
              <a:t> </a:t>
            </a:r>
            <a:r>
              <a:rPr dirty="0" spc="145"/>
              <a:t>and</a:t>
            </a:r>
            <a:r>
              <a:rPr dirty="0" spc="-120"/>
              <a:t> </a:t>
            </a:r>
            <a:r>
              <a:rPr dirty="0" spc="140"/>
              <a:t>compare</a:t>
            </a:r>
            <a:r>
              <a:rPr dirty="0" spc="-140"/>
              <a:t> </a:t>
            </a:r>
            <a:r>
              <a:rPr dirty="0" spc="50"/>
              <a:t>the</a:t>
            </a:r>
            <a:r>
              <a:rPr dirty="0" spc="-114"/>
              <a:t> </a:t>
            </a:r>
            <a:r>
              <a:rPr dirty="0" spc="60"/>
              <a:t>overall</a:t>
            </a:r>
            <a:r>
              <a:rPr dirty="0" spc="-130"/>
              <a:t> </a:t>
            </a:r>
            <a:r>
              <a:rPr dirty="0" spc="114"/>
              <a:t>performance</a:t>
            </a:r>
            <a:r>
              <a:rPr dirty="0" spc="-135"/>
              <a:t> </a:t>
            </a:r>
            <a:r>
              <a:rPr dirty="0" spc="-25"/>
              <a:t>of </a:t>
            </a:r>
            <a:r>
              <a:rPr dirty="0"/>
              <a:t>different</a:t>
            </a:r>
            <a:r>
              <a:rPr dirty="0" spc="5"/>
              <a:t> </a:t>
            </a:r>
            <a:r>
              <a:rPr dirty="0" spc="185"/>
              <a:t>IPL</a:t>
            </a:r>
            <a:r>
              <a:rPr dirty="0" spc="35"/>
              <a:t> </a:t>
            </a:r>
            <a:r>
              <a:rPr dirty="0" spc="50"/>
              <a:t>teams.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23674" rIns="0" bIns="0" rtlCol="0" vert="horz">
            <a:spAutoFit/>
          </a:bodyPr>
          <a:lstStyle/>
          <a:p>
            <a:pPr marL="1190625">
              <a:lnSpc>
                <a:spcPct val="100000"/>
              </a:lnSpc>
              <a:spcBef>
                <a:spcPts val="100"/>
              </a:spcBef>
            </a:pPr>
            <a:r>
              <a:rPr dirty="0" sz="4450" spc="260"/>
              <a:t>BATTING</a:t>
            </a:r>
            <a:r>
              <a:rPr dirty="0" sz="4450" spc="-60"/>
              <a:t> </a:t>
            </a:r>
            <a:r>
              <a:rPr dirty="0" sz="4450" spc="229"/>
              <a:t>ANALYSIS</a:t>
            </a:r>
            <a:endParaRPr sz="44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8750" y="2303726"/>
            <a:ext cx="8548370" cy="14351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85">
                <a:latin typeface="Trebuchet MS"/>
                <a:cs typeface="Trebuchet MS"/>
              </a:rPr>
              <a:t>Batting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130">
                <a:latin typeface="Trebuchet MS"/>
                <a:cs typeface="Trebuchet MS"/>
              </a:rPr>
              <a:t>analysis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studies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players'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runs,</a:t>
            </a:r>
            <a:r>
              <a:rPr dirty="0" sz="2300" spc="-114" b="1">
                <a:latin typeface="Trebuchet MS"/>
                <a:cs typeface="Trebuchet MS"/>
              </a:rPr>
              <a:t> </a:t>
            </a:r>
            <a:r>
              <a:rPr dirty="0" sz="2300" spc="85" b="1">
                <a:latin typeface="Trebuchet MS"/>
                <a:cs typeface="Trebuchet MS"/>
              </a:rPr>
              <a:t>balls</a:t>
            </a:r>
            <a:r>
              <a:rPr dirty="0" sz="2300" spc="-135" b="1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faced,</a:t>
            </a:r>
            <a:endParaRPr sz="2300">
              <a:latin typeface="Trebuchet MS"/>
              <a:cs typeface="Trebuchet MS"/>
            </a:endParaRPr>
          </a:p>
          <a:p>
            <a:pPr marL="12700" marR="5080">
              <a:lnSpc>
                <a:spcPct val="100400"/>
              </a:lnSpc>
            </a:pPr>
            <a:r>
              <a:rPr dirty="0" sz="2300" b="1">
                <a:latin typeface="Trebuchet MS"/>
                <a:cs typeface="Trebuchet MS"/>
              </a:rPr>
              <a:t>fours,</a:t>
            </a:r>
            <a:r>
              <a:rPr dirty="0" sz="2300" spc="-105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sixes,</a:t>
            </a:r>
            <a:r>
              <a:rPr dirty="0" sz="2300" spc="-105" b="1">
                <a:latin typeface="Trebuchet MS"/>
                <a:cs typeface="Trebuchet MS"/>
              </a:rPr>
              <a:t> </a:t>
            </a:r>
            <a:r>
              <a:rPr dirty="0" sz="2300" spc="100" b="1">
                <a:latin typeface="Trebuchet MS"/>
                <a:cs typeface="Trebuchet MS"/>
              </a:rPr>
              <a:t>and</a:t>
            </a:r>
            <a:r>
              <a:rPr dirty="0" sz="2300" spc="-8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strike</a:t>
            </a:r>
            <a:r>
              <a:rPr dirty="0" sz="2300" spc="-8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rate</a:t>
            </a:r>
            <a:r>
              <a:rPr dirty="0" sz="2300" spc="-80" b="1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to</a:t>
            </a:r>
            <a:r>
              <a:rPr dirty="0" sz="2300" spc="-50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understand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60">
                <a:latin typeface="Trebuchet MS"/>
                <a:cs typeface="Trebuchet MS"/>
              </a:rPr>
              <a:t>theirperformance. </a:t>
            </a:r>
            <a:r>
              <a:rPr dirty="0" sz="2300">
                <a:latin typeface="Trebuchet MS"/>
                <a:cs typeface="Trebuchet MS"/>
              </a:rPr>
              <a:t>It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helps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identify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top</a:t>
            </a:r>
            <a:r>
              <a:rPr dirty="0" sz="2300" spc="-105" b="1">
                <a:latin typeface="Trebuchet MS"/>
                <a:cs typeface="Trebuchet MS"/>
              </a:rPr>
              <a:t> </a:t>
            </a:r>
            <a:r>
              <a:rPr dirty="0" sz="2300" spc="70" b="1">
                <a:latin typeface="Trebuchet MS"/>
                <a:cs typeface="Trebuchet MS"/>
              </a:rPr>
              <a:t>batsmen</a:t>
            </a:r>
            <a:r>
              <a:rPr dirty="0" sz="2300" spc="-125" b="1">
                <a:latin typeface="Trebuchet MS"/>
                <a:cs typeface="Trebuchet MS"/>
              </a:rPr>
              <a:t> </a:t>
            </a:r>
            <a:r>
              <a:rPr dirty="0" sz="2300" spc="100" b="1">
                <a:latin typeface="Trebuchet MS"/>
                <a:cs typeface="Trebuchet MS"/>
              </a:rPr>
              <a:t>and</a:t>
            </a:r>
            <a:r>
              <a:rPr dirty="0" sz="2300" spc="-110" b="1">
                <a:latin typeface="Trebuchet MS"/>
                <a:cs typeface="Trebuchet MS"/>
              </a:rPr>
              <a:t> </a:t>
            </a:r>
            <a:r>
              <a:rPr dirty="0" sz="2300" spc="80" b="1">
                <a:latin typeface="Trebuchet MS"/>
                <a:cs typeface="Trebuchet MS"/>
              </a:rPr>
              <a:t>most</a:t>
            </a:r>
            <a:r>
              <a:rPr dirty="0" sz="2300" spc="-105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effective</a:t>
            </a:r>
            <a:r>
              <a:rPr dirty="0" sz="2300" spc="-105" b="1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hitters  </a:t>
            </a:r>
            <a:r>
              <a:rPr dirty="0" sz="2300">
                <a:latin typeface="Trebuchet MS"/>
                <a:cs typeface="Trebuchet MS"/>
              </a:rPr>
              <a:t>in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75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tournament.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8971" y="1164674"/>
            <a:ext cx="3802567" cy="545795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17826" y="1398807"/>
            <a:ext cx="4024036" cy="48023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9865" y="2134543"/>
            <a:ext cx="7694930" cy="24911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5"/>
              </a:spcBef>
            </a:pPr>
            <a:r>
              <a:rPr dirty="0" sz="2300" spc="110">
                <a:latin typeface="Trebuchet MS"/>
                <a:cs typeface="Trebuchet MS"/>
              </a:rPr>
              <a:t>The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60">
                <a:latin typeface="Trebuchet MS"/>
                <a:cs typeface="Trebuchet MS"/>
              </a:rPr>
              <a:t>batting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analysis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60">
                <a:latin typeface="Trebuchet MS"/>
                <a:cs typeface="Trebuchet MS"/>
              </a:rPr>
              <a:t>compares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players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80">
                <a:latin typeface="Trebuchet MS"/>
                <a:cs typeface="Trebuchet MS"/>
              </a:rPr>
              <a:t>based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on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total </a:t>
            </a:r>
            <a:r>
              <a:rPr dirty="0" sz="2300" b="1">
                <a:latin typeface="Trebuchet MS"/>
                <a:cs typeface="Trebuchet MS"/>
              </a:rPr>
              <a:t>runs,</a:t>
            </a:r>
            <a:r>
              <a:rPr dirty="0" sz="2300" spc="-85" b="1">
                <a:latin typeface="Trebuchet MS"/>
                <a:cs typeface="Trebuchet MS"/>
              </a:rPr>
              <a:t> </a:t>
            </a:r>
            <a:r>
              <a:rPr dirty="0" sz="2300" spc="65" b="1">
                <a:latin typeface="Trebuchet MS"/>
                <a:cs typeface="Trebuchet MS"/>
              </a:rPr>
              <a:t>average</a:t>
            </a:r>
            <a:r>
              <a:rPr dirty="0" sz="2300" spc="-85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runs,</a:t>
            </a:r>
            <a:r>
              <a:rPr dirty="0" sz="2300" spc="-11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strike</a:t>
            </a:r>
            <a:r>
              <a:rPr dirty="0" sz="2300" spc="-114" b="1">
                <a:latin typeface="Trebuchet MS"/>
                <a:cs typeface="Trebuchet MS"/>
              </a:rPr>
              <a:t> </a:t>
            </a:r>
            <a:r>
              <a:rPr dirty="0" sz="2300" spc="-45" b="1">
                <a:latin typeface="Trebuchet MS"/>
                <a:cs typeface="Trebuchet MS"/>
              </a:rPr>
              <a:t>rate,</a:t>
            </a:r>
            <a:r>
              <a:rPr dirty="0" sz="2300" spc="-85" b="1">
                <a:latin typeface="Trebuchet MS"/>
                <a:cs typeface="Trebuchet MS"/>
              </a:rPr>
              <a:t> </a:t>
            </a:r>
            <a:r>
              <a:rPr dirty="0" sz="2300" spc="90" b="1">
                <a:latin typeface="Trebuchet MS"/>
                <a:cs typeface="Trebuchet MS"/>
              </a:rPr>
              <a:t>and</a:t>
            </a:r>
            <a:r>
              <a:rPr dirty="0" sz="2300" spc="-85" b="1">
                <a:latin typeface="Trebuchet MS"/>
                <a:cs typeface="Trebuchet MS"/>
              </a:rPr>
              <a:t> </a:t>
            </a:r>
            <a:r>
              <a:rPr dirty="0" sz="2300" spc="55" b="1">
                <a:latin typeface="Trebuchet MS"/>
                <a:cs typeface="Trebuchet MS"/>
              </a:rPr>
              <a:t>boundary </a:t>
            </a:r>
            <a:r>
              <a:rPr dirty="0" sz="2300" spc="45" b="1">
                <a:latin typeface="Trebuchet MS"/>
                <a:cs typeface="Trebuchet MS"/>
              </a:rPr>
              <a:t>percentage</a:t>
            </a:r>
            <a:r>
              <a:rPr dirty="0" sz="2300" spc="45">
                <a:latin typeface="Trebuchet MS"/>
                <a:cs typeface="Trebuchet MS"/>
              </a:rPr>
              <a:t>.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For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55">
                <a:latin typeface="Trebuchet MS"/>
                <a:cs typeface="Trebuchet MS"/>
              </a:rPr>
              <a:t>example,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05" b="1">
                <a:latin typeface="Trebuchet MS"/>
                <a:cs typeface="Trebuchet MS"/>
              </a:rPr>
              <a:t>Shubman</a:t>
            </a:r>
            <a:r>
              <a:rPr dirty="0" sz="2300" spc="-11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Gill</a:t>
            </a:r>
            <a:r>
              <a:rPr dirty="0" sz="2300" spc="-130" b="1">
                <a:latin typeface="Trebuchet MS"/>
                <a:cs typeface="Trebuchet MS"/>
              </a:rPr>
              <a:t> </a:t>
            </a:r>
            <a:r>
              <a:rPr dirty="0" sz="2300" spc="110" b="1">
                <a:latin typeface="Trebuchet MS"/>
                <a:cs typeface="Trebuchet MS"/>
              </a:rPr>
              <a:t>scored</a:t>
            </a:r>
            <a:r>
              <a:rPr dirty="0" sz="2300" spc="-114" b="1">
                <a:latin typeface="Trebuchet MS"/>
                <a:cs typeface="Trebuchet MS"/>
              </a:rPr>
              <a:t> </a:t>
            </a:r>
            <a:r>
              <a:rPr dirty="0" sz="2300" spc="-25" b="1">
                <a:latin typeface="Trebuchet MS"/>
                <a:cs typeface="Trebuchet MS"/>
              </a:rPr>
              <a:t>the </a:t>
            </a:r>
            <a:r>
              <a:rPr dirty="0" sz="2300" spc="70" b="1">
                <a:latin typeface="Trebuchet MS"/>
                <a:cs typeface="Trebuchet MS"/>
              </a:rPr>
              <a:t>highest</a:t>
            </a:r>
            <a:r>
              <a:rPr dirty="0" sz="2300" spc="-165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total</a:t>
            </a:r>
            <a:r>
              <a:rPr dirty="0" sz="2300" spc="-155" b="1">
                <a:latin typeface="Trebuchet MS"/>
                <a:cs typeface="Trebuchet MS"/>
              </a:rPr>
              <a:t> </a:t>
            </a:r>
            <a:r>
              <a:rPr dirty="0" sz="2300" spc="70" b="1">
                <a:latin typeface="Trebuchet MS"/>
                <a:cs typeface="Trebuchet MS"/>
              </a:rPr>
              <a:t>runs</a:t>
            </a:r>
            <a:r>
              <a:rPr dirty="0" sz="2300" spc="-140" b="1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(371)</a:t>
            </a:r>
            <a:r>
              <a:rPr dirty="0" sz="2300" spc="-140" b="1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had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highest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average </a:t>
            </a:r>
            <a:r>
              <a:rPr dirty="0" sz="2300" spc="-45">
                <a:latin typeface="Trebuchet MS"/>
                <a:cs typeface="Trebuchet MS"/>
              </a:rPr>
              <a:t>(</a:t>
            </a:r>
            <a:r>
              <a:rPr dirty="0" sz="2300" spc="-45" b="1">
                <a:latin typeface="Trebuchet MS"/>
                <a:cs typeface="Trebuchet MS"/>
              </a:rPr>
              <a:t>74.2</a:t>
            </a:r>
            <a:r>
              <a:rPr dirty="0" sz="2300" spc="-45">
                <a:latin typeface="Trebuchet MS"/>
                <a:cs typeface="Trebuchet MS"/>
              </a:rPr>
              <a:t>),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55">
                <a:latin typeface="Trebuchet MS"/>
                <a:cs typeface="Trebuchet MS"/>
              </a:rPr>
              <a:t>while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55" b="1">
                <a:latin typeface="Trebuchet MS"/>
                <a:cs typeface="Trebuchet MS"/>
              </a:rPr>
              <a:t>Rinku</a:t>
            </a:r>
            <a:r>
              <a:rPr dirty="0" sz="2300" spc="-145" b="1">
                <a:latin typeface="Trebuchet MS"/>
                <a:cs typeface="Trebuchet MS"/>
              </a:rPr>
              <a:t> </a:t>
            </a:r>
            <a:r>
              <a:rPr dirty="0" sz="2300" spc="130" b="1">
                <a:latin typeface="Trebuchet MS"/>
                <a:cs typeface="Trebuchet MS"/>
              </a:rPr>
              <a:t>Singh</a:t>
            </a:r>
            <a:r>
              <a:rPr dirty="0" sz="2300" spc="-120" b="1">
                <a:latin typeface="Trebuchet MS"/>
                <a:cs typeface="Trebuchet MS"/>
              </a:rPr>
              <a:t> </a:t>
            </a:r>
            <a:r>
              <a:rPr dirty="0" sz="2300" spc="90" b="1">
                <a:latin typeface="Trebuchet MS"/>
                <a:cs typeface="Trebuchet MS"/>
              </a:rPr>
              <a:t>had</a:t>
            </a:r>
            <a:r>
              <a:rPr dirty="0" sz="2300" spc="-125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the</a:t>
            </a:r>
            <a:r>
              <a:rPr dirty="0" sz="2300" spc="-120" b="1">
                <a:latin typeface="Trebuchet MS"/>
                <a:cs typeface="Trebuchet MS"/>
              </a:rPr>
              <a:t> </a:t>
            </a:r>
            <a:r>
              <a:rPr dirty="0" sz="2300" spc="65" b="1">
                <a:latin typeface="Trebuchet MS"/>
                <a:cs typeface="Trebuchet MS"/>
              </a:rPr>
              <a:t>highest</a:t>
            </a:r>
            <a:r>
              <a:rPr dirty="0" sz="2300" spc="-125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strike</a:t>
            </a:r>
            <a:r>
              <a:rPr dirty="0" sz="2300" spc="-120" b="1">
                <a:latin typeface="Trebuchet MS"/>
                <a:cs typeface="Trebuchet MS"/>
              </a:rPr>
              <a:t> </a:t>
            </a:r>
            <a:r>
              <a:rPr dirty="0" sz="2300" spc="-20" b="1">
                <a:latin typeface="Trebuchet MS"/>
                <a:cs typeface="Trebuchet MS"/>
              </a:rPr>
              <a:t>rate </a:t>
            </a:r>
            <a:r>
              <a:rPr dirty="0" sz="2300" spc="-35" b="1">
                <a:latin typeface="Trebuchet MS"/>
                <a:cs typeface="Trebuchet MS"/>
              </a:rPr>
              <a:t>(169.73)</a:t>
            </a:r>
            <a:r>
              <a:rPr dirty="0" sz="2300" spc="-35">
                <a:latin typeface="Trebuchet MS"/>
                <a:cs typeface="Trebuchet MS"/>
              </a:rPr>
              <a:t>.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This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helps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229">
                <a:latin typeface="Trebuchet MS"/>
                <a:cs typeface="Trebuchet MS"/>
              </a:rPr>
              <a:t>us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identify</a:t>
            </a:r>
            <a:r>
              <a:rPr dirty="0" sz="2300" spc="-5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top-</a:t>
            </a:r>
            <a:r>
              <a:rPr dirty="0" sz="2300" spc="100">
                <a:latin typeface="Trebuchet MS"/>
                <a:cs typeface="Trebuchet MS"/>
              </a:rPr>
              <a:t>performing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and </a:t>
            </a:r>
            <a:r>
              <a:rPr dirty="0" sz="2300" spc="130">
                <a:latin typeface="Trebuchet MS"/>
                <a:cs typeface="Trebuchet MS"/>
              </a:rPr>
              <a:t>most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160">
                <a:latin typeface="Trebuchet MS"/>
                <a:cs typeface="Trebuchet MS"/>
              </a:rPr>
              <a:t>aggressive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batsmen</a:t>
            </a:r>
            <a:r>
              <a:rPr dirty="0" sz="1450" spc="95">
                <a:latin typeface="Calibri"/>
                <a:cs typeface="Calibri"/>
              </a:rPr>
              <a:t>.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53788" rIns="0" bIns="0" rtlCol="0" vert="horz">
            <a:spAutoFit/>
          </a:bodyPr>
          <a:lstStyle/>
          <a:p>
            <a:pPr marL="408305">
              <a:lnSpc>
                <a:spcPct val="100000"/>
              </a:lnSpc>
              <a:spcBef>
                <a:spcPts val="100"/>
              </a:spcBef>
            </a:pPr>
            <a:r>
              <a:rPr dirty="0" spc="240"/>
              <a:t>GRAPHICAL</a:t>
            </a:r>
            <a:r>
              <a:rPr dirty="0" spc="-40"/>
              <a:t> </a:t>
            </a:r>
            <a:r>
              <a:rPr dirty="0" spc="200"/>
              <a:t>REPRESENTATION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0922" y="1731959"/>
            <a:ext cx="7681365" cy="45222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1986" y="2273278"/>
            <a:ext cx="7468234" cy="143510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5"/>
              </a:spcBef>
            </a:pPr>
            <a:r>
              <a:rPr dirty="0" sz="2300" spc="125">
                <a:latin typeface="Trebuchet MS"/>
                <a:cs typeface="Trebuchet MS"/>
              </a:rPr>
              <a:t>This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40">
                <a:latin typeface="Trebuchet MS"/>
                <a:cs typeface="Trebuchet MS"/>
              </a:rPr>
              <a:t>bar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chart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215">
                <a:latin typeface="Trebuchet MS"/>
                <a:cs typeface="Trebuchet MS"/>
              </a:rPr>
              <a:t>shows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top</a:t>
            </a:r>
            <a:r>
              <a:rPr dirty="0" sz="2300" spc="-125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10</a:t>
            </a:r>
            <a:r>
              <a:rPr dirty="0" sz="2300" spc="-105" b="1">
                <a:latin typeface="Trebuchet MS"/>
                <a:cs typeface="Trebuchet MS"/>
              </a:rPr>
              <a:t> </a:t>
            </a:r>
            <a:r>
              <a:rPr dirty="0" sz="2300" spc="65" b="1">
                <a:latin typeface="Trebuchet MS"/>
                <a:cs typeface="Trebuchet MS"/>
              </a:rPr>
              <a:t>batsmen</a:t>
            </a:r>
            <a:r>
              <a:rPr dirty="0" sz="2300" spc="-125" b="1">
                <a:latin typeface="Trebuchet MS"/>
                <a:cs typeface="Trebuchet MS"/>
              </a:rPr>
              <a:t> </a:t>
            </a:r>
            <a:r>
              <a:rPr dirty="0" sz="2300" spc="135" b="1">
                <a:latin typeface="Trebuchet MS"/>
                <a:cs typeface="Trebuchet MS"/>
              </a:rPr>
              <a:t>based</a:t>
            </a:r>
            <a:r>
              <a:rPr dirty="0" sz="2300" spc="-155" b="1">
                <a:latin typeface="Trebuchet MS"/>
                <a:cs typeface="Trebuchet MS"/>
              </a:rPr>
              <a:t> </a:t>
            </a:r>
            <a:r>
              <a:rPr dirty="0" sz="2300" spc="35" b="1">
                <a:latin typeface="Trebuchet MS"/>
                <a:cs typeface="Trebuchet MS"/>
              </a:rPr>
              <a:t>on </a:t>
            </a:r>
            <a:r>
              <a:rPr dirty="0" sz="2300" b="1">
                <a:latin typeface="Trebuchet MS"/>
                <a:cs typeface="Trebuchet MS"/>
              </a:rPr>
              <a:t>total</a:t>
            </a:r>
            <a:r>
              <a:rPr dirty="0" sz="2300" spc="-114" b="1">
                <a:latin typeface="Trebuchet MS"/>
                <a:cs typeface="Trebuchet MS"/>
              </a:rPr>
              <a:t> </a:t>
            </a:r>
            <a:r>
              <a:rPr dirty="0" sz="2300" spc="70" b="1">
                <a:latin typeface="Trebuchet MS"/>
                <a:cs typeface="Trebuchet MS"/>
              </a:rPr>
              <a:t>runs</a:t>
            </a:r>
            <a:r>
              <a:rPr dirty="0" sz="2300" spc="-140" b="1">
                <a:latin typeface="Trebuchet MS"/>
                <a:cs typeface="Trebuchet MS"/>
              </a:rPr>
              <a:t> </a:t>
            </a:r>
            <a:r>
              <a:rPr dirty="0" sz="2300" spc="75" b="1">
                <a:latin typeface="Trebuchet MS"/>
                <a:cs typeface="Trebuchet MS"/>
              </a:rPr>
              <a:t>scored</a:t>
            </a:r>
            <a:r>
              <a:rPr dirty="0" sz="2300" spc="75">
                <a:latin typeface="Trebuchet MS"/>
                <a:cs typeface="Trebuchet MS"/>
              </a:rPr>
              <a:t>.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05" b="1">
                <a:latin typeface="Trebuchet MS"/>
                <a:cs typeface="Trebuchet MS"/>
              </a:rPr>
              <a:t>Shubman</a:t>
            </a:r>
            <a:r>
              <a:rPr dirty="0" sz="2300" spc="-145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Gill</a:t>
            </a:r>
            <a:r>
              <a:rPr dirty="0" sz="2300" spc="-110" b="1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is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highest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scorer </a:t>
            </a:r>
            <a:r>
              <a:rPr dirty="0" sz="2300">
                <a:latin typeface="Trebuchet MS"/>
                <a:cs typeface="Trebuchet MS"/>
              </a:rPr>
              <a:t>with</a:t>
            </a:r>
            <a:r>
              <a:rPr dirty="0" sz="2300" spc="-75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371</a:t>
            </a:r>
            <a:r>
              <a:rPr dirty="0" sz="2300" spc="-85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runs</a:t>
            </a:r>
            <a:r>
              <a:rPr dirty="0" sz="2300">
                <a:latin typeface="Trebuchet MS"/>
                <a:cs typeface="Trebuchet MS"/>
              </a:rPr>
              <a:t>,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55">
                <a:latin typeface="Trebuchet MS"/>
                <a:cs typeface="Trebuchet MS"/>
              </a:rPr>
              <a:t>followed</a:t>
            </a:r>
            <a:r>
              <a:rPr dirty="0" sz="2300" spc="-35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by</a:t>
            </a:r>
            <a:r>
              <a:rPr dirty="0" sz="2300" spc="-70">
                <a:latin typeface="Trebuchet MS"/>
                <a:cs typeface="Trebuchet MS"/>
              </a:rPr>
              <a:t> </a:t>
            </a:r>
            <a:r>
              <a:rPr dirty="0" sz="2300" spc="70" b="1">
                <a:latin typeface="Trebuchet MS"/>
                <a:cs typeface="Trebuchet MS"/>
              </a:rPr>
              <a:t>Prabhsimran</a:t>
            </a:r>
            <a:r>
              <a:rPr dirty="0" sz="2300" spc="-110" b="1">
                <a:latin typeface="Trebuchet MS"/>
                <a:cs typeface="Trebuchet MS"/>
              </a:rPr>
              <a:t> </a:t>
            </a:r>
            <a:r>
              <a:rPr dirty="0" sz="2300" spc="130" b="1">
                <a:latin typeface="Trebuchet MS"/>
                <a:cs typeface="Trebuchet MS"/>
              </a:rPr>
              <a:t>Singh</a:t>
            </a:r>
            <a:r>
              <a:rPr dirty="0" sz="2300" spc="-85" b="1">
                <a:latin typeface="Trebuchet MS"/>
                <a:cs typeface="Trebuchet MS"/>
              </a:rPr>
              <a:t> </a:t>
            </a:r>
            <a:r>
              <a:rPr dirty="0" sz="2300" spc="-20" b="1">
                <a:latin typeface="Trebuchet MS"/>
                <a:cs typeface="Trebuchet MS"/>
              </a:rPr>
              <a:t>with </a:t>
            </a:r>
            <a:r>
              <a:rPr dirty="0" sz="2300" b="1">
                <a:latin typeface="Trebuchet MS"/>
                <a:cs typeface="Trebuchet MS"/>
              </a:rPr>
              <a:t>368</a:t>
            </a:r>
            <a:r>
              <a:rPr dirty="0" sz="2300" spc="-110" b="1">
                <a:latin typeface="Trebuchet MS"/>
                <a:cs typeface="Trebuchet MS"/>
              </a:rPr>
              <a:t> </a:t>
            </a:r>
            <a:r>
              <a:rPr dirty="0" sz="2300" spc="65" b="1">
                <a:latin typeface="Trebuchet MS"/>
                <a:cs typeface="Trebuchet MS"/>
              </a:rPr>
              <a:t>runs</a:t>
            </a:r>
            <a:r>
              <a:rPr dirty="0" sz="2300" spc="-100" b="1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105" b="1">
                <a:latin typeface="Trebuchet MS"/>
                <a:cs typeface="Trebuchet MS"/>
              </a:rPr>
              <a:t>Rishabh</a:t>
            </a:r>
            <a:r>
              <a:rPr dirty="0" sz="2300" spc="-105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Pant</a:t>
            </a:r>
            <a:r>
              <a:rPr dirty="0" sz="2300" spc="-125" b="1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with</a:t>
            </a:r>
            <a:r>
              <a:rPr dirty="0" sz="2300" spc="-105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359</a:t>
            </a:r>
            <a:r>
              <a:rPr dirty="0" sz="2300" spc="-105" b="1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runs</a:t>
            </a:r>
            <a:r>
              <a:rPr dirty="0" sz="2300" spc="-10">
                <a:latin typeface="Trebuchet MS"/>
                <a:cs typeface="Trebuchet MS"/>
              </a:rPr>
              <a:t>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53788" rIns="0" bIns="0" rtlCol="0" vert="horz">
            <a:spAutoFit/>
          </a:bodyPr>
          <a:lstStyle/>
          <a:p>
            <a:pPr marL="1544320">
              <a:lnSpc>
                <a:spcPct val="100000"/>
              </a:lnSpc>
              <a:spcBef>
                <a:spcPts val="100"/>
              </a:spcBef>
            </a:pPr>
            <a:r>
              <a:rPr dirty="0" spc="150"/>
              <a:t>BOWLING</a:t>
            </a:r>
            <a:r>
              <a:rPr dirty="0" spc="-35"/>
              <a:t> </a:t>
            </a:r>
            <a:r>
              <a:rPr dirty="0" spc="170"/>
              <a:t>ANALYSIS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6737" y="2501920"/>
            <a:ext cx="7403465" cy="212979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99900"/>
              </a:lnSpc>
              <a:spcBef>
                <a:spcPts val="114"/>
              </a:spcBef>
            </a:pPr>
            <a:r>
              <a:rPr dirty="0" sz="2300" spc="110">
                <a:latin typeface="Trebuchet MS"/>
                <a:cs typeface="Trebuchet MS"/>
              </a:rPr>
              <a:t>The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bowling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analysis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65">
                <a:latin typeface="Trebuchet MS"/>
                <a:cs typeface="Trebuchet MS"/>
              </a:rPr>
              <a:t>compares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bowlers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80">
                <a:latin typeface="Trebuchet MS"/>
                <a:cs typeface="Trebuchet MS"/>
              </a:rPr>
              <a:t>based</a:t>
            </a:r>
            <a:r>
              <a:rPr dirty="0" sz="2300" spc="-165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on </a:t>
            </a:r>
            <a:r>
              <a:rPr dirty="0" sz="2300" b="1">
                <a:latin typeface="Trebuchet MS"/>
                <a:cs typeface="Trebuchet MS"/>
              </a:rPr>
              <a:t>wickets,</a:t>
            </a:r>
            <a:r>
              <a:rPr dirty="0" sz="2300" spc="-90" b="1">
                <a:latin typeface="Trebuchet MS"/>
                <a:cs typeface="Trebuchet MS"/>
              </a:rPr>
              <a:t> </a:t>
            </a:r>
            <a:r>
              <a:rPr dirty="0" sz="2300" spc="75" b="1">
                <a:latin typeface="Trebuchet MS"/>
                <a:cs typeface="Trebuchet MS"/>
              </a:rPr>
              <a:t>economy</a:t>
            </a:r>
            <a:r>
              <a:rPr dirty="0" sz="2300" spc="-85" b="1">
                <a:latin typeface="Trebuchet MS"/>
                <a:cs typeface="Trebuchet MS"/>
              </a:rPr>
              <a:t> </a:t>
            </a:r>
            <a:r>
              <a:rPr dirty="0" sz="2300" spc="-45" b="1">
                <a:latin typeface="Trebuchet MS"/>
                <a:cs typeface="Trebuchet MS"/>
              </a:rPr>
              <a:t>rate,</a:t>
            </a:r>
            <a:r>
              <a:rPr dirty="0" sz="2300" spc="-85" b="1">
                <a:latin typeface="Trebuchet MS"/>
                <a:cs typeface="Trebuchet MS"/>
              </a:rPr>
              <a:t> </a:t>
            </a:r>
            <a:r>
              <a:rPr dirty="0" sz="2300" spc="100" b="1">
                <a:latin typeface="Trebuchet MS"/>
                <a:cs typeface="Trebuchet MS"/>
              </a:rPr>
              <a:t>and</a:t>
            </a:r>
            <a:r>
              <a:rPr dirty="0" sz="2300" spc="-65" b="1">
                <a:latin typeface="Trebuchet MS"/>
                <a:cs typeface="Trebuchet MS"/>
              </a:rPr>
              <a:t> </a:t>
            </a:r>
            <a:r>
              <a:rPr dirty="0" sz="2300" spc="65" b="1">
                <a:latin typeface="Trebuchet MS"/>
                <a:cs typeface="Trebuchet MS"/>
              </a:rPr>
              <a:t>bowling</a:t>
            </a:r>
            <a:r>
              <a:rPr dirty="0" sz="2300" spc="-65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average</a:t>
            </a:r>
            <a:r>
              <a:rPr dirty="0" sz="2300">
                <a:latin typeface="Trebuchet MS"/>
                <a:cs typeface="Trebuchet MS"/>
              </a:rPr>
              <a:t>.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100">
                <a:latin typeface="Trebuchet MS"/>
                <a:cs typeface="Trebuchet MS"/>
              </a:rPr>
              <a:t>For </a:t>
            </a:r>
            <a:r>
              <a:rPr dirty="0" sz="2300" spc="55">
                <a:latin typeface="Trebuchet MS"/>
                <a:cs typeface="Trebuchet MS"/>
              </a:rPr>
              <a:t>example,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85" b="1">
                <a:latin typeface="Trebuchet MS"/>
                <a:cs typeface="Trebuchet MS"/>
              </a:rPr>
              <a:t>Mohammed</a:t>
            </a:r>
            <a:r>
              <a:rPr dirty="0" sz="2300" spc="-120" b="1">
                <a:latin typeface="Trebuchet MS"/>
                <a:cs typeface="Trebuchet MS"/>
              </a:rPr>
              <a:t> </a:t>
            </a:r>
            <a:r>
              <a:rPr dirty="0" sz="2300" spc="110" b="1">
                <a:latin typeface="Trebuchet MS"/>
                <a:cs typeface="Trebuchet MS"/>
              </a:rPr>
              <a:t>Shami</a:t>
            </a:r>
            <a:r>
              <a:rPr dirty="0" sz="2300" spc="-11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took</a:t>
            </a:r>
            <a:r>
              <a:rPr dirty="0" sz="2300" spc="-114" b="1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the</a:t>
            </a:r>
            <a:r>
              <a:rPr dirty="0" sz="2300" spc="-120" b="1">
                <a:latin typeface="Trebuchet MS"/>
                <a:cs typeface="Trebuchet MS"/>
              </a:rPr>
              <a:t> </a:t>
            </a:r>
            <a:r>
              <a:rPr dirty="0" sz="2300" spc="80" b="1">
                <a:latin typeface="Trebuchet MS"/>
                <a:cs typeface="Trebuchet MS"/>
              </a:rPr>
              <a:t>most</a:t>
            </a:r>
            <a:r>
              <a:rPr dirty="0" sz="2300" spc="-114" b="1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wickets </a:t>
            </a:r>
            <a:r>
              <a:rPr dirty="0" sz="2300" spc="-35" b="1">
                <a:latin typeface="Trebuchet MS"/>
                <a:cs typeface="Trebuchet MS"/>
              </a:rPr>
              <a:t>(10)</a:t>
            </a:r>
            <a:r>
              <a:rPr dirty="0" sz="2300" spc="-35">
                <a:latin typeface="Trebuchet MS"/>
                <a:cs typeface="Trebuchet MS"/>
              </a:rPr>
              <a:t>,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60">
                <a:latin typeface="Trebuchet MS"/>
                <a:cs typeface="Trebuchet MS"/>
              </a:rPr>
              <a:t>while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75" b="1">
                <a:latin typeface="Trebuchet MS"/>
                <a:cs typeface="Trebuchet MS"/>
              </a:rPr>
              <a:t>Axar</a:t>
            </a:r>
            <a:r>
              <a:rPr dirty="0" sz="2300" spc="-145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Patel</a:t>
            </a:r>
            <a:r>
              <a:rPr dirty="0" sz="2300" spc="-125" b="1">
                <a:latin typeface="Trebuchet MS"/>
                <a:cs typeface="Trebuchet MS"/>
              </a:rPr>
              <a:t> </a:t>
            </a:r>
            <a:r>
              <a:rPr dirty="0" sz="2300" spc="100" b="1">
                <a:latin typeface="Trebuchet MS"/>
                <a:cs typeface="Trebuchet MS"/>
              </a:rPr>
              <a:t>had</a:t>
            </a:r>
            <a:r>
              <a:rPr dirty="0" sz="2300" spc="-16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the</a:t>
            </a:r>
            <a:r>
              <a:rPr dirty="0" sz="2300" spc="-140" b="1">
                <a:latin typeface="Trebuchet MS"/>
                <a:cs typeface="Trebuchet MS"/>
              </a:rPr>
              <a:t> </a:t>
            </a:r>
            <a:r>
              <a:rPr dirty="0" sz="2300" spc="80" b="1">
                <a:latin typeface="Trebuchet MS"/>
                <a:cs typeface="Trebuchet MS"/>
              </a:rPr>
              <a:t>best</a:t>
            </a:r>
            <a:r>
              <a:rPr dirty="0" sz="2300" spc="-135" b="1">
                <a:latin typeface="Trebuchet MS"/>
                <a:cs typeface="Trebuchet MS"/>
              </a:rPr>
              <a:t> </a:t>
            </a:r>
            <a:r>
              <a:rPr dirty="0" sz="2300" spc="75" b="1">
                <a:latin typeface="Trebuchet MS"/>
                <a:cs typeface="Trebuchet MS"/>
              </a:rPr>
              <a:t>economy</a:t>
            </a:r>
            <a:r>
              <a:rPr dirty="0" sz="2300" spc="-150" b="1">
                <a:latin typeface="Trebuchet MS"/>
                <a:cs typeface="Trebuchet MS"/>
              </a:rPr>
              <a:t> </a:t>
            </a:r>
            <a:r>
              <a:rPr dirty="0" sz="2300" spc="-20" b="1">
                <a:latin typeface="Trebuchet MS"/>
                <a:cs typeface="Trebuchet MS"/>
              </a:rPr>
              <a:t>rate </a:t>
            </a:r>
            <a:r>
              <a:rPr dirty="0" sz="2300" spc="-45" b="1">
                <a:latin typeface="Trebuchet MS"/>
                <a:cs typeface="Trebuchet MS"/>
              </a:rPr>
              <a:t>(4.446)</a:t>
            </a:r>
            <a:r>
              <a:rPr dirty="0" sz="2300" spc="-45">
                <a:latin typeface="Trebuchet MS"/>
                <a:cs typeface="Trebuchet MS"/>
              </a:rPr>
              <a:t>.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Mohammed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65">
                <a:latin typeface="Trebuchet MS"/>
                <a:cs typeface="Trebuchet MS"/>
              </a:rPr>
              <a:t>Shami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50">
                <a:latin typeface="Trebuchet MS"/>
                <a:cs typeface="Trebuchet MS"/>
              </a:rPr>
              <a:t>and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60">
                <a:latin typeface="Trebuchet MS"/>
                <a:cs typeface="Trebuchet MS"/>
              </a:rPr>
              <a:t>Arshdeep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85">
                <a:latin typeface="Trebuchet MS"/>
                <a:cs typeface="Trebuchet MS"/>
              </a:rPr>
              <a:t>Singh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also </a:t>
            </a:r>
            <a:r>
              <a:rPr dirty="0" sz="2300" spc="130">
                <a:latin typeface="Trebuchet MS"/>
                <a:cs typeface="Trebuchet MS"/>
              </a:rPr>
              <a:t>recorded</a:t>
            </a:r>
            <a:r>
              <a:rPr dirty="0" sz="2300" spc="-165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best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bowling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average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of</a:t>
            </a:r>
            <a:r>
              <a:rPr dirty="0" sz="2300" spc="160">
                <a:latin typeface="Trebuchet MS"/>
                <a:cs typeface="Trebuchet MS"/>
              </a:rPr>
              <a:t> </a:t>
            </a:r>
            <a:r>
              <a:rPr dirty="0" sz="2300" spc="-20" b="1">
                <a:latin typeface="Trebuchet MS"/>
                <a:cs typeface="Trebuchet MS"/>
              </a:rPr>
              <a:t>1.5</a:t>
            </a:r>
            <a:r>
              <a:rPr dirty="0" sz="2300" spc="-20">
                <a:latin typeface="Calibri"/>
                <a:cs typeface="Calibri"/>
              </a:rPr>
              <a:t>.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820" y="1217428"/>
            <a:ext cx="4107404" cy="54855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58813" y="1380777"/>
            <a:ext cx="4282134" cy="310892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92328" rIns="0" bIns="0" rtlCol="0" vert="horz">
            <a:spAutoFit/>
          </a:bodyPr>
          <a:lstStyle/>
          <a:p>
            <a:pPr marL="408305">
              <a:lnSpc>
                <a:spcPct val="100000"/>
              </a:lnSpc>
              <a:spcBef>
                <a:spcPts val="100"/>
              </a:spcBef>
            </a:pPr>
            <a:r>
              <a:rPr dirty="0" spc="240"/>
              <a:t>GRAPHICAL</a:t>
            </a:r>
            <a:r>
              <a:rPr dirty="0" spc="-40"/>
              <a:t> </a:t>
            </a:r>
            <a:r>
              <a:rPr dirty="0" spc="200"/>
              <a:t>REPRESENTATION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6537" y="1623755"/>
            <a:ext cx="7681365" cy="452225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12850" rIns="0" bIns="0" rtlCol="0" vert="horz">
            <a:spAutoFit/>
          </a:bodyPr>
          <a:lstStyle/>
          <a:p>
            <a:pPr marL="327660" marR="5080">
              <a:lnSpc>
                <a:spcPct val="100499"/>
              </a:lnSpc>
              <a:spcBef>
                <a:spcPts val="100"/>
              </a:spcBef>
            </a:pPr>
            <a:r>
              <a:rPr dirty="0" sz="2300" spc="125">
                <a:latin typeface="Trebuchet MS"/>
                <a:cs typeface="Trebuchet MS"/>
              </a:rPr>
              <a:t>This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40">
                <a:latin typeface="Trebuchet MS"/>
                <a:cs typeface="Trebuchet MS"/>
              </a:rPr>
              <a:t>bar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chart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215">
                <a:latin typeface="Trebuchet MS"/>
                <a:cs typeface="Trebuchet MS"/>
              </a:rPr>
              <a:t>shows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top</a:t>
            </a:r>
            <a:r>
              <a:rPr dirty="0" sz="2300" spc="-13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10</a:t>
            </a:r>
            <a:r>
              <a:rPr dirty="0" sz="2300" spc="-100" b="1">
                <a:latin typeface="Trebuchet MS"/>
                <a:cs typeface="Trebuchet MS"/>
              </a:rPr>
              <a:t> </a:t>
            </a:r>
            <a:r>
              <a:rPr dirty="0" sz="2300" spc="65" b="1">
                <a:latin typeface="Trebuchet MS"/>
                <a:cs typeface="Trebuchet MS"/>
              </a:rPr>
              <a:t>bowlers</a:t>
            </a:r>
            <a:r>
              <a:rPr dirty="0" sz="2300" spc="-125" b="1">
                <a:latin typeface="Trebuchet MS"/>
                <a:cs typeface="Trebuchet MS"/>
              </a:rPr>
              <a:t> </a:t>
            </a:r>
            <a:r>
              <a:rPr dirty="0" sz="2300" spc="135" b="1">
                <a:latin typeface="Trebuchet MS"/>
                <a:cs typeface="Trebuchet MS"/>
              </a:rPr>
              <a:t>based</a:t>
            </a:r>
            <a:r>
              <a:rPr dirty="0" sz="2300" spc="-130" b="1">
                <a:latin typeface="Trebuchet MS"/>
                <a:cs typeface="Trebuchet MS"/>
              </a:rPr>
              <a:t> </a:t>
            </a:r>
            <a:r>
              <a:rPr dirty="0" sz="2300" spc="60" b="1">
                <a:latin typeface="Trebuchet MS"/>
                <a:cs typeface="Trebuchet MS"/>
              </a:rPr>
              <a:t>on</a:t>
            </a:r>
            <a:r>
              <a:rPr dirty="0" sz="2300" spc="-130" b="1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total </a:t>
            </a:r>
            <a:r>
              <a:rPr dirty="0" sz="2300" b="1">
                <a:latin typeface="Trebuchet MS"/>
                <a:cs typeface="Trebuchet MS"/>
              </a:rPr>
              <a:t>wickets</a:t>
            </a:r>
            <a:r>
              <a:rPr dirty="0" sz="2300">
                <a:latin typeface="Trebuchet MS"/>
                <a:cs typeface="Trebuchet MS"/>
              </a:rPr>
              <a:t>.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85" b="1">
                <a:latin typeface="Trebuchet MS"/>
                <a:cs typeface="Trebuchet MS"/>
              </a:rPr>
              <a:t>Mohammed</a:t>
            </a:r>
            <a:r>
              <a:rPr dirty="0" sz="2300" spc="-110" b="1">
                <a:latin typeface="Trebuchet MS"/>
                <a:cs typeface="Trebuchet MS"/>
              </a:rPr>
              <a:t> </a:t>
            </a:r>
            <a:r>
              <a:rPr dirty="0" sz="2300" spc="110" b="1">
                <a:latin typeface="Trebuchet MS"/>
                <a:cs typeface="Trebuchet MS"/>
              </a:rPr>
              <a:t>Shami</a:t>
            </a:r>
            <a:r>
              <a:rPr dirty="0" sz="2300" spc="-105" b="1">
                <a:latin typeface="Trebuchet MS"/>
                <a:cs typeface="Trebuchet MS"/>
              </a:rPr>
              <a:t> </a:t>
            </a:r>
            <a:r>
              <a:rPr dirty="0" sz="2300" spc="90">
                <a:latin typeface="Trebuchet MS"/>
                <a:cs typeface="Trebuchet MS"/>
              </a:rPr>
              <a:t>took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highest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number</a:t>
            </a:r>
            <a:endParaRPr sz="2300">
              <a:latin typeface="Trebuchet MS"/>
              <a:cs typeface="Trebuchet MS"/>
            </a:endParaRPr>
          </a:p>
          <a:p>
            <a:pPr marL="327660" marR="476250">
              <a:lnSpc>
                <a:spcPct val="100400"/>
              </a:lnSpc>
            </a:pPr>
            <a:r>
              <a:rPr dirty="0" sz="2300">
                <a:latin typeface="Trebuchet MS"/>
                <a:cs typeface="Trebuchet MS"/>
              </a:rPr>
              <a:t>of</a:t>
            </a:r>
            <a:r>
              <a:rPr dirty="0" sz="2300" spc="165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wickets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with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-35" b="1">
                <a:latin typeface="Trebuchet MS"/>
                <a:cs typeface="Trebuchet MS"/>
              </a:rPr>
              <a:t>10</a:t>
            </a:r>
            <a:r>
              <a:rPr dirty="0" sz="2300" spc="-35">
                <a:latin typeface="Trebuchet MS"/>
                <a:cs typeface="Trebuchet MS"/>
              </a:rPr>
              <a:t>,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55">
                <a:latin typeface="Trebuchet MS"/>
                <a:cs typeface="Trebuchet MS"/>
              </a:rPr>
              <a:t>followed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by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85" b="1">
                <a:latin typeface="Trebuchet MS"/>
                <a:cs typeface="Trebuchet MS"/>
              </a:rPr>
              <a:t>Arshdeep</a:t>
            </a:r>
            <a:r>
              <a:rPr dirty="0" sz="2300" spc="-110" b="1">
                <a:latin typeface="Trebuchet MS"/>
                <a:cs typeface="Trebuchet MS"/>
              </a:rPr>
              <a:t> </a:t>
            </a:r>
            <a:r>
              <a:rPr dirty="0" sz="2300" spc="130" b="1">
                <a:latin typeface="Trebuchet MS"/>
                <a:cs typeface="Trebuchet MS"/>
              </a:rPr>
              <a:t>Singh</a:t>
            </a:r>
            <a:r>
              <a:rPr dirty="0" sz="2300" spc="-135" b="1">
                <a:latin typeface="Trebuchet MS"/>
                <a:cs typeface="Trebuchet MS"/>
              </a:rPr>
              <a:t> </a:t>
            </a:r>
            <a:r>
              <a:rPr dirty="0" sz="2300" spc="75" b="1">
                <a:latin typeface="Trebuchet MS"/>
                <a:cs typeface="Trebuchet MS"/>
              </a:rPr>
              <a:t>and </a:t>
            </a:r>
            <a:r>
              <a:rPr dirty="0" sz="2300" spc="90" b="1">
                <a:latin typeface="Trebuchet MS"/>
                <a:cs typeface="Trebuchet MS"/>
              </a:rPr>
              <a:t>Shivam</a:t>
            </a:r>
            <a:r>
              <a:rPr dirty="0" sz="2300" spc="-110" b="1">
                <a:latin typeface="Trebuchet MS"/>
                <a:cs typeface="Trebuchet MS"/>
              </a:rPr>
              <a:t> </a:t>
            </a:r>
            <a:r>
              <a:rPr dirty="0" sz="2300" spc="105" b="1">
                <a:latin typeface="Trebuchet MS"/>
                <a:cs typeface="Trebuchet MS"/>
              </a:rPr>
              <a:t>Dube</a:t>
            </a:r>
            <a:r>
              <a:rPr dirty="0" sz="2300" spc="-80" b="1">
                <a:latin typeface="Trebuchet MS"/>
                <a:cs typeface="Trebuchet MS"/>
              </a:rPr>
              <a:t> </a:t>
            </a:r>
            <a:r>
              <a:rPr dirty="0" sz="2300" spc="-20" b="1">
                <a:latin typeface="Trebuchet MS"/>
                <a:cs typeface="Trebuchet MS"/>
              </a:rPr>
              <a:t>with</a:t>
            </a:r>
            <a:r>
              <a:rPr dirty="0" sz="2300" spc="-10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9</a:t>
            </a:r>
            <a:r>
              <a:rPr dirty="0" sz="2300" spc="-3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wickets</a:t>
            </a:r>
            <a:r>
              <a:rPr dirty="0" sz="2300" spc="-70" b="1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each</a:t>
            </a:r>
            <a:r>
              <a:rPr dirty="0" sz="2300" spc="-10">
                <a:latin typeface="Trebuchet MS"/>
                <a:cs typeface="Trebuchet MS"/>
              </a:rPr>
              <a:t>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29231" rIns="0" bIns="0" rtlCol="0" vert="horz">
            <a:spAutoFit/>
          </a:bodyPr>
          <a:lstStyle/>
          <a:p>
            <a:pPr marL="1809114">
              <a:lnSpc>
                <a:spcPct val="100000"/>
              </a:lnSpc>
              <a:spcBef>
                <a:spcPts val="100"/>
              </a:spcBef>
            </a:pPr>
            <a:r>
              <a:rPr dirty="0" spc="320"/>
              <a:t>TEAM</a:t>
            </a:r>
            <a:r>
              <a:rPr dirty="0" spc="-80"/>
              <a:t> </a:t>
            </a:r>
            <a:r>
              <a:rPr dirty="0" spc="170"/>
              <a:t>ANALYSIS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9017" y="1243438"/>
            <a:ext cx="3875547" cy="532575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67992" y="1350406"/>
            <a:ext cx="3689014" cy="413751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08726" rIns="0" bIns="0" rtlCol="0" vert="horz">
            <a:spAutoFit/>
          </a:bodyPr>
          <a:lstStyle/>
          <a:p>
            <a:pPr marL="137160" marR="192405">
              <a:lnSpc>
                <a:spcPct val="100400"/>
              </a:lnSpc>
              <a:spcBef>
                <a:spcPts val="105"/>
              </a:spcBef>
            </a:pPr>
            <a:r>
              <a:rPr dirty="0" sz="2300" spc="110">
                <a:latin typeface="Trebuchet MS"/>
                <a:cs typeface="Trebuchet MS"/>
              </a:rPr>
              <a:t>The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team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30">
                <a:latin typeface="Trebuchet MS"/>
                <a:cs typeface="Trebuchet MS"/>
              </a:rPr>
              <a:t>analysis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65">
                <a:latin typeface="Trebuchet MS"/>
                <a:cs typeface="Trebuchet MS"/>
              </a:rPr>
              <a:t>compares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185">
                <a:latin typeface="Trebuchet MS"/>
                <a:cs typeface="Trebuchet MS"/>
              </a:rPr>
              <a:t>IPL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teams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80">
                <a:latin typeface="Trebuchet MS"/>
                <a:cs typeface="Trebuchet MS"/>
              </a:rPr>
              <a:t>based</a:t>
            </a:r>
            <a:r>
              <a:rPr dirty="0" sz="2300" spc="-165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on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wins, </a:t>
            </a:r>
            <a:r>
              <a:rPr dirty="0" sz="2300" b="1">
                <a:latin typeface="Trebuchet MS"/>
                <a:cs typeface="Trebuchet MS"/>
              </a:rPr>
              <a:t>run</a:t>
            </a:r>
            <a:r>
              <a:rPr dirty="0" sz="2300" spc="-110" b="1">
                <a:latin typeface="Trebuchet MS"/>
                <a:cs typeface="Trebuchet MS"/>
              </a:rPr>
              <a:t> </a:t>
            </a:r>
            <a:r>
              <a:rPr dirty="0" sz="2300" spc="-50" b="1">
                <a:latin typeface="Trebuchet MS"/>
                <a:cs typeface="Trebuchet MS"/>
              </a:rPr>
              <a:t>rate,</a:t>
            </a:r>
            <a:r>
              <a:rPr dirty="0" sz="2300" spc="-105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total</a:t>
            </a:r>
            <a:r>
              <a:rPr dirty="0" sz="2300" spc="-95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runs,</a:t>
            </a:r>
            <a:r>
              <a:rPr dirty="0" sz="2300" spc="-100" b="1">
                <a:latin typeface="Trebuchet MS"/>
                <a:cs typeface="Trebuchet MS"/>
              </a:rPr>
              <a:t> </a:t>
            </a:r>
            <a:r>
              <a:rPr dirty="0" sz="2300" spc="100" b="1">
                <a:latin typeface="Trebuchet MS"/>
                <a:cs typeface="Trebuchet MS"/>
              </a:rPr>
              <a:t>and</a:t>
            </a:r>
            <a:r>
              <a:rPr dirty="0" sz="2300" spc="-135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wickets</a:t>
            </a:r>
            <a:r>
              <a:rPr dirty="0" sz="2300">
                <a:latin typeface="Trebuchet MS"/>
                <a:cs typeface="Trebuchet MS"/>
              </a:rPr>
              <a:t>.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For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55">
                <a:latin typeface="Trebuchet MS"/>
                <a:cs typeface="Trebuchet MS"/>
              </a:rPr>
              <a:t>example,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Gujarat </a:t>
            </a:r>
            <a:r>
              <a:rPr dirty="0" sz="2300" b="1">
                <a:latin typeface="Trebuchet MS"/>
                <a:cs typeface="Trebuchet MS"/>
              </a:rPr>
              <a:t>Titans</a:t>
            </a:r>
            <a:r>
              <a:rPr dirty="0" sz="2300" spc="-75" b="1">
                <a:latin typeface="Trebuchet MS"/>
                <a:cs typeface="Trebuchet MS"/>
              </a:rPr>
              <a:t> </a:t>
            </a:r>
            <a:r>
              <a:rPr dirty="0" sz="2300" spc="60" b="1">
                <a:latin typeface="Trebuchet MS"/>
                <a:cs typeface="Trebuchet MS"/>
              </a:rPr>
              <a:t>recorded</a:t>
            </a:r>
            <a:r>
              <a:rPr dirty="0" sz="2300" spc="-80" b="1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the</a:t>
            </a:r>
            <a:r>
              <a:rPr dirty="0" sz="2300" spc="-75" b="1">
                <a:latin typeface="Trebuchet MS"/>
                <a:cs typeface="Trebuchet MS"/>
              </a:rPr>
              <a:t> </a:t>
            </a:r>
            <a:r>
              <a:rPr dirty="0" sz="2300" spc="80" b="1">
                <a:latin typeface="Trebuchet MS"/>
                <a:cs typeface="Trebuchet MS"/>
              </a:rPr>
              <a:t>most</a:t>
            </a:r>
            <a:r>
              <a:rPr dirty="0" sz="2300" spc="-80" b="1">
                <a:latin typeface="Trebuchet MS"/>
                <a:cs typeface="Trebuchet MS"/>
              </a:rPr>
              <a:t> </a:t>
            </a:r>
            <a:r>
              <a:rPr dirty="0" sz="2300" spc="80" b="1">
                <a:latin typeface="Trebuchet MS"/>
                <a:cs typeface="Trebuchet MS"/>
              </a:rPr>
              <a:t>wins</a:t>
            </a:r>
            <a:r>
              <a:rPr dirty="0" sz="2300" spc="-95" b="1">
                <a:latin typeface="Trebuchet MS"/>
                <a:cs typeface="Trebuchet MS"/>
              </a:rPr>
              <a:t> </a:t>
            </a:r>
            <a:r>
              <a:rPr dirty="0" sz="2300" spc="-50" b="1">
                <a:latin typeface="Trebuchet MS"/>
                <a:cs typeface="Trebuchet MS"/>
              </a:rPr>
              <a:t>(5)</a:t>
            </a:r>
            <a:r>
              <a:rPr dirty="0" sz="2300" spc="-50">
                <a:latin typeface="Trebuchet MS"/>
                <a:cs typeface="Trebuchet MS"/>
              </a:rPr>
              <a:t>,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60">
                <a:latin typeface="Trebuchet MS"/>
                <a:cs typeface="Trebuchet MS"/>
              </a:rPr>
              <a:t>while</a:t>
            </a:r>
            <a:r>
              <a:rPr dirty="0" sz="2300" spc="-40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Delhi</a:t>
            </a:r>
            <a:r>
              <a:rPr dirty="0" sz="2300" spc="-70" b="1">
                <a:latin typeface="Trebuchet MS"/>
                <a:cs typeface="Trebuchet MS"/>
              </a:rPr>
              <a:t> </a:t>
            </a:r>
            <a:r>
              <a:rPr dirty="0" sz="2300" spc="75" b="1">
                <a:latin typeface="Trebuchet MS"/>
                <a:cs typeface="Trebuchet MS"/>
              </a:rPr>
              <a:t>Capitals </a:t>
            </a:r>
            <a:r>
              <a:rPr dirty="0" sz="2300" spc="100" b="1">
                <a:latin typeface="Trebuchet MS"/>
                <a:cs typeface="Trebuchet MS"/>
              </a:rPr>
              <a:t>had</a:t>
            </a:r>
            <a:r>
              <a:rPr dirty="0" sz="2300" spc="-140" b="1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the</a:t>
            </a:r>
            <a:r>
              <a:rPr dirty="0" sz="2300" spc="-135" b="1">
                <a:latin typeface="Trebuchet MS"/>
                <a:cs typeface="Trebuchet MS"/>
              </a:rPr>
              <a:t> </a:t>
            </a:r>
            <a:r>
              <a:rPr dirty="0" sz="2300" spc="70" b="1">
                <a:latin typeface="Trebuchet MS"/>
                <a:cs typeface="Trebuchet MS"/>
              </a:rPr>
              <a:t>highest</a:t>
            </a:r>
            <a:r>
              <a:rPr dirty="0" sz="2300" spc="-155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run</a:t>
            </a:r>
            <a:r>
              <a:rPr dirty="0" sz="2300" spc="-14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rate</a:t>
            </a:r>
            <a:r>
              <a:rPr dirty="0" sz="2300" spc="-135" b="1">
                <a:latin typeface="Trebuchet MS"/>
                <a:cs typeface="Trebuchet MS"/>
              </a:rPr>
              <a:t> </a:t>
            </a:r>
            <a:r>
              <a:rPr dirty="0" sz="2300" spc="-30" b="1">
                <a:latin typeface="Trebuchet MS"/>
                <a:cs typeface="Trebuchet MS"/>
              </a:rPr>
              <a:t>(9.46)</a:t>
            </a:r>
            <a:r>
              <a:rPr dirty="0" sz="2300" spc="-155" b="1">
                <a:latin typeface="Trebuchet MS"/>
                <a:cs typeface="Trebuchet MS"/>
              </a:rPr>
              <a:t> </a:t>
            </a:r>
            <a:r>
              <a:rPr dirty="0" sz="2300" spc="100" b="1">
                <a:latin typeface="Trebuchet MS"/>
                <a:cs typeface="Trebuchet MS"/>
              </a:rPr>
              <a:t>and</a:t>
            </a:r>
            <a:r>
              <a:rPr dirty="0" sz="2300" spc="-140" b="1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total</a:t>
            </a:r>
            <a:r>
              <a:rPr dirty="0" sz="2300" spc="-150" b="1">
                <a:latin typeface="Trebuchet MS"/>
                <a:cs typeface="Trebuchet MS"/>
              </a:rPr>
              <a:t> </a:t>
            </a:r>
            <a:r>
              <a:rPr dirty="0" sz="2300" spc="75" b="1">
                <a:latin typeface="Trebuchet MS"/>
                <a:cs typeface="Trebuchet MS"/>
              </a:rPr>
              <a:t>runs</a:t>
            </a:r>
            <a:r>
              <a:rPr dirty="0" sz="2300" spc="-155" b="1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(1104)</a:t>
            </a:r>
            <a:r>
              <a:rPr dirty="0" sz="2300" spc="-10">
                <a:latin typeface="Trebuchet MS"/>
                <a:cs typeface="Trebuchet MS"/>
              </a:rPr>
              <a:t>.</a:t>
            </a:r>
            <a:endParaRPr sz="2300">
              <a:latin typeface="Trebuchet MS"/>
              <a:cs typeface="Trebuchet MS"/>
            </a:endParaRPr>
          </a:p>
          <a:p>
            <a:pPr marL="137160" marR="5080">
              <a:lnSpc>
                <a:spcPct val="100400"/>
              </a:lnSpc>
            </a:pPr>
            <a:r>
              <a:rPr dirty="0" sz="2300" spc="125">
                <a:latin typeface="Trebuchet MS"/>
                <a:cs typeface="Trebuchet MS"/>
              </a:rPr>
              <a:t>This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analysis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helps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220">
                <a:latin typeface="Trebuchet MS"/>
                <a:cs typeface="Trebuchet MS"/>
              </a:rPr>
              <a:t>us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140">
                <a:latin typeface="Trebuchet MS"/>
                <a:cs typeface="Trebuchet MS"/>
              </a:rPr>
              <a:t>compare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60">
                <a:latin typeface="Trebuchet MS"/>
                <a:cs typeface="Trebuchet MS"/>
              </a:rPr>
              <a:t>overall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performance </a:t>
            </a:r>
            <a:r>
              <a:rPr dirty="0" sz="2300">
                <a:latin typeface="Trebuchet MS"/>
                <a:cs typeface="Trebuchet MS"/>
              </a:rPr>
              <a:t>of</a:t>
            </a:r>
            <a:r>
              <a:rPr dirty="0" sz="2300" spc="37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different</a:t>
            </a:r>
            <a:r>
              <a:rPr dirty="0" sz="2300" spc="1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teams.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73160" rIns="0" bIns="0" rtlCol="0" vert="horz">
            <a:spAutoFit/>
          </a:bodyPr>
          <a:lstStyle/>
          <a:p>
            <a:pPr marL="448309">
              <a:lnSpc>
                <a:spcPct val="100000"/>
              </a:lnSpc>
              <a:spcBef>
                <a:spcPts val="100"/>
              </a:spcBef>
            </a:pPr>
            <a:r>
              <a:rPr dirty="0" spc="240"/>
              <a:t>GRAPHICAL</a:t>
            </a:r>
            <a:r>
              <a:rPr dirty="0" spc="-40"/>
              <a:t> </a:t>
            </a:r>
            <a:r>
              <a:rPr dirty="0" spc="200"/>
              <a:t>REPRESENTATION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7775" y="1539949"/>
            <a:ext cx="6084916" cy="429010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75128" y="2011174"/>
            <a:ext cx="8067040" cy="42513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5"/>
              </a:spcBef>
            </a:pPr>
            <a:r>
              <a:rPr dirty="0" sz="2300" spc="125">
                <a:latin typeface="Trebuchet MS"/>
                <a:cs typeface="Trebuchet MS"/>
              </a:rPr>
              <a:t>This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85">
                <a:latin typeface="Trebuchet MS"/>
                <a:cs typeface="Trebuchet MS"/>
              </a:rPr>
              <a:t>pie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00">
                <a:latin typeface="Trebuchet MS"/>
                <a:cs typeface="Trebuchet MS"/>
              </a:rPr>
              <a:t>chart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60">
                <a:latin typeface="Trebuchet MS"/>
                <a:cs typeface="Trebuchet MS"/>
              </a:rPr>
              <a:t>illustrates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60">
                <a:latin typeface="Trebuchet MS"/>
                <a:cs typeface="Trebuchet MS"/>
              </a:rPr>
              <a:t>overall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performance </a:t>
            </a:r>
            <a:r>
              <a:rPr dirty="0" sz="2300" spc="65">
                <a:latin typeface="Trebuchet MS"/>
                <a:cs typeface="Trebuchet MS"/>
              </a:rPr>
              <a:t>distribution</a:t>
            </a:r>
            <a:r>
              <a:rPr dirty="0" sz="2300" spc="-6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of</a:t>
            </a:r>
            <a:r>
              <a:rPr dirty="0" sz="2300" spc="229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different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185">
                <a:latin typeface="Trebuchet MS"/>
                <a:cs typeface="Trebuchet MS"/>
              </a:rPr>
              <a:t>IPL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65">
                <a:latin typeface="Trebuchet MS"/>
                <a:cs typeface="Trebuchet MS"/>
              </a:rPr>
              <a:t>teams.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180">
                <a:latin typeface="Trebuchet MS"/>
                <a:cs typeface="Trebuchet MS"/>
              </a:rPr>
              <a:t>Each</a:t>
            </a:r>
            <a:r>
              <a:rPr dirty="0" sz="2300" spc="-60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slice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represents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team's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70">
                <a:latin typeface="Trebuchet MS"/>
                <a:cs typeface="Trebuchet MS"/>
              </a:rPr>
              <a:t>contribution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to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total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85">
                <a:latin typeface="Trebuchet MS"/>
                <a:cs typeface="Trebuchet MS"/>
              </a:rPr>
              <a:t>performance.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Delhi </a:t>
            </a:r>
            <a:r>
              <a:rPr dirty="0" sz="2300" spc="90" b="1">
                <a:latin typeface="Trebuchet MS"/>
                <a:cs typeface="Trebuchet MS"/>
              </a:rPr>
              <a:t>Capitals</a:t>
            </a:r>
            <a:r>
              <a:rPr dirty="0" sz="2300" spc="-150" b="1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have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00">
                <a:latin typeface="Trebuchet MS"/>
                <a:cs typeface="Trebuchet MS"/>
              </a:rPr>
              <a:t>largest</a:t>
            </a:r>
            <a:r>
              <a:rPr dirty="0" sz="2300" spc="-160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share,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indicating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strongest </a:t>
            </a:r>
            <a:r>
              <a:rPr dirty="0" sz="2300" spc="114">
                <a:latin typeface="Trebuchet MS"/>
                <a:cs typeface="Trebuchet MS"/>
              </a:rPr>
              <a:t>performance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70">
                <a:latin typeface="Trebuchet MS"/>
                <a:cs typeface="Trebuchet MS"/>
              </a:rPr>
              <a:t>among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teams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shown,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60">
                <a:latin typeface="Trebuchet MS"/>
                <a:cs typeface="Trebuchet MS"/>
              </a:rPr>
              <a:t>while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60" b="1">
                <a:latin typeface="Trebuchet MS"/>
                <a:cs typeface="Trebuchet MS"/>
              </a:rPr>
              <a:t>Chennai </a:t>
            </a:r>
            <a:r>
              <a:rPr dirty="0" sz="2300" spc="110" b="1">
                <a:latin typeface="Trebuchet MS"/>
                <a:cs typeface="Trebuchet MS"/>
              </a:rPr>
              <a:t>Super</a:t>
            </a:r>
            <a:r>
              <a:rPr dirty="0" sz="2300" spc="-150" b="1">
                <a:latin typeface="Trebuchet MS"/>
                <a:cs typeface="Trebuchet MS"/>
              </a:rPr>
              <a:t> </a:t>
            </a:r>
            <a:r>
              <a:rPr dirty="0" sz="2300" spc="160" b="1">
                <a:latin typeface="Trebuchet MS"/>
                <a:cs typeface="Trebuchet MS"/>
              </a:rPr>
              <a:t>Kings</a:t>
            </a:r>
            <a:r>
              <a:rPr dirty="0" sz="2300" spc="-135" b="1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00" b="1">
                <a:latin typeface="Trebuchet MS"/>
                <a:cs typeface="Trebuchet MS"/>
              </a:rPr>
              <a:t>Sunrisers</a:t>
            </a:r>
            <a:r>
              <a:rPr dirty="0" sz="2300" spc="-135" b="1">
                <a:latin typeface="Trebuchet MS"/>
                <a:cs typeface="Trebuchet MS"/>
              </a:rPr>
              <a:t> </a:t>
            </a:r>
            <a:r>
              <a:rPr dirty="0" sz="2300" spc="80" b="1">
                <a:latin typeface="Trebuchet MS"/>
                <a:cs typeface="Trebuchet MS"/>
              </a:rPr>
              <a:t>Hyderabad</a:t>
            </a:r>
            <a:r>
              <a:rPr dirty="0" sz="2300" spc="-140" b="1">
                <a:latin typeface="Trebuchet MS"/>
                <a:cs typeface="Trebuchet MS"/>
              </a:rPr>
              <a:t> </a:t>
            </a:r>
            <a:r>
              <a:rPr dirty="0" sz="2300" spc="85">
                <a:latin typeface="Trebuchet MS"/>
                <a:cs typeface="Trebuchet MS"/>
              </a:rPr>
              <a:t>have </a:t>
            </a:r>
            <a:r>
              <a:rPr dirty="0" sz="2300" spc="80">
                <a:latin typeface="Trebuchet MS"/>
                <a:cs typeface="Trebuchet MS"/>
              </a:rPr>
              <a:t>comparatively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00">
                <a:latin typeface="Trebuchet MS"/>
                <a:cs typeface="Trebuchet MS"/>
              </a:rPr>
              <a:t>smaller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shares.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The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remaining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55">
                <a:latin typeface="Trebuchet MS"/>
                <a:cs typeface="Trebuchet MS"/>
              </a:rPr>
              <a:t>teams, </a:t>
            </a:r>
            <a:r>
              <a:rPr dirty="0" sz="2300" spc="95">
                <a:latin typeface="Trebuchet MS"/>
                <a:cs typeface="Trebuchet MS"/>
              </a:rPr>
              <a:t>including</a:t>
            </a:r>
            <a:r>
              <a:rPr dirty="0" sz="2300" spc="-50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Gujarat</a:t>
            </a:r>
            <a:r>
              <a:rPr dirty="0" sz="2300" spc="-105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Titans</a:t>
            </a:r>
            <a:r>
              <a:rPr dirty="0" sz="2300">
                <a:latin typeface="Trebuchet MS"/>
                <a:cs typeface="Trebuchet MS"/>
              </a:rPr>
              <a:t>,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70" b="1">
                <a:latin typeface="Trebuchet MS"/>
                <a:cs typeface="Trebuchet MS"/>
              </a:rPr>
              <a:t>Lucknow</a:t>
            </a:r>
            <a:r>
              <a:rPr dirty="0" sz="2300" spc="-105" b="1">
                <a:latin typeface="Trebuchet MS"/>
                <a:cs typeface="Trebuchet MS"/>
              </a:rPr>
              <a:t> </a:t>
            </a:r>
            <a:r>
              <a:rPr dirty="0" sz="2300" spc="110" b="1">
                <a:latin typeface="Trebuchet MS"/>
                <a:cs typeface="Trebuchet MS"/>
              </a:rPr>
              <a:t>Super</a:t>
            </a:r>
            <a:r>
              <a:rPr dirty="0" sz="2300" spc="-90" b="1">
                <a:latin typeface="Trebuchet MS"/>
                <a:cs typeface="Trebuchet MS"/>
              </a:rPr>
              <a:t> </a:t>
            </a:r>
            <a:r>
              <a:rPr dirty="0" sz="2300" spc="60" b="1">
                <a:latin typeface="Trebuchet MS"/>
                <a:cs typeface="Trebuchet MS"/>
              </a:rPr>
              <a:t>Giants</a:t>
            </a:r>
            <a:r>
              <a:rPr dirty="0" sz="2300" spc="60">
                <a:latin typeface="Trebuchet MS"/>
                <a:cs typeface="Trebuchet MS"/>
              </a:rPr>
              <a:t>,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65" b="1">
                <a:latin typeface="Trebuchet MS"/>
                <a:cs typeface="Trebuchet MS"/>
              </a:rPr>
              <a:t>Mumbai </a:t>
            </a:r>
            <a:r>
              <a:rPr dirty="0" sz="2300" spc="55" b="1">
                <a:latin typeface="Trebuchet MS"/>
                <a:cs typeface="Trebuchet MS"/>
              </a:rPr>
              <a:t>Indians</a:t>
            </a:r>
            <a:r>
              <a:rPr dirty="0" sz="2300" spc="55">
                <a:latin typeface="Trebuchet MS"/>
                <a:cs typeface="Trebuchet MS"/>
              </a:rPr>
              <a:t>,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Punjab</a:t>
            </a:r>
            <a:r>
              <a:rPr dirty="0" sz="2300" spc="-75" b="1">
                <a:latin typeface="Trebuchet MS"/>
                <a:cs typeface="Trebuchet MS"/>
              </a:rPr>
              <a:t> </a:t>
            </a:r>
            <a:r>
              <a:rPr dirty="0" sz="2300" spc="110" b="1">
                <a:latin typeface="Trebuchet MS"/>
                <a:cs typeface="Trebuchet MS"/>
              </a:rPr>
              <a:t>Kings</a:t>
            </a:r>
            <a:r>
              <a:rPr dirty="0" sz="2300" spc="110">
                <a:latin typeface="Trebuchet MS"/>
                <a:cs typeface="Trebuchet MS"/>
              </a:rPr>
              <a:t>,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70" b="1">
                <a:latin typeface="Trebuchet MS"/>
                <a:cs typeface="Trebuchet MS"/>
              </a:rPr>
              <a:t>Rajasthan</a:t>
            </a:r>
            <a:r>
              <a:rPr dirty="0" sz="2300" spc="-75" b="1">
                <a:latin typeface="Trebuchet MS"/>
                <a:cs typeface="Trebuchet MS"/>
              </a:rPr>
              <a:t> </a:t>
            </a:r>
            <a:r>
              <a:rPr dirty="0" sz="2300" spc="65" b="1">
                <a:latin typeface="Trebuchet MS"/>
                <a:cs typeface="Trebuchet MS"/>
              </a:rPr>
              <a:t>Royals</a:t>
            </a:r>
            <a:r>
              <a:rPr dirty="0" sz="2300" spc="65">
                <a:latin typeface="Trebuchet MS"/>
                <a:cs typeface="Trebuchet MS"/>
              </a:rPr>
              <a:t>,</a:t>
            </a:r>
            <a:r>
              <a:rPr dirty="0" sz="2300" spc="-75">
                <a:latin typeface="Trebuchet MS"/>
                <a:cs typeface="Trebuchet MS"/>
              </a:rPr>
              <a:t> </a:t>
            </a:r>
            <a:r>
              <a:rPr dirty="0" sz="2300" spc="45" b="1">
                <a:latin typeface="Trebuchet MS"/>
                <a:cs typeface="Trebuchet MS"/>
              </a:rPr>
              <a:t>Royal </a:t>
            </a:r>
            <a:r>
              <a:rPr dirty="0" sz="2300" spc="80" b="1">
                <a:latin typeface="Trebuchet MS"/>
                <a:cs typeface="Trebuchet MS"/>
              </a:rPr>
              <a:t>Challengers</a:t>
            </a:r>
            <a:r>
              <a:rPr dirty="0" sz="2300" spc="-140" b="1">
                <a:latin typeface="Trebuchet MS"/>
                <a:cs typeface="Trebuchet MS"/>
              </a:rPr>
              <a:t> </a:t>
            </a:r>
            <a:r>
              <a:rPr dirty="0" sz="2300" spc="55" b="1">
                <a:latin typeface="Trebuchet MS"/>
                <a:cs typeface="Trebuchet MS"/>
              </a:rPr>
              <a:t>Bengaluru</a:t>
            </a:r>
            <a:r>
              <a:rPr dirty="0" sz="2300" spc="55">
                <a:latin typeface="Trebuchet MS"/>
                <a:cs typeface="Trebuchet MS"/>
              </a:rPr>
              <a:t>,</a:t>
            </a:r>
            <a:r>
              <a:rPr dirty="0" sz="2300" spc="-160">
                <a:latin typeface="Trebuchet MS"/>
                <a:cs typeface="Trebuchet MS"/>
              </a:rPr>
              <a:t> </a:t>
            </a:r>
            <a:r>
              <a:rPr dirty="0" sz="2300" spc="150">
                <a:latin typeface="Trebuchet MS"/>
                <a:cs typeface="Trebuchet MS"/>
              </a:rPr>
              <a:t>and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50" b="1">
                <a:latin typeface="Trebuchet MS"/>
                <a:cs typeface="Trebuchet MS"/>
              </a:rPr>
              <a:t>Kolkata</a:t>
            </a:r>
            <a:r>
              <a:rPr dirty="0" sz="2300" spc="-165" b="1">
                <a:latin typeface="Trebuchet MS"/>
                <a:cs typeface="Trebuchet MS"/>
              </a:rPr>
              <a:t> </a:t>
            </a:r>
            <a:r>
              <a:rPr dirty="0" sz="2300" spc="75" b="1">
                <a:latin typeface="Trebuchet MS"/>
                <a:cs typeface="Trebuchet MS"/>
              </a:rPr>
              <a:t>Knight</a:t>
            </a:r>
            <a:r>
              <a:rPr dirty="0" sz="2300" spc="-140" b="1">
                <a:latin typeface="Trebuchet MS"/>
                <a:cs typeface="Trebuchet MS"/>
              </a:rPr>
              <a:t> </a:t>
            </a:r>
            <a:r>
              <a:rPr dirty="0" sz="2300" spc="50" b="1">
                <a:latin typeface="Trebuchet MS"/>
                <a:cs typeface="Trebuchet MS"/>
              </a:rPr>
              <a:t>Riders</a:t>
            </a:r>
            <a:r>
              <a:rPr dirty="0" sz="2300" spc="50">
                <a:latin typeface="Trebuchet MS"/>
                <a:cs typeface="Trebuchet MS"/>
              </a:rPr>
              <a:t>, </a:t>
            </a:r>
            <a:r>
              <a:rPr dirty="0" sz="2300" spc="75">
                <a:latin typeface="Trebuchet MS"/>
                <a:cs typeface="Trebuchet MS"/>
              </a:rPr>
              <a:t>contribute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90">
                <a:latin typeface="Trebuchet MS"/>
                <a:cs typeface="Trebuchet MS"/>
              </a:rPr>
              <a:t>moderate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75">
                <a:latin typeface="Trebuchet MS"/>
                <a:cs typeface="Trebuchet MS"/>
              </a:rPr>
              <a:t>portions,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65">
                <a:latin typeface="Trebuchet MS"/>
                <a:cs typeface="Trebuchet MS"/>
              </a:rPr>
              <a:t>reflecting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-10">
                <a:latin typeface="Trebuchet MS"/>
                <a:cs typeface="Trebuchet MS"/>
              </a:rPr>
              <a:t>relatively </a:t>
            </a:r>
            <a:r>
              <a:rPr dirty="0" sz="2300" spc="130">
                <a:latin typeface="Trebuchet MS"/>
                <a:cs typeface="Trebuchet MS"/>
              </a:rPr>
              <a:t>balanced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70">
                <a:latin typeface="Trebuchet MS"/>
                <a:cs typeface="Trebuchet MS"/>
              </a:rPr>
              <a:t>competition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70">
                <a:latin typeface="Trebuchet MS"/>
                <a:cs typeface="Trebuchet MS"/>
              </a:rPr>
              <a:t>among</a:t>
            </a:r>
            <a:r>
              <a:rPr dirty="0" sz="2300" spc="-165">
                <a:latin typeface="Trebuchet MS"/>
                <a:cs typeface="Trebuchet MS"/>
              </a:rPr>
              <a:t> </a:t>
            </a:r>
            <a:r>
              <a:rPr dirty="0" sz="2300" spc="130">
                <a:latin typeface="Trebuchet MS"/>
                <a:cs typeface="Trebuchet MS"/>
              </a:rPr>
              <a:t>most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teams.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29231" rIns="0" bIns="0" rtlCol="0" vert="horz">
            <a:spAutoFit/>
          </a:bodyPr>
          <a:lstStyle/>
          <a:p>
            <a:pPr marL="1071880">
              <a:lnSpc>
                <a:spcPct val="100000"/>
              </a:lnSpc>
              <a:spcBef>
                <a:spcPts val="100"/>
              </a:spcBef>
            </a:pPr>
            <a:r>
              <a:rPr dirty="0" spc="155"/>
              <a:t>STATISTICAL</a:t>
            </a:r>
            <a:r>
              <a:rPr dirty="0" spc="-25"/>
              <a:t> </a:t>
            </a:r>
            <a:r>
              <a:rPr dirty="0" spc="165"/>
              <a:t>ANALYSIS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5108" y="1679448"/>
            <a:ext cx="5963998" cy="441655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916" y="1770326"/>
            <a:ext cx="8462010" cy="38989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5"/>
              </a:spcBef>
            </a:pPr>
            <a:r>
              <a:rPr dirty="0" sz="2300" spc="110">
                <a:latin typeface="Trebuchet MS"/>
                <a:cs typeface="Trebuchet MS"/>
              </a:rPr>
              <a:t>The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analysis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215">
                <a:latin typeface="Trebuchet MS"/>
                <a:cs typeface="Trebuchet MS"/>
              </a:rPr>
              <a:t>shows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that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average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50">
                <a:latin typeface="Trebuchet MS"/>
                <a:cs typeface="Trebuchet MS"/>
              </a:rPr>
              <a:t>runs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70">
                <a:latin typeface="Trebuchet MS"/>
                <a:cs typeface="Trebuchet MS"/>
              </a:rPr>
              <a:t>scored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are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32.78</a:t>
            </a:r>
            <a:r>
              <a:rPr dirty="0" sz="2300" spc="-10">
                <a:latin typeface="Trebuchet MS"/>
                <a:cs typeface="Trebuchet MS"/>
              </a:rPr>
              <a:t>, </a:t>
            </a:r>
            <a:r>
              <a:rPr dirty="0" sz="2300" spc="60">
                <a:latin typeface="Trebuchet MS"/>
                <a:cs typeface="Trebuchet MS"/>
              </a:rPr>
              <a:t>while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median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runs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are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-30" b="1">
                <a:latin typeface="Trebuchet MS"/>
                <a:cs typeface="Trebuchet MS"/>
              </a:rPr>
              <a:t>20</a:t>
            </a:r>
            <a:r>
              <a:rPr dirty="0" sz="2300" spc="-30">
                <a:latin typeface="Trebuchet MS"/>
                <a:cs typeface="Trebuchet MS"/>
              </a:rPr>
              <a:t>,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indicating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that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few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high </a:t>
            </a:r>
            <a:r>
              <a:rPr dirty="0" sz="2300" spc="200">
                <a:latin typeface="Trebuchet MS"/>
                <a:cs typeface="Trebuchet MS"/>
              </a:rPr>
              <a:t>scores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increase</a:t>
            </a:r>
            <a:r>
              <a:rPr dirty="0" sz="2300" spc="-16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60">
                <a:latin typeface="Trebuchet MS"/>
                <a:cs typeface="Trebuchet MS"/>
              </a:rPr>
              <a:t>overall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70">
                <a:latin typeface="Trebuchet MS"/>
                <a:cs typeface="Trebuchet MS"/>
              </a:rPr>
              <a:t>average.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The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30">
                <a:latin typeface="Trebuchet MS"/>
                <a:cs typeface="Trebuchet MS"/>
              </a:rPr>
              <a:t>most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40">
                <a:latin typeface="Trebuchet MS"/>
                <a:cs typeface="Trebuchet MS"/>
              </a:rPr>
              <a:t>common </a:t>
            </a:r>
            <a:r>
              <a:rPr dirty="0" sz="2300" spc="175">
                <a:latin typeface="Trebuchet MS"/>
                <a:cs typeface="Trebuchet MS"/>
              </a:rPr>
              <a:t>score</a:t>
            </a:r>
            <a:r>
              <a:rPr dirty="0" sz="2300" spc="-17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is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-55" b="1">
                <a:latin typeface="Trebuchet MS"/>
                <a:cs typeface="Trebuchet MS"/>
              </a:rPr>
              <a:t>0</a:t>
            </a:r>
            <a:r>
              <a:rPr dirty="0" sz="2300" spc="-55">
                <a:latin typeface="Trebuchet MS"/>
                <a:cs typeface="Trebuchet MS"/>
              </a:rPr>
              <a:t>,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30">
                <a:latin typeface="Trebuchet MS"/>
                <a:cs typeface="Trebuchet MS"/>
              </a:rPr>
              <a:t>meaning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many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players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00">
                <a:latin typeface="Trebuchet MS"/>
                <a:cs typeface="Trebuchet MS"/>
              </a:rPr>
              <a:t>were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60">
                <a:latin typeface="Trebuchet MS"/>
                <a:cs typeface="Trebuchet MS"/>
              </a:rPr>
              <a:t>dismissed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35">
                <a:latin typeface="Trebuchet MS"/>
                <a:cs typeface="Trebuchet MS"/>
              </a:rPr>
              <a:t>without </a:t>
            </a:r>
            <a:r>
              <a:rPr dirty="0" sz="2300" spc="120">
                <a:latin typeface="Trebuchet MS"/>
                <a:cs typeface="Trebuchet MS"/>
              </a:rPr>
              <a:t>scoring.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204">
                <a:latin typeface="Trebuchet MS"/>
                <a:cs typeface="Trebuchet MS"/>
              </a:rPr>
              <a:t>Runs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range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55">
                <a:latin typeface="Trebuchet MS"/>
                <a:cs typeface="Trebuchet MS"/>
              </a:rPr>
              <a:t>from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0</a:t>
            </a:r>
            <a:r>
              <a:rPr dirty="0" sz="2300" spc="-114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to</a:t>
            </a:r>
            <a:r>
              <a:rPr dirty="0" sz="2300" spc="-110" b="1">
                <a:latin typeface="Trebuchet MS"/>
                <a:cs typeface="Trebuchet MS"/>
              </a:rPr>
              <a:t> </a:t>
            </a:r>
            <a:r>
              <a:rPr dirty="0" sz="2300" spc="-25" b="1">
                <a:latin typeface="Trebuchet MS"/>
                <a:cs typeface="Trebuchet MS"/>
              </a:rPr>
              <a:t>114</a:t>
            </a:r>
            <a:r>
              <a:rPr dirty="0" sz="2300" spc="-25">
                <a:latin typeface="Trebuchet MS"/>
                <a:cs typeface="Trebuchet MS"/>
              </a:rPr>
              <a:t>,</a:t>
            </a:r>
            <a:r>
              <a:rPr dirty="0" sz="2300" spc="-160">
                <a:latin typeface="Trebuchet MS"/>
                <a:cs typeface="Trebuchet MS"/>
              </a:rPr>
              <a:t> </a:t>
            </a:r>
            <a:r>
              <a:rPr dirty="0" sz="2300" spc="160">
                <a:latin typeface="Trebuchet MS"/>
                <a:cs typeface="Trebuchet MS"/>
              </a:rPr>
              <a:t>showing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00">
                <a:latin typeface="Trebuchet MS"/>
                <a:cs typeface="Trebuchet MS"/>
              </a:rPr>
              <a:t>wide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variation </a:t>
            </a:r>
            <a:r>
              <a:rPr dirty="0" sz="2300">
                <a:latin typeface="Trebuchet MS"/>
                <a:cs typeface="Trebuchet MS"/>
              </a:rPr>
              <a:t>in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60">
                <a:latin typeface="Trebuchet MS"/>
                <a:cs typeface="Trebuchet MS"/>
              </a:rPr>
              <a:t>batting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85">
                <a:latin typeface="Trebuchet MS"/>
                <a:cs typeface="Trebuchet MS"/>
              </a:rPr>
              <a:t>performance.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The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economy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rate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204">
                <a:latin typeface="Trebuchet MS"/>
                <a:cs typeface="Trebuchet MS"/>
              </a:rPr>
              <a:t>has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variance</a:t>
            </a:r>
            <a:endParaRPr sz="2300">
              <a:latin typeface="Trebuchet MS"/>
              <a:cs typeface="Trebuchet MS"/>
            </a:endParaRPr>
          </a:p>
          <a:p>
            <a:pPr marL="12700" marR="36195">
              <a:lnSpc>
                <a:spcPct val="100400"/>
              </a:lnSpc>
            </a:pPr>
            <a:r>
              <a:rPr dirty="0" sz="2300">
                <a:latin typeface="Trebuchet MS"/>
                <a:cs typeface="Trebuchet MS"/>
              </a:rPr>
              <a:t>of</a:t>
            </a:r>
            <a:r>
              <a:rPr dirty="0" sz="2300" spc="160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18.06</a:t>
            </a:r>
            <a:r>
              <a:rPr dirty="0" sz="2300" spc="-90" b="1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70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standard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60">
                <a:latin typeface="Trebuchet MS"/>
                <a:cs typeface="Trebuchet MS"/>
              </a:rPr>
              <a:t>deviation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of</a:t>
            </a:r>
            <a:r>
              <a:rPr dirty="0" sz="2300" spc="170">
                <a:latin typeface="Trebuchet MS"/>
                <a:cs typeface="Trebuchet MS"/>
              </a:rPr>
              <a:t> </a:t>
            </a:r>
            <a:r>
              <a:rPr dirty="0" sz="2300" spc="-50" b="1">
                <a:latin typeface="Trebuchet MS"/>
                <a:cs typeface="Trebuchet MS"/>
              </a:rPr>
              <a:t>4.25</a:t>
            </a:r>
            <a:r>
              <a:rPr dirty="0" sz="2300" spc="-50">
                <a:latin typeface="Trebuchet MS"/>
                <a:cs typeface="Trebuchet MS"/>
              </a:rPr>
              <a:t>,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50">
                <a:latin typeface="Trebuchet MS"/>
                <a:cs typeface="Trebuchet MS"/>
              </a:rPr>
              <a:t>suggesting </a:t>
            </a:r>
            <a:r>
              <a:rPr dirty="0" sz="2300" spc="90">
                <a:latin typeface="Trebuchet MS"/>
                <a:cs typeface="Trebuchet MS"/>
              </a:rPr>
              <a:t>moderate</a:t>
            </a:r>
            <a:r>
              <a:rPr dirty="0" sz="2300" spc="-160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differences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70">
                <a:latin typeface="Trebuchet MS"/>
                <a:cs typeface="Trebuchet MS"/>
              </a:rPr>
              <a:t>among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bowlers.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The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65">
                <a:latin typeface="Trebuchet MS"/>
                <a:cs typeface="Trebuchet MS"/>
              </a:rPr>
              <a:t>correlation </a:t>
            </a:r>
            <a:r>
              <a:rPr dirty="0" sz="2300" spc="90">
                <a:latin typeface="Trebuchet MS"/>
                <a:cs typeface="Trebuchet MS"/>
              </a:rPr>
              <a:t>between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130" b="1">
                <a:latin typeface="Trebuchet MS"/>
                <a:cs typeface="Trebuchet MS"/>
              </a:rPr>
              <a:t>Runs</a:t>
            </a:r>
            <a:r>
              <a:rPr dirty="0" sz="2300" spc="-100" b="1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Strike</a:t>
            </a:r>
            <a:r>
              <a:rPr dirty="0" sz="2300" spc="-105" b="1">
                <a:latin typeface="Trebuchet MS"/>
                <a:cs typeface="Trebuchet MS"/>
              </a:rPr>
              <a:t> </a:t>
            </a:r>
            <a:r>
              <a:rPr dirty="0" sz="2300" spc="65" b="1">
                <a:latin typeface="Trebuchet MS"/>
                <a:cs typeface="Trebuchet MS"/>
              </a:rPr>
              <a:t>Rate</a:t>
            </a:r>
            <a:r>
              <a:rPr dirty="0" sz="2300" spc="-130" b="1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is</a:t>
            </a:r>
            <a:r>
              <a:rPr dirty="0" sz="2300" spc="-70">
                <a:latin typeface="Trebuchet MS"/>
                <a:cs typeface="Trebuchet MS"/>
              </a:rPr>
              <a:t> </a:t>
            </a:r>
            <a:r>
              <a:rPr dirty="0" sz="2300" spc="-50" b="1">
                <a:latin typeface="Trebuchet MS"/>
                <a:cs typeface="Trebuchet MS"/>
              </a:rPr>
              <a:t>0.64</a:t>
            </a:r>
            <a:r>
              <a:rPr dirty="0" sz="2300" spc="-50">
                <a:latin typeface="Trebuchet MS"/>
                <a:cs typeface="Trebuchet MS"/>
              </a:rPr>
              <a:t>,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which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indicates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a </a:t>
            </a:r>
            <a:r>
              <a:rPr dirty="0" sz="2300" spc="75">
                <a:latin typeface="Trebuchet MS"/>
                <a:cs typeface="Trebuchet MS"/>
              </a:rPr>
              <a:t>moderately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strong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positive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relationship—</a:t>
            </a:r>
            <a:r>
              <a:rPr dirty="0" sz="2300" spc="105">
                <a:latin typeface="Trebuchet MS"/>
                <a:cs typeface="Trebuchet MS"/>
              </a:rPr>
              <a:t>players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who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65">
                <a:latin typeface="Trebuchet MS"/>
                <a:cs typeface="Trebuchet MS"/>
              </a:rPr>
              <a:t>score </a:t>
            </a:r>
            <a:r>
              <a:rPr dirty="0" sz="2300" spc="120">
                <a:latin typeface="Trebuchet MS"/>
                <a:cs typeface="Trebuchet MS"/>
              </a:rPr>
              <a:t>more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50">
                <a:latin typeface="Trebuchet MS"/>
                <a:cs typeface="Trebuchet MS"/>
              </a:rPr>
              <a:t>runs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85">
                <a:latin typeface="Trebuchet MS"/>
                <a:cs typeface="Trebuchet MS"/>
              </a:rPr>
              <a:t>generally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75">
                <a:latin typeface="Trebuchet MS"/>
                <a:cs typeface="Trebuchet MS"/>
              </a:rPr>
              <a:t>tend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to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have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higher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strike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-10">
                <a:latin typeface="Trebuchet MS"/>
                <a:cs typeface="Trebuchet MS"/>
              </a:rPr>
              <a:t>rates.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53788" rIns="0" bIns="0" rtlCol="0" vert="horz">
            <a:spAutoFit/>
          </a:bodyPr>
          <a:lstStyle/>
          <a:p>
            <a:pPr marL="408305">
              <a:lnSpc>
                <a:spcPct val="100000"/>
              </a:lnSpc>
              <a:spcBef>
                <a:spcPts val="100"/>
              </a:spcBef>
            </a:pPr>
            <a:r>
              <a:rPr dirty="0" spc="240"/>
              <a:t>GRAPHICAL</a:t>
            </a:r>
            <a:r>
              <a:rPr dirty="0" spc="-40"/>
              <a:t> </a:t>
            </a:r>
            <a:r>
              <a:rPr dirty="0" spc="200"/>
              <a:t>REPRESENTATION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3414" y="1623755"/>
            <a:ext cx="6118032" cy="448900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75128" y="1915094"/>
            <a:ext cx="7374890" cy="31953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5"/>
              </a:spcBef>
            </a:pPr>
            <a:r>
              <a:rPr dirty="0" sz="2300" spc="125">
                <a:latin typeface="Trebuchet MS"/>
                <a:cs typeface="Trebuchet MS"/>
              </a:rPr>
              <a:t>This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histogram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215">
                <a:latin typeface="Trebuchet MS"/>
                <a:cs typeface="Trebuchet MS"/>
              </a:rPr>
              <a:t>shows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65">
                <a:latin typeface="Trebuchet MS"/>
                <a:cs typeface="Trebuchet MS"/>
              </a:rPr>
              <a:t>distribution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of</a:t>
            </a:r>
            <a:r>
              <a:rPr dirty="0" sz="2300" spc="170">
                <a:latin typeface="Trebuchet MS"/>
                <a:cs typeface="Trebuchet MS"/>
              </a:rPr>
              <a:t> </a:t>
            </a:r>
            <a:r>
              <a:rPr dirty="0" sz="2300" spc="75">
                <a:latin typeface="Trebuchet MS"/>
                <a:cs typeface="Trebuchet MS"/>
              </a:rPr>
              <a:t>player </a:t>
            </a:r>
            <a:r>
              <a:rPr dirty="0" sz="2300" spc="135">
                <a:latin typeface="Trebuchet MS"/>
                <a:cs typeface="Trebuchet MS"/>
              </a:rPr>
              <a:t>scores.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60">
                <a:latin typeface="Trebuchet MS"/>
                <a:cs typeface="Trebuchet MS"/>
              </a:rPr>
              <a:t>Most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players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70">
                <a:latin typeface="Trebuchet MS"/>
                <a:cs typeface="Trebuchet MS"/>
              </a:rPr>
              <a:t>scored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between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0</a:t>
            </a:r>
            <a:r>
              <a:rPr dirty="0" sz="2300" spc="-110" b="1">
                <a:latin typeface="Trebuchet MS"/>
                <a:cs typeface="Trebuchet MS"/>
              </a:rPr>
              <a:t> </a:t>
            </a:r>
            <a:r>
              <a:rPr dirty="0" sz="2300" spc="100" b="1">
                <a:latin typeface="Trebuchet MS"/>
                <a:cs typeface="Trebuchet MS"/>
              </a:rPr>
              <a:t>and</a:t>
            </a:r>
            <a:r>
              <a:rPr dirty="0" sz="2300" spc="-13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20</a:t>
            </a:r>
            <a:r>
              <a:rPr dirty="0" sz="2300" spc="-135" b="1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runs</a:t>
            </a:r>
            <a:r>
              <a:rPr dirty="0" sz="2300" spc="-10">
                <a:latin typeface="Trebuchet MS"/>
                <a:cs typeface="Trebuchet MS"/>
              </a:rPr>
              <a:t>, </a:t>
            </a:r>
            <a:r>
              <a:rPr dirty="0" sz="2300" spc="245">
                <a:latin typeface="Trebuchet MS"/>
                <a:cs typeface="Trebuchet MS"/>
              </a:rPr>
              <a:t>as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75">
                <a:latin typeface="Trebuchet MS"/>
                <a:cs typeface="Trebuchet MS"/>
              </a:rPr>
              <a:t>indicated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by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highest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65">
                <a:latin typeface="Trebuchet MS"/>
                <a:cs typeface="Trebuchet MS"/>
              </a:rPr>
              <a:t>bars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on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the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-25">
                <a:latin typeface="Trebuchet MS"/>
                <a:cs typeface="Trebuchet MS"/>
              </a:rPr>
              <a:t>left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140">
                <a:latin typeface="Trebuchet MS"/>
                <a:cs typeface="Trebuchet MS"/>
              </a:rPr>
              <a:t>side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-25">
                <a:latin typeface="Trebuchet MS"/>
                <a:cs typeface="Trebuchet MS"/>
              </a:rPr>
              <a:t>of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60">
                <a:latin typeface="Trebuchet MS"/>
                <a:cs typeface="Trebuchet MS"/>
              </a:rPr>
              <a:t>chart.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310">
                <a:latin typeface="Trebuchet MS"/>
                <a:cs typeface="Trebuchet MS"/>
              </a:rPr>
              <a:t>As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number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of</a:t>
            </a:r>
            <a:r>
              <a:rPr dirty="0" sz="2300" spc="155">
                <a:latin typeface="Trebuchet MS"/>
                <a:cs typeface="Trebuchet MS"/>
              </a:rPr>
              <a:t> runs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increases,</a:t>
            </a:r>
            <a:r>
              <a:rPr dirty="0" sz="2300" spc="-160">
                <a:latin typeface="Trebuchet MS"/>
                <a:cs typeface="Trebuchet MS"/>
              </a:rPr>
              <a:t> </a:t>
            </a:r>
            <a:r>
              <a:rPr dirty="0" sz="2300" spc="25">
                <a:latin typeface="Trebuchet MS"/>
                <a:cs typeface="Trebuchet MS"/>
              </a:rPr>
              <a:t>the </a:t>
            </a:r>
            <a:r>
              <a:rPr dirty="0" sz="2300" spc="95">
                <a:latin typeface="Trebuchet MS"/>
                <a:cs typeface="Trebuchet MS"/>
              </a:rPr>
              <a:t>frequency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of</a:t>
            </a:r>
            <a:r>
              <a:rPr dirty="0" sz="2300" spc="190">
                <a:latin typeface="Trebuchet MS"/>
                <a:cs typeface="Trebuchet MS"/>
              </a:rPr>
              <a:t> </a:t>
            </a:r>
            <a:r>
              <a:rPr dirty="0" sz="2300" spc="200">
                <a:latin typeface="Trebuchet MS"/>
                <a:cs typeface="Trebuchet MS"/>
              </a:rPr>
              <a:t>scores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30">
                <a:latin typeface="Trebuchet MS"/>
                <a:cs typeface="Trebuchet MS"/>
              </a:rPr>
              <a:t>decreases.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Only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few</a:t>
            </a:r>
            <a:r>
              <a:rPr dirty="0" sz="2300" spc="-55">
                <a:latin typeface="Trebuchet MS"/>
                <a:cs typeface="Trebuchet MS"/>
              </a:rPr>
              <a:t> </a:t>
            </a:r>
            <a:r>
              <a:rPr dirty="0" sz="2300" spc="100">
                <a:latin typeface="Trebuchet MS"/>
                <a:cs typeface="Trebuchet MS"/>
              </a:rPr>
              <a:t>players </a:t>
            </a:r>
            <a:r>
              <a:rPr dirty="0" sz="2300" spc="170">
                <a:latin typeface="Trebuchet MS"/>
                <a:cs typeface="Trebuchet MS"/>
              </a:rPr>
              <a:t>scored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50</a:t>
            </a:r>
            <a:r>
              <a:rPr dirty="0" sz="2300" spc="-110" b="1">
                <a:latin typeface="Trebuchet MS"/>
                <a:cs typeface="Trebuchet MS"/>
              </a:rPr>
              <a:t> </a:t>
            </a:r>
            <a:r>
              <a:rPr dirty="0" sz="2300" spc="70" b="1">
                <a:latin typeface="Trebuchet MS"/>
                <a:cs typeface="Trebuchet MS"/>
              </a:rPr>
              <a:t>runs</a:t>
            </a:r>
            <a:r>
              <a:rPr dirty="0" sz="2300" spc="-150" b="1">
                <a:latin typeface="Trebuchet MS"/>
                <a:cs typeface="Trebuchet MS"/>
              </a:rPr>
              <a:t> </a:t>
            </a:r>
            <a:r>
              <a:rPr dirty="0" sz="2300" spc="70" b="1">
                <a:latin typeface="Trebuchet MS"/>
                <a:cs typeface="Trebuchet MS"/>
              </a:rPr>
              <a:t>or</a:t>
            </a:r>
            <a:r>
              <a:rPr dirty="0" sz="2300" spc="-14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more</a:t>
            </a:r>
            <a:r>
              <a:rPr dirty="0" sz="2300">
                <a:latin typeface="Trebuchet MS"/>
                <a:cs typeface="Trebuchet MS"/>
              </a:rPr>
              <a:t>,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150">
                <a:latin typeface="Trebuchet MS"/>
                <a:cs typeface="Trebuchet MS"/>
              </a:rPr>
              <a:t>and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very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130">
                <a:latin typeface="Trebuchet MS"/>
                <a:cs typeface="Trebuchet MS"/>
              </a:rPr>
              <a:t>high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200">
                <a:latin typeface="Trebuchet MS"/>
                <a:cs typeface="Trebuchet MS"/>
              </a:rPr>
              <a:t>scores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above </a:t>
            </a:r>
            <a:r>
              <a:rPr dirty="0" sz="2300" b="1">
                <a:latin typeface="Trebuchet MS"/>
                <a:cs typeface="Trebuchet MS"/>
              </a:rPr>
              <a:t>100</a:t>
            </a:r>
            <a:r>
              <a:rPr dirty="0" sz="2300" spc="-120" b="1">
                <a:latin typeface="Trebuchet MS"/>
                <a:cs typeface="Trebuchet MS"/>
              </a:rPr>
              <a:t> </a:t>
            </a:r>
            <a:r>
              <a:rPr dirty="0" sz="2300" spc="65" b="1">
                <a:latin typeface="Trebuchet MS"/>
                <a:cs typeface="Trebuchet MS"/>
              </a:rPr>
              <a:t>runs</a:t>
            </a:r>
            <a:r>
              <a:rPr dirty="0" sz="2300" spc="-110" b="1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are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rare.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55">
                <a:latin typeface="Trebuchet MS"/>
                <a:cs typeface="Trebuchet MS"/>
              </a:rPr>
              <a:t>Overall,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chart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95">
                <a:latin typeface="Trebuchet MS"/>
                <a:cs typeface="Trebuchet MS"/>
              </a:rPr>
              <a:t>suggests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-20">
                <a:latin typeface="Trebuchet MS"/>
                <a:cs typeface="Trebuchet MS"/>
              </a:rPr>
              <a:t>that </a:t>
            </a:r>
            <a:r>
              <a:rPr dirty="0" sz="2300" spc="85">
                <a:latin typeface="Trebuchet MS"/>
                <a:cs typeface="Trebuchet MS"/>
              </a:rPr>
              <a:t>low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to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90">
                <a:latin typeface="Trebuchet MS"/>
                <a:cs typeface="Trebuchet MS"/>
              </a:rPr>
              <a:t>moderate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200">
                <a:latin typeface="Trebuchet MS"/>
                <a:cs typeface="Trebuchet MS"/>
              </a:rPr>
              <a:t>scores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were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30">
                <a:latin typeface="Trebuchet MS"/>
                <a:cs typeface="Trebuchet MS"/>
              </a:rPr>
              <a:t>much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more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40">
                <a:latin typeface="Trebuchet MS"/>
                <a:cs typeface="Trebuchet MS"/>
              </a:rPr>
              <a:t>common </a:t>
            </a:r>
            <a:r>
              <a:rPr dirty="0" sz="2300" spc="70">
                <a:latin typeface="Trebuchet MS"/>
                <a:cs typeface="Trebuchet MS"/>
              </a:rPr>
              <a:t>than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30">
                <a:latin typeface="Trebuchet MS"/>
                <a:cs typeface="Trebuchet MS"/>
              </a:rPr>
              <a:t>high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60">
                <a:latin typeface="Trebuchet MS"/>
                <a:cs typeface="Trebuchet MS"/>
              </a:rPr>
              <a:t>scores</a:t>
            </a:r>
            <a:r>
              <a:rPr dirty="0" sz="1450" spc="160">
                <a:latin typeface="Calibri"/>
                <a:cs typeface="Calibri"/>
              </a:rPr>
              <a:t>.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53788" rIns="0" bIns="0" rtlCol="0" vert="horz">
            <a:spAutoFit/>
          </a:bodyPr>
          <a:lstStyle/>
          <a:p>
            <a:pPr marL="1734820">
              <a:lnSpc>
                <a:spcPct val="100000"/>
              </a:lnSpc>
              <a:spcBef>
                <a:spcPts val="100"/>
              </a:spcBef>
            </a:pPr>
            <a:r>
              <a:rPr dirty="0" spc="130"/>
              <a:t>VISUALIZATION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3414" y="1623755"/>
            <a:ext cx="6118032" cy="448900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7477" y="1698804"/>
            <a:ext cx="8175625" cy="28428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5"/>
              </a:spcBef>
            </a:pPr>
            <a:r>
              <a:rPr dirty="0" sz="2300" spc="125">
                <a:latin typeface="Trebuchet MS"/>
                <a:cs typeface="Trebuchet MS"/>
              </a:rPr>
              <a:t>This</a:t>
            </a:r>
            <a:r>
              <a:rPr dirty="0" sz="2300" spc="-7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line</a:t>
            </a:r>
            <a:r>
              <a:rPr dirty="0" sz="2300" spc="-30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chart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210">
                <a:latin typeface="Trebuchet MS"/>
                <a:cs typeface="Trebuchet MS"/>
              </a:rPr>
              <a:t>shows</a:t>
            </a:r>
            <a:r>
              <a:rPr dirty="0" sz="2300" spc="-4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Virat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Kohli's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55">
                <a:latin typeface="Trebuchet MS"/>
                <a:cs typeface="Trebuchet MS"/>
              </a:rPr>
              <a:t>match-</a:t>
            </a:r>
            <a:r>
              <a:rPr dirty="0" sz="2300" spc="120">
                <a:latin typeface="Trebuchet MS"/>
                <a:cs typeface="Trebuchet MS"/>
              </a:rPr>
              <a:t>wise </a:t>
            </a:r>
            <a:r>
              <a:rPr dirty="0" sz="2300" spc="114">
                <a:latin typeface="Trebuchet MS"/>
                <a:cs typeface="Trebuchet MS"/>
              </a:rPr>
              <a:t>performance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200">
                <a:latin typeface="Trebuchet MS"/>
                <a:cs typeface="Trebuchet MS"/>
              </a:rPr>
              <a:t>across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five</a:t>
            </a:r>
            <a:r>
              <a:rPr dirty="0" sz="2300" spc="-75">
                <a:latin typeface="Trebuchet MS"/>
                <a:cs typeface="Trebuchet MS"/>
              </a:rPr>
              <a:t> </a:t>
            </a:r>
            <a:r>
              <a:rPr dirty="0" sz="2300" spc="70">
                <a:latin typeface="Trebuchet MS"/>
                <a:cs typeface="Trebuchet MS"/>
              </a:rPr>
              <a:t>matches.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90">
                <a:latin typeface="Trebuchet MS"/>
                <a:cs typeface="Trebuchet MS"/>
              </a:rPr>
              <a:t>He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70">
                <a:latin typeface="Trebuchet MS"/>
                <a:cs typeface="Trebuchet MS"/>
              </a:rPr>
              <a:t>scored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130">
                <a:latin typeface="Trebuchet MS"/>
                <a:cs typeface="Trebuchet MS"/>
              </a:rPr>
              <a:t>high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of</a:t>
            </a:r>
            <a:r>
              <a:rPr dirty="0" sz="2300" spc="170">
                <a:latin typeface="Trebuchet MS"/>
                <a:cs typeface="Trebuchet MS"/>
              </a:rPr>
              <a:t> </a:t>
            </a:r>
            <a:r>
              <a:rPr dirty="0" sz="2300" spc="-25" b="1">
                <a:latin typeface="Trebuchet MS"/>
                <a:cs typeface="Trebuchet MS"/>
              </a:rPr>
              <a:t>93 </a:t>
            </a:r>
            <a:r>
              <a:rPr dirty="0" sz="2300" spc="70" b="1">
                <a:latin typeface="Trebuchet MS"/>
                <a:cs typeface="Trebuchet MS"/>
              </a:rPr>
              <a:t>runs</a:t>
            </a:r>
            <a:r>
              <a:rPr dirty="0" sz="2300" spc="-130" b="1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in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Match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65">
                <a:latin typeface="Trebuchet MS"/>
                <a:cs typeface="Trebuchet MS"/>
              </a:rPr>
              <a:t>11,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55">
                <a:latin typeface="Trebuchet MS"/>
                <a:cs typeface="Trebuchet MS"/>
              </a:rPr>
              <a:t>followed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by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165">
                <a:latin typeface="Trebuchet MS"/>
                <a:cs typeface="Trebuchet MS"/>
              </a:rPr>
              <a:t>sharp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85">
                <a:latin typeface="Trebuchet MS"/>
                <a:cs typeface="Trebuchet MS"/>
              </a:rPr>
              <a:t>decline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to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23</a:t>
            </a:r>
            <a:r>
              <a:rPr dirty="0" sz="2300" spc="-114" b="1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-25" b="1">
                <a:latin typeface="Trebuchet MS"/>
                <a:cs typeface="Trebuchet MS"/>
              </a:rPr>
              <a:t>10 </a:t>
            </a:r>
            <a:r>
              <a:rPr dirty="0" sz="2300" spc="70" b="1">
                <a:latin typeface="Trebuchet MS"/>
                <a:cs typeface="Trebuchet MS"/>
              </a:rPr>
              <a:t>runs</a:t>
            </a:r>
            <a:r>
              <a:rPr dirty="0" sz="2300" spc="-140" b="1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in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Matches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170">
                <a:latin typeface="Trebuchet MS"/>
                <a:cs typeface="Trebuchet MS"/>
              </a:rPr>
              <a:t>12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65">
                <a:latin typeface="Trebuchet MS"/>
                <a:cs typeface="Trebuchet MS"/>
              </a:rPr>
              <a:t>13.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80">
                <a:latin typeface="Trebuchet MS"/>
                <a:cs typeface="Trebuchet MS"/>
              </a:rPr>
              <a:t>His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performance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45">
                <a:latin typeface="Trebuchet MS"/>
                <a:cs typeface="Trebuchet MS"/>
              </a:rPr>
              <a:t>then </a:t>
            </a:r>
            <a:r>
              <a:rPr dirty="0" sz="2300" spc="70">
                <a:latin typeface="Trebuchet MS"/>
                <a:cs typeface="Trebuchet MS"/>
              </a:rPr>
              <a:t>improved,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65">
                <a:latin typeface="Trebuchet MS"/>
                <a:cs typeface="Trebuchet MS"/>
              </a:rPr>
              <a:t>scoring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16</a:t>
            </a:r>
            <a:r>
              <a:rPr dirty="0" sz="2300" spc="-100" b="1">
                <a:latin typeface="Trebuchet MS"/>
                <a:cs typeface="Trebuchet MS"/>
              </a:rPr>
              <a:t> </a:t>
            </a:r>
            <a:r>
              <a:rPr dirty="0" sz="2300" spc="65" b="1">
                <a:latin typeface="Trebuchet MS"/>
                <a:cs typeface="Trebuchet MS"/>
              </a:rPr>
              <a:t>runs</a:t>
            </a:r>
            <a:r>
              <a:rPr dirty="0" sz="2300" spc="-114" b="1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in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Match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70">
                <a:latin typeface="Trebuchet MS"/>
                <a:cs typeface="Trebuchet MS"/>
              </a:rPr>
              <a:t>14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40</a:t>
            </a:r>
            <a:r>
              <a:rPr dirty="0" sz="2300" spc="-95" b="1">
                <a:latin typeface="Trebuchet MS"/>
                <a:cs typeface="Trebuchet MS"/>
              </a:rPr>
              <a:t> </a:t>
            </a:r>
            <a:r>
              <a:rPr dirty="0" sz="2300" spc="65" b="1">
                <a:latin typeface="Trebuchet MS"/>
                <a:cs typeface="Trebuchet MS"/>
              </a:rPr>
              <a:t>runs</a:t>
            </a:r>
            <a:r>
              <a:rPr dirty="0" sz="2300" spc="-120" b="1">
                <a:latin typeface="Trebuchet MS"/>
                <a:cs typeface="Trebuchet MS"/>
              </a:rPr>
              <a:t> </a:t>
            </a:r>
            <a:r>
              <a:rPr dirty="0" sz="2300" spc="-25">
                <a:latin typeface="Trebuchet MS"/>
                <a:cs typeface="Trebuchet MS"/>
              </a:rPr>
              <a:t>in </a:t>
            </a:r>
            <a:r>
              <a:rPr dirty="0" sz="2300" spc="110">
                <a:latin typeface="Trebuchet MS"/>
                <a:cs typeface="Trebuchet MS"/>
              </a:rPr>
              <a:t>Match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65">
                <a:latin typeface="Trebuchet MS"/>
                <a:cs typeface="Trebuchet MS"/>
              </a:rPr>
              <a:t>15.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55">
                <a:latin typeface="Trebuchet MS"/>
                <a:cs typeface="Trebuchet MS"/>
              </a:rPr>
              <a:t>Overall,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chart</a:t>
            </a:r>
            <a:r>
              <a:rPr dirty="0" sz="2300" spc="-160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highlights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an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excellent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-10">
                <a:latin typeface="Trebuchet MS"/>
                <a:cs typeface="Trebuchet MS"/>
              </a:rPr>
              <a:t>start,</a:t>
            </a:r>
            <a:r>
              <a:rPr dirty="0" sz="2300" spc="575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temporary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dip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in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form,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gradual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recovery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in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-25">
                <a:latin typeface="Trebuchet MS"/>
                <a:cs typeface="Trebuchet MS"/>
              </a:rPr>
              <a:t>the </a:t>
            </a:r>
            <a:r>
              <a:rPr dirty="0" sz="2300">
                <a:latin typeface="Trebuchet MS"/>
                <a:cs typeface="Trebuchet MS"/>
              </a:rPr>
              <a:t>later</a:t>
            </a:r>
            <a:r>
              <a:rPr dirty="0" sz="2300" spc="35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matches</a:t>
            </a:r>
            <a:r>
              <a:rPr dirty="0" sz="1450" spc="95">
                <a:latin typeface="Calibri"/>
                <a:cs typeface="Calibri"/>
              </a:rPr>
              <a:t>.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3975" y="1623755"/>
            <a:ext cx="7680284" cy="448900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4280" y="1662181"/>
            <a:ext cx="7999730" cy="28428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5"/>
              </a:spcBef>
            </a:pPr>
            <a:r>
              <a:rPr dirty="0" sz="2300" spc="125">
                <a:latin typeface="Trebuchet MS"/>
                <a:cs typeface="Trebuchet MS"/>
              </a:rPr>
              <a:t>This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scatter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plot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215">
                <a:latin typeface="Trebuchet MS"/>
                <a:cs typeface="Trebuchet MS"/>
              </a:rPr>
              <a:t>shows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75">
                <a:latin typeface="Trebuchet MS"/>
                <a:cs typeface="Trebuchet MS"/>
              </a:rPr>
              <a:t>relationship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between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10" b="1">
                <a:latin typeface="Trebuchet MS"/>
                <a:cs typeface="Trebuchet MS"/>
              </a:rPr>
              <a:t>Runs scored</a:t>
            </a:r>
            <a:r>
              <a:rPr dirty="0" sz="2300" spc="-114" b="1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75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Strike</a:t>
            </a:r>
            <a:r>
              <a:rPr dirty="0" sz="2300" spc="-12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Rate</a:t>
            </a:r>
            <a:r>
              <a:rPr dirty="0" sz="2300">
                <a:latin typeface="Trebuchet MS"/>
                <a:cs typeface="Trebuchet MS"/>
              </a:rPr>
              <a:t>.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The</a:t>
            </a:r>
            <a:r>
              <a:rPr dirty="0" sz="2300" spc="-60">
                <a:latin typeface="Trebuchet MS"/>
                <a:cs typeface="Trebuchet MS"/>
              </a:rPr>
              <a:t> </a:t>
            </a:r>
            <a:r>
              <a:rPr dirty="0" sz="2300" spc="100">
                <a:latin typeface="Trebuchet MS"/>
                <a:cs typeface="Trebuchet MS"/>
              </a:rPr>
              <a:t>points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70">
                <a:latin typeface="Trebuchet MS"/>
                <a:cs typeface="Trebuchet MS"/>
              </a:rPr>
              <a:t>indicate</a:t>
            </a:r>
            <a:r>
              <a:rPr dirty="0" sz="2300" spc="-60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70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moderate </a:t>
            </a:r>
            <a:r>
              <a:rPr dirty="0" sz="2300" b="1">
                <a:latin typeface="Trebuchet MS"/>
                <a:cs typeface="Trebuchet MS"/>
              </a:rPr>
              <a:t>positive</a:t>
            </a:r>
            <a:r>
              <a:rPr dirty="0" sz="2300" spc="-7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correlation</a:t>
            </a:r>
            <a:r>
              <a:rPr dirty="0" sz="2300">
                <a:latin typeface="Trebuchet MS"/>
                <a:cs typeface="Trebuchet MS"/>
              </a:rPr>
              <a:t>,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130">
                <a:latin typeface="Trebuchet MS"/>
                <a:cs typeface="Trebuchet MS"/>
              </a:rPr>
              <a:t>meaning</a:t>
            </a:r>
            <a:r>
              <a:rPr dirty="0" sz="2300" spc="-40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players</a:t>
            </a:r>
            <a:r>
              <a:rPr dirty="0" sz="2300" spc="-6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who</a:t>
            </a:r>
            <a:r>
              <a:rPr dirty="0" sz="2300" spc="-70">
                <a:latin typeface="Trebuchet MS"/>
                <a:cs typeface="Trebuchet MS"/>
              </a:rPr>
              <a:t> </a:t>
            </a:r>
            <a:r>
              <a:rPr dirty="0" sz="2300" spc="175">
                <a:latin typeface="Trebuchet MS"/>
                <a:cs typeface="Trebuchet MS"/>
              </a:rPr>
              <a:t>score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100">
                <a:latin typeface="Trebuchet MS"/>
                <a:cs typeface="Trebuchet MS"/>
              </a:rPr>
              <a:t>more </a:t>
            </a:r>
            <a:r>
              <a:rPr dirty="0" sz="2300" spc="155">
                <a:latin typeface="Trebuchet MS"/>
                <a:cs typeface="Trebuchet MS"/>
              </a:rPr>
              <a:t>runs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85">
                <a:latin typeface="Trebuchet MS"/>
                <a:cs typeface="Trebuchet MS"/>
              </a:rPr>
              <a:t>generally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70">
                <a:latin typeface="Trebuchet MS"/>
                <a:cs typeface="Trebuchet MS"/>
              </a:rPr>
              <a:t>tend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to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have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higher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85">
                <a:latin typeface="Trebuchet MS"/>
                <a:cs typeface="Trebuchet MS"/>
              </a:rPr>
              <a:t>strike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rates.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40">
                <a:latin typeface="Trebuchet MS"/>
                <a:cs typeface="Trebuchet MS"/>
              </a:rPr>
              <a:t>Most </a:t>
            </a:r>
            <a:r>
              <a:rPr dirty="0" sz="2300" spc="114">
                <a:latin typeface="Trebuchet MS"/>
                <a:cs typeface="Trebuchet MS"/>
              </a:rPr>
              <a:t>players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have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strike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rates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between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100</a:t>
            </a:r>
            <a:r>
              <a:rPr dirty="0" sz="2300" spc="-125" b="1">
                <a:latin typeface="Trebuchet MS"/>
                <a:cs typeface="Trebuchet MS"/>
              </a:rPr>
              <a:t> </a:t>
            </a:r>
            <a:r>
              <a:rPr dirty="0" sz="2300" spc="90" b="1">
                <a:latin typeface="Trebuchet MS"/>
                <a:cs typeface="Trebuchet MS"/>
              </a:rPr>
              <a:t>and</a:t>
            </a:r>
            <a:r>
              <a:rPr dirty="0" sz="2300" spc="-130" b="1">
                <a:latin typeface="Trebuchet MS"/>
                <a:cs typeface="Trebuchet MS"/>
              </a:rPr>
              <a:t> </a:t>
            </a:r>
            <a:r>
              <a:rPr dirty="0" sz="2300" spc="-25" b="1">
                <a:latin typeface="Trebuchet MS"/>
                <a:cs typeface="Trebuchet MS"/>
              </a:rPr>
              <a:t>180</a:t>
            </a:r>
            <a:r>
              <a:rPr dirty="0" sz="2300" spc="-25">
                <a:latin typeface="Trebuchet MS"/>
                <a:cs typeface="Trebuchet MS"/>
              </a:rPr>
              <a:t>,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60">
                <a:latin typeface="Trebuchet MS"/>
                <a:cs typeface="Trebuchet MS"/>
              </a:rPr>
              <a:t>while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a </a:t>
            </a:r>
            <a:r>
              <a:rPr dirty="0" sz="2300">
                <a:latin typeface="Trebuchet MS"/>
                <a:cs typeface="Trebuchet MS"/>
              </a:rPr>
              <a:t>few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70">
                <a:latin typeface="Trebuchet MS"/>
                <a:cs typeface="Trebuchet MS"/>
              </a:rPr>
              <a:t>exceptional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30">
                <a:latin typeface="Trebuchet MS"/>
                <a:cs typeface="Trebuchet MS"/>
              </a:rPr>
              <a:t>performances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reach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above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-25" b="1">
                <a:latin typeface="Trebuchet MS"/>
                <a:cs typeface="Trebuchet MS"/>
              </a:rPr>
              <a:t>200</a:t>
            </a:r>
            <a:r>
              <a:rPr dirty="0" sz="2300" spc="-25">
                <a:latin typeface="Trebuchet MS"/>
                <a:cs typeface="Trebuchet MS"/>
              </a:rPr>
              <a:t>.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45">
                <a:latin typeface="Trebuchet MS"/>
                <a:cs typeface="Trebuchet MS"/>
              </a:rPr>
              <a:t>Overall,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00">
                <a:latin typeface="Trebuchet MS"/>
                <a:cs typeface="Trebuchet MS"/>
              </a:rPr>
              <a:t>chart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90">
                <a:latin typeface="Trebuchet MS"/>
                <a:cs typeface="Trebuchet MS"/>
              </a:rPr>
              <a:t>suggests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that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85">
                <a:latin typeface="Trebuchet MS"/>
                <a:cs typeface="Trebuchet MS"/>
              </a:rPr>
              <a:t>higher-</a:t>
            </a:r>
            <a:r>
              <a:rPr dirty="0" sz="2300" spc="165">
                <a:latin typeface="Trebuchet MS"/>
                <a:cs typeface="Trebuchet MS"/>
              </a:rPr>
              <a:t>scoring</a:t>
            </a:r>
            <a:r>
              <a:rPr dirty="0" sz="2300" spc="-160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innings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are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-10">
                <a:latin typeface="Trebuchet MS"/>
                <a:cs typeface="Trebuchet MS"/>
              </a:rPr>
              <a:t>often </a:t>
            </a:r>
            <a:r>
              <a:rPr dirty="0" sz="2300" spc="140">
                <a:latin typeface="Trebuchet MS"/>
                <a:cs typeface="Trebuchet MS"/>
              </a:rPr>
              <a:t>associated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with</a:t>
            </a:r>
            <a:r>
              <a:rPr dirty="0" sz="2300" spc="-70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faster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165">
                <a:latin typeface="Trebuchet MS"/>
                <a:cs typeface="Trebuchet MS"/>
              </a:rPr>
              <a:t>scoring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-10">
                <a:latin typeface="Trebuchet MS"/>
                <a:cs typeface="Trebuchet MS"/>
              </a:rPr>
              <a:t>rates.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99571" y="3129723"/>
            <a:ext cx="796290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190">
                <a:latin typeface="Verdana"/>
                <a:cs typeface="Verdana"/>
              </a:rPr>
              <a:t>PPI</a:t>
            </a:r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9" y="1244538"/>
            <a:ext cx="8195309" cy="21253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5"/>
              </a:spcBef>
            </a:pPr>
            <a:r>
              <a:rPr dirty="0" sz="2300" spc="190">
                <a:latin typeface="Trebuchet MS"/>
                <a:cs typeface="Trebuchet MS"/>
              </a:rPr>
              <a:t>PPI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50">
                <a:latin typeface="Trebuchet MS"/>
                <a:cs typeface="Trebuchet MS"/>
              </a:rPr>
              <a:t>combines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130">
                <a:latin typeface="Trebuchet MS"/>
                <a:cs typeface="Trebuchet MS"/>
              </a:rPr>
              <a:t>player's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65">
                <a:latin typeface="Trebuchet MS"/>
                <a:cs typeface="Trebuchet MS"/>
              </a:rPr>
              <a:t>scoring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ability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165">
                <a:latin typeface="Trebuchet MS"/>
                <a:cs typeface="Trebuchet MS"/>
              </a:rPr>
              <a:t>scoring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65">
                <a:latin typeface="Trebuchet MS"/>
                <a:cs typeface="Trebuchet MS"/>
              </a:rPr>
              <a:t>speed </a:t>
            </a:r>
            <a:r>
              <a:rPr dirty="0" sz="2300">
                <a:latin typeface="Trebuchet MS"/>
                <a:cs typeface="Trebuchet MS"/>
              </a:rPr>
              <a:t>into</a:t>
            </a:r>
            <a:r>
              <a:rPr dirty="0" sz="2300" spc="-75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20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single</a:t>
            </a:r>
            <a:r>
              <a:rPr dirty="0" sz="2300" spc="-7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value.</a:t>
            </a:r>
            <a:r>
              <a:rPr dirty="0" sz="2300" spc="-70">
                <a:latin typeface="Trebuchet MS"/>
                <a:cs typeface="Trebuchet MS"/>
              </a:rPr>
              <a:t> </a:t>
            </a:r>
            <a:r>
              <a:rPr dirty="0" sz="2300" spc="295">
                <a:latin typeface="Trebuchet MS"/>
                <a:cs typeface="Trebuchet MS"/>
              </a:rPr>
              <a:t>A</a:t>
            </a:r>
            <a:r>
              <a:rPr dirty="0" sz="2300" spc="-60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higher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185">
                <a:latin typeface="Trebuchet MS"/>
                <a:cs typeface="Trebuchet MS"/>
              </a:rPr>
              <a:t>PPI</a:t>
            </a:r>
            <a:r>
              <a:rPr dirty="0" sz="2300" spc="-70">
                <a:latin typeface="Trebuchet MS"/>
                <a:cs typeface="Trebuchet MS"/>
              </a:rPr>
              <a:t> </a:t>
            </a:r>
            <a:r>
              <a:rPr dirty="0" sz="2300" spc="100">
                <a:latin typeface="Trebuchet MS"/>
                <a:cs typeface="Trebuchet MS"/>
              </a:rPr>
              <a:t>indicates</a:t>
            </a:r>
            <a:r>
              <a:rPr dirty="0" sz="2300" spc="-6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better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overall </a:t>
            </a:r>
            <a:r>
              <a:rPr dirty="0" sz="2300" spc="60">
                <a:latin typeface="Trebuchet MS"/>
                <a:cs typeface="Trebuchet MS"/>
              </a:rPr>
              <a:t>batting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85">
                <a:latin typeface="Trebuchet MS"/>
                <a:cs typeface="Trebuchet MS"/>
              </a:rPr>
              <a:t>performance,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65">
                <a:latin typeface="Trebuchet MS"/>
                <a:cs typeface="Trebuchet MS"/>
              </a:rPr>
              <a:t>reflecting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both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consistency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and </a:t>
            </a:r>
            <a:r>
              <a:rPr dirty="0" sz="2300" spc="160">
                <a:latin typeface="Trebuchet MS"/>
                <a:cs typeface="Trebuchet MS"/>
              </a:rPr>
              <a:t>aggressive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scoring.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It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is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90">
                <a:latin typeface="Trebuchet MS"/>
                <a:cs typeface="Trebuchet MS"/>
              </a:rPr>
              <a:t>useful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for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140">
                <a:latin typeface="Trebuchet MS"/>
                <a:cs typeface="Trebuchet MS"/>
              </a:rPr>
              <a:t>comparing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players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and </a:t>
            </a:r>
            <a:r>
              <a:rPr dirty="0" sz="2300" spc="55">
                <a:latin typeface="Trebuchet MS"/>
                <a:cs typeface="Trebuchet MS"/>
              </a:rPr>
              <a:t>identifying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70">
                <a:latin typeface="Trebuchet MS"/>
                <a:cs typeface="Trebuchet MS"/>
              </a:rPr>
              <a:t>top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performers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in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55">
                <a:latin typeface="Trebuchet MS"/>
                <a:cs typeface="Trebuchet MS"/>
              </a:rPr>
              <a:t>dataset.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ts val="2665"/>
              </a:lnSpc>
            </a:pPr>
            <a:r>
              <a:rPr dirty="0" sz="2300" b="1">
                <a:latin typeface="Calibri"/>
                <a:cs typeface="Calibri"/>
              </a:rPr>
              <a:t>PPI</a:t>
            </a:r>
            <a:r>
              <a:rPr dirty="0" sz="2300" spc="-25" b="1">
                <a:latin typeface="Calibri"/>
                <a:cs typeface="Calibri"/>
              </a:rPr>
              <a:t> </a:t>
            </a:r>
            <a:r>
              <a:rPr dirty="0" sz="2300" spc="-10" b="1">
                <a:latin typeface="Calibri"/>
                <a:cs typeface="Calibri"/>
              </a:rPr>
              <a:t>Formula: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851660" y="3483864"/>
            <a:ext cx="965200" cy="175260"/>
          </a:xfrm>
          <a:custGeom>
            <a:avLst/>
            <a:gdLst/>
            <a:ahLst/>
            <a:cxnLst/>
            <a:rect l="l" t="t" r="r" b="b"/>
            <a:pathLst>
              <a:path w="965200" h="175260">
                <a:moveTo>
                  <a:pt x="909827" y="175260"/>
                </a:moveTo>
                <a:lnTo>
                  <a:pt x="906779" y="167640"/>
                </a:lnTo>
                <a:lnTo>
                  <a:pt x="917352" y="163353"/>
                </a:lnTo>
                <a:lnTo>
                  <a:pt x="926210" y="157353"/>
                </a:lnTo>
                <a:lnTo>
                  <a:pt x="946975" y="116395"/>
                </a:lnTo>
                <a:lnTo>
                  <a:pt x="949393" y="88392"/>
                </a:lnTo>
                <a:lnTo>
                  <a:pt x="949451" y="86868"/>
                </a:lnTo>
                <a:lnTo>
                  <a:pt x="943665" y="45934"/>
                </a:lnTo>
                <a:lnTo>
                  <a:pt x="917352" y="11906"/>
                </a:lnTo>
                <a:lnTo>
                  <a:pt x="906779" y="7620"/>
                </a:lnTo>
                <a:lnTo>
                  <a:pt x="909827" y="0"/>
                </a:lnTo>
                <a:lnTo>
                  <a:pt x="943260" y="19931"/>
                </a:lnTo>
                <a:lnTo>
                  <a:pt x="961263" y="57150"/>
                </a:lnTo>
                <a:lnTo>
                  <a:pt x="963773" y="71699"/>
                </a:lnTo>
                <a:lnTo>
                  <a:pt x="963834" y="72056"/>
                </a:lnTo>
                <a:lnTo>
                  <a:pt x="964612" y="86868"/>
                </a:lnTo>
                <a:lnTo>
                  <a:pt x="964692" y="88392"/>
                </a:lnTo>
                <a:lnTo>
                  <a:pt x="963932" y="102274"/>
                </a:lnTo>
                <a:lnTo>
                  <a:pt x="963834" y="104060"/>
                </a:lnTo>
                <a:lnTo>
                  <a:pt x="950975" y="144780"/>
                </a:lnTo>
                <a:lnTo>
                  <a:pt x="922686" y="170711"/>
                </a:lnTo>
                <a:lnTo>
                  <a:pt x="909827" y="175260"/>
                </a:lnTo>
                <a:close/>
              </a:path>
              <a:path w="965200" h="175260">
                <a:moveTo>
                  <a:pt x="54863" y="175260"/>
                </a:moveTo>
                <a:lnTo>
                  <a:pt x="22288" y="155328"/>
                </a:lnTo>
                <a:lnTo>
                  <a:pt x="3428" y="118872"/>
                </a:lnTo>
                <a:lnTo>
                  <a:pt x="0" y="88392"/>
                </a:lnTo>
                <a:lnTo>
                  <a:pt x="857" y="72056"/>
                </a:lnTo>
                <a:lnTo>
                  <a:pt x="13715" y="30480"/>
                </a:lnTo>
                <a:lnTo>
                  <a:pt x="42862" y="4548"/>
                </a:lnTo>
                <a:lnTo>
                  <a:pt x="54863" y="0"/>
                </a:lnTo>
                <a:lnTo>
                  <a:pt x="57911" y="7620"/>
                </a:lnTo>
                <a:lnTo>
                  <a:pt x="48196" y="11906"/>
                </a:lnTo>
                <a:lnTo>
                  <a:pt x="39623" y="17907"/>
                </a:lnTo>
                <a:lnTo>
                  <a:pt x="18287" y="58102"/>
                </a:lnTo>
                <a:lnTo>
                  <a:pt x="15239" y="86868"/>
                </a:lnTo>
                <a:lnTo>
                  <a:pt x="16049" y="102274"/>
                </a:lnTo>
                <a:lnTo>
                  <a:pt x="25907" y="140208"/>
                </a:lnTo>
                <a:lnTo>
                  <a:pt x="57911" y="167640"/>
                </a:lnTo>
                <a:lnTo>
                  <a:pt x="54863" y="1752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75432" y="3483864"/>
            <a:ext cx="1160145" cy="175260"/>
          </a:xfrm>
          <a:custGeom>
            <a:avLst/>
            <a:gdLst/>
            <a:ahLst/>
            <a:cxnLst/>
            <a:rect l="l" t="t" r="r" b="b"/>
            <a:pathLst>
              <a:path w="1160145" h="175260">
                <a:moveTo>
                  <a:pt x="1104900" y="175260"/>
                </a:moveTo>
                <a:lnTo>
                  <a:pt x="1101852" y="167640"/>
                </a:lnTo>
                <a:lnTo>
                  <a:pt x="1112424" y="163353"/>
                </a:lnTo>
                <a:lnTo>
                  <a:pt x="1121283" y="157353"/>
                </a:lnTo>
                <a:lnTo>
                  <a:pt x="1142047" y="116395"/>
                </a:lnTo>
                <a:lnTo>
                  <a:pt x="1144465" y="88392"/>
                </a:lnTo>
                <a:lnTo>
                  <a:pt x="1144524" y="86868"/>
                </a:lnTo>
                <a:lnTo>
                  <a:pt x="1138737" y="45934"/>
                </a:lnTo>
                <a:lnTo>
                  <a:pt x="1112424" y="11906"/>
                </a:lnTo>
                <a:lnTo>
                  <a:pt x="1101852" y="7620"/>
                </a:lnTo>
                <a:lnTo>
                  <a:pt x="1104900" y="0"/>
                </a:lnTo>
                <a:lnTo>
                  <a:pt x="1138332" y="19931"/>
                </a:lnTo>
                <a:lnTo>
                  <a:pt x="1156335" y="57150"/>
                </a:lnTo>
                <a:lnTo>
                  <a:pt x="1158845" y="71699"/>
                </a:lnTo>
                <a:lnTo>
                  <a:pt x="1158906" y="72056"/>
                </a:lnTo>
                <a:lnTo>
                  <a:pt x="1159684" y="86868"/>
                </a:lnTo>
                <a:lnTo>
                  <a:pt x="1159764" y="88392"/>
                </a:lnTo>
                <a:lnTo>
                  <a:pt x="1159004" y="102274"/>
                </a:lnTo>
                <a:lnTo>
                  <a:pt x="1158906" y="104060"/>
                </a:lnTo>
                <a:lnTo>
                  <a:pt x="1146048" y="144780"/>
                </a:lnTo>
                <a:lnTo>
                  <a:pt x="1117758" y="170711"/>
                </a:lnTo>
                <a:lnTo>
                  <a:pt x="1104900" y="175260"/>
                </a:lnTo>
                <a:close/>
              </a:path>
              <a:path w="1160145" h="175260">
                <a:moveTo>
                  <a:pt x="54864" y="175260"/>
                </a:moveTo>
                <a:lnTo>
                  <a:pt x="22288" y="155328"/>
                </a:lnTo>
                <a:lnTo>
                  <a:pt x="3429" y="118872"/>
                </a:lnTo>
                <a:lnTo>
                  <a:pt x="0" y="88392"/>
                </a:lnTo>
                <a:lnTo>
                  <a:pt x="857" y="72056"/>
                </a:lnTo>
                <a:lnTo>
                  <a:pt x="13716" y="30480"/>
                </a:lnTo>
                <a:lnTo>
                  <a:pt x="42862" y="4548"/>
                </a:lnTo>
                <a:lnTo>
                  <a:pt x="54864" y="0"/>
                </a:lnTo>
                <a:lnTo>
                  <a:pt x="57912" y="7620"/>
                </a:lnTo>
                <a:lnTo>
                  <a:pt x="48196" y="11906"/>
                </a:lnTo>
                <a:lnTo>
                  <a:pt x="39623" y="17907"/>
                </a:lnTo>
                <a:lnTo>
                  <a:pt x="18287" y="58102"/>
                </a:lnTo>
                <a:lnTo>
                  <a:pt x="15239" y="86868"/>
                </a:lnTo>
                <a:lnTo>
                  <a:pt x="16049" y="102274"/>
                </a:lnTo>
                <a:lnTo>
                  <a:pt x="25908" y="140208"/>
                </a:lnTo>
                <a:lnTo>
                  <a:pt x="57912" y="167640"/>
                </a:lnTo>
                <a:lnTo>
                  <a:pt x="54864" y="1752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492752" y="3483864"/>
            <a:ext cx="1047115" cy="175260"/>
          </a:xfrm>
          <a:custGeom>
            <a:avLst/>
            <a:gdLst/>
            <a:ahLst/>
            <a:cxnLst/>
            <a:rect l="l" t="t" r="r" b="b"/>
            <a:pathLst>
              <a:path w="1047114" h="175260">
                <a:moveTo>
                  <a:pt x="992124" y="175260"/>
                </a:moveTo>
                <a:lnTo>
                  <a:pt x="989076" y="167640"/>
                </a:lnTo>
                <a:lnTo>
                  <a:pt x="999648" y="163353"/>
                </a:lnTo>
                <a:lnTo>
                  <a:pt x="1008507" y="157353"/>
                </a:lnTo>
                <a:lnTo>
                  <a:pt x="1029271" y="116395"/>
                </a:lnTo>
                <a:lnTo>
                  <a:pt x="1031689" y="88392"/>
                </a:lnTo>
                <a:lnTo>
                  <a:pt x="1031748" y="86868"/>
                </a:lnTo>
                <a:lnTo>
                  <a:pt x="1025961" y="45934"/>
                </a:lnTo>
                <a:lnTo>
                  <a:pt x="999648" y="11906"/>
                </a:lnTo>
                <a:lnTo>
                  <a:pt x="989076" y="7620"/>
                </a:lnTo>
                <a:lnTo>
                  <a:pt x="992124" y="0"/>
                </a:lnTo>
                <a:lnTo>
                  <a:pt x="1025556" y="19931"/>
                </a:lnTo>
                <a:lnTo>
                  <a:pt x="1043559" y="57150"/>
                </a:lnTo>
                <a:lnTo>
                  <a:pt x="1046069" y="71699"/>
                </a:lnTo>
                <a:lnTo>
                  <a:pt x="1046130" y="72056"/>
                </a:lnTo>
                <a:lnTo>
                  <a:pt x="1046908" y="86868"/>
                </a:lnTo>
                <a:lnTo>
                  <a:pt x="1046988" y="88392"/>
                </a:lnTo>
                <a:lnTo>
                  <a:pt x="1046228" y="102274"/>
                </a:lnTo>
                <a:lnTo>
                  <a:pt x="1046130" y="104060"/>
                </a:lnTo>
                <a:lnTo>
                  <a:pt x="1033272" y="144780"/>
                </a:lnTo>
                <a:lnTo>
                  <a:pt x="1004982" y="170711"/>
                </a:lnTo>
                <a:lnTo>
                  <a:pt x="992124" y="175260"/>
                </a:lnTo>
                <a:close/>
              </a:path>
              <a:path w="1047114" h="175260">
                <a:moveTo>
                  <a:pt x="54864" y="175260"/>
                </a:moveTo>
                <a:lnTo>
                  <a:pt x="22288" y="155328"/>
                </a:lnTo>
                <a:lnTo>
                  <a:pt x="3429" y="118872"/>
                </a:lnTo>
                <a:lnTo>
                  <a:pt x="0" y="88392"/>
                </a:lnTo>
                <a:lnTo>
                  <a:pt x="857" y="72056"/>
                </a:lnTo>
                <a:lnTo>
                  <a:pt x="13716" y="30480"/>
                </a:lnTo>
                <a:lnTo>
                  <a:pt x="42862" y="4548"/>
                </a:lnTo>
                <a:lnTo>
                  <a:pt x="54864" y="0"/>
                </a:lnTo>
                <a:lnTo>
                  <a:pt x="57912" y="7620"/>
                </a:lnTo>
                <a:lnTo>
                  <a:pt x="48196" y="11906"/>
                </a:lnTo>
                <a:lnTo>
                  <a:pt x="39624" y="17907"/>
                </a:lnTo>
                <a:lnTo>
                  <a:pt x="18288" y="58102"/>
                </a:lnTo>
                <a:lnTo>
                  <a:pt x="15240" y="86868"/>
                </a:lnTo>
                <a:lnTo>
                  <a:pt x="16049" y="102274"/>
                </a:lnTo>
                <a:lnTo>
                  <a:pt x="25908" y="140208"/>
                </a:lnTo>
                <a:lnTo>
                  <a:pt x="57912" y="167640"/>
                </a:lnTo>
                <a:lnTo>
                  <a:pt x="54864" y="1752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798820" y="3483864"/>
            <a:ext cx="1422400" cy="175260"/>
          </a:xfrm>
          <a:custGeom>
            <a:avLst/>
            <a:gdLst/>
            <a:ahLst/>
            <a:cxnLst/>
            <a:rect l="l" t="t" r="r" b="b"/>
            <a:pathLst>
              <a:path w="1422400" h="175260">
                <a:moveTo>
                  <a:pt x="1367028" y="175260"/>
                </a:moveTo>
                <a:lnTo>
                  <a:pt x="1363980" y="167640"/>
                </a:lnTo>
                <a:lnTo>
                  <a:pt x="1374552" y="163353"/>
                </a:lnTo>
                <a:lnTo>
                  <a:pt x="1383411" y="157353"/>
                </a:lnTo>
                <a:lnTo>
                  <a:pt x="1404175" y="116395"/>
                </a:lnTo>
                <a:lnTo>
                  <a:pt x="1406593" y="88392"/>
                </a:lnTo>
                <a:lnTo>
                  <a:pt x="1406652" y="86868"/>
                </a:lnTo>
                <a:lnTo>
                  <a:pt x="1400865" y="45934"/>
                </a:lnTo>
                <a:lnTo>
                  <a:pt x="1374552" y="11906"/>
                </a:lnTo>
                <a:lnTo>
                  <a:pt x="1363980" y="7620"/>
                </a:lnTo>
                <a:lnTo>
                  <a:pt x="1367028" y="0"/>
                </a:lnTo>
                <a:lnTo>
                  <a:pt x="1400460" y="19931"/>
                </a:lnTo>
                <a:lnTo>
                  <a:pt x="1418463" y="57150"/>
                </a:lnTo>
                <a:lnTo>
                  <a:pt x="1420973" y="71699"/>
                </a:lnTo>
                <a:lnTo>
                  <a:pt x="1421034" y="72056"/>
                </a:lnTo>
                <a:lnTo>
                  <a:pt x="1421812" y="86868"/>
                </a:lnTo>
                <a:lnTo>
                  <a:pt x="1421892" y="88392"/>
                </a:lnTo>
                <a:lnTo>
                  <a:pt x="1421132" y="102274"/>
                </a:lnTo>
                <a:lnTo>
                  <a:pt x="1421034" y="104060"/>
                </a:lnTo>
                <a:lnTo>
                  <a:pt x="1408176" y="144780"/>
                </a:lnTo>
                <a:lnTo>
                  <a:pt x="1379886" y="170711"/>
                </a:lnTo>
                <a:lnTo>
                  <a:pt x="1367028" y="175260"/>
                </a:lnTo>
                <a:close/>
              </a:path>
              <a:path w="1422400" h="175260">
                <a:moveTo>
                  <a:pt x="54864" y="175260"/>
                </a:moveTo>
                <a:lnTo>
                  <a:pt x="22288" y="155328"/>
                </a:lnTo>
                <a:lnTo>
                  <a:pt x="3429" y="118872"/>
                </a:lnTo>
                <a:lnTo>
                  <a:pt x="0" y="88392"/>
                </a:lnTo>
                <a:lnTo>
                  <a:pt x="857" y="72056"/>
                </a:lnTo>
                <a:lnTo>
                  <a:pt x="13716" y="30480"/>
                </a:lnTo>
                <a:lnTo>
                  <a:pt x="42862" y="4548"/>
                </a:lnTo>
                <a:lnTo>
                  <a:pt x="54864" y="0"/>
                </a:lnTo>
                <a:lnTo>
                  <a:pt x="57912" y="7620"/>
                </a:lnTo>
                <a:lnTo>
                  <a:pt x="48196" y="11906"/>
                </a:lnTo>
                <a:lnTo>
                  <a:pt x="39624" y="17907"/>
                </a:lnTo>
                <a:lnTo>
                  <a:pt x="18288" y="58102"/>
                </a:lnTo>
                <a:lnTo>
                  <a:pt x="15240" y="86868"/>
                </a:lnTo>
                <a:lnTo>
                  <a:pt x="16049" y="102274"/>
                </a:lnTo>
                <a:lnTo>
                  <a:pt x="25908" y="140208"/>
                </a:lnTo>
                <a:lnTo>
                  <a:pt x="57912" y="167640"/>
                </a:lnTo>
                <a:lnTo>
                  <a:pt x="54864" y="1752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478268" y="3483864"/>
            <a:ext cx="1152525" cy="175260"/>
          </a:xfrm>
          <a:custGeom>
            <a:avLst/>
            <a:gdLst/>
            <a:ahLst/>
            <a:cxnLst/>
            <a:rect l="l" t="t" r="r" b="b"/>
            <a:pathLst>
              <a:path w="1152525" h="175260">
                <a:moveTo>
                  <a:pt x="1097280" y="175260"/>
                </a:moveTo>
                <a:lnTo>
                  <a:pt x="1094232" y="167640"/>
                </a:lnTo>
                <a:lnTo>
                  <a:pt x="1104804" y="163353"/>
                </a:lnTo>
                <a:lnTo>
                  <a:pt x="1113663" y="157353"/>
                </a:lnTo>
                <a:lnTo>
                  <a:pt x="1134427" y="116395"/>
                </a:lnTo>
                <a:lnTo>
                  <a:pt x="1136845" y="88392"/>
                </a:lnTo>
                <a:lnTo>
                  <a:pt x="1136904" y="86868"/>
                </a:lnTo>
                <a:lnTo>
                  <a:pt x="1131117" y="45934"/>
                </a:lnTo>
                <a:lnTo>
                  <a:pt x="1104804" y="11906"/>
                </a:lnTo>
                <a:lnTo>
                  <a:pt x="1094232" y="7620"/>
                </a:lnTo>
                <a:lnTo>
                  <a:pt x="1097280" y="0"/>
                </a:lnTo>
                <a:lnTo>
                  <a:pt x="1130712" y="19931"/>
                </a:lnTo>
                <a:lnTo>
                  <a:pt x="1148715" y="57150"/>
                </a:lnTo>
                <a:lnTo>
                  <a:pt x="1151225" y="71699"/>
                </a:lnTo>
                <a:lnTo>
                  <a:pt x="1151286" y="72056"/>
                </a:lnTo>
                <a:lnTo>
                  <a:pt x="1152064" y="86868"/>
                </a:lnTo>
                <a:lnTo>
                  <a:pt x="1152144" y="88392"/>
                </a:lnTo>
                <a:lnTo>
                  <a:pt x="1151384" y="102274"/>
                </a:lnTo>
                <a:lnTo>
                  <a:pt x="1151286" y="104060"/>
                </a:lnTo>
                <a:lnTo>
                  <a:pt x="1138428" y="144780"/>
                </a:lnTo>
                <a:lnTo>
                  <a:pt x="1110138" y="170711"/>
                </a:lnTo>
                <a:lnTo>
                  <a:pt x="1097280" y="175260"/>
                </a:lnTo>
                <a:close/>
              </a:path>
              <a:path w="1152525" h="175260">
                <a:moveTo>
                  <a:pt x="54863" y="175260"/>
                </a:moveTo>
                <a:lnTo>
                  <a:pt x="22288" y="155328"/>
                </a:lnTo>
                <a:lnTo>
                  <a:pt x="3428" y="118872"/>
                </a:lnTo>
                <a:lnTo>
                  <a:pt x="0" y="88392"/>
                </a:lnTo>
                <a:lnTo>
                  <a:pt x="857" y="72056"/>
                </a:lnTo>
                <a:lnTo>
                  <a:pt x="13715" y="30480"/>
                </a:lnTo>
                <a:lnTo>
                  <a:pt x="42862" y="4548"/>
                </a:lnTo>
                <a:lnTo>
                  <a:pt x="54863" y="0"/>
                </a:lnTo>
                <a:lnTo>
                  <a:pt x="57911" y="7620"/>
                </a:lnTo>
                <a:lnTo>
                  <a:pt x="48196" y="11906"/>
                </a:lnTo>
                <a:lnTo>
                  <a:pt x="39623" y="17907"/>
                </a:lnTo>
                <a:lnTo>
                  <a:pt x="18287" y="58102"/>
                </a:lnTo>
                <a:lnTo>
                  <a:pt x="15239" y="86868"/>
                </a:lnTo>
                <a:lnTo>
                  <a:pt x="16049" y="102274"/>
                </a:lnTo>
                <a:lnTo>
                  <a:pt x="25907" y="140208"/>
                </a:lnTo>
                <a:lnTo>
                  <a:pt x="57911" y="167640"/>
                </a:lnTo>
                <a:lnTo>
                  <a:pt x="54863" y="1752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39952" y="3354323"/>
            <a:ext cx="7551420" cy="447040"/>
          </a:xfrm>
          <a:prstGeom prst="rect">
            <a:avLst/>
          </a:prstGeom>
          <a:ln w="10667">
            <a:solidFill>
              <a:srgbClr val="BF0000"/>
            </a:solidFill>
          </a:ln>
        </p:spPr>
        <p:txBody>
          <a:bodyPr wrap="square" lIns="0" tIns="7620" rIns="0" bIns="0" rtlCol="0" vert="horz">
            <a:spAutoFit/>
          </a:bodyPr>
          <a:lstStyle/>
          <a:p>
            <a:pPr marL="40640">
              <a:lnSpc>
                <a:spcPct val="100000"/>
              </a:lnSpc>
              <a:spcBef>
                <a:spcPts val="60"/>
              </a:spcBef>
              <a:tabLst>
                <a:tab pos="770890" algn="l"/>
              </a:tabLst>
            </a:pPr>
            <a:r>
              <a:rPr dirty="0" sz="2300">
                <a:latin typeface="Calibri"/>
                <a:cs typeface="Calibri"/>
              </a:rPr>
              <a:t>PPI</a:t>
            </a:r>
            <a:r>
              <a:rPr dirty="0" sz="2300" spc="110">
                <a:latin typeface="Calibri"/>
                <a:cs typeface="Calibri"/>
              </a:rPr>
              <a:t> </a:t>
            </a:r>
            <a:r>
              <a:rPr dirty="0" sz="1450" spc="-50">
                <a:latin typeface="Cambria Math"/>
                <a:cs typeface="Cambria Math"/>
              </a:rPr>
              <a:t>=</a:t>
            </a:r>
            <a:r>
              <a:rPr dirty="0" sz="1450">
                <a:latin typeface="Cambria Math"/>
                <a:cs typeface="Cambria Math"/>
              </a:rPr>
              <a:t>	0.4</a:t>
            </a:r>
            <a:r>
              <a:rPr dirty="0" sz="1450" spc="15">
                <a:latin typeface="Cambria Math"/>
                <a:cs typeface="Cambria Math"/>
              </a:rPr>
              <a:t> </a:t>
            </a:r>
            <a:r>
              <a:rPr dirty="0" sz="1450">
                <a:latin typeface="Cambria Math"/>
                <a:cs typeface="Cambria Math"/>
              </a:rPr>
              <a:t>×</a:t>
            </a:r>
            <a:r>
              <a:rPr dirty="0" sz="1450" spc="30">
                <a:latin typeface="Cambria Math"/>
                <a:cs typeface="Cambria Math"/>
              </a:rPr>
              <a:t> </a:t>
            </a:r>
            <a:r>
              <a:rPr dirty="0" sz="1450">
                <a:latin typeface="Calibri"/>
                <a:cs typeface="Calibri"/>
              </a:rPr>
              <a:t>Runs</a:t>
            </a:r>
            <a:r>
              <a:rPr dirty="0" sz="1450" spc="170">
                <a:latin typeface="Calibri"/>
                <a:cs typeface="Calibri"/>
              </a:rPr>
              <a:t>  </a:t>
            </a:r>
            <a:r>
              <a:rPr dirty="0" sz="1450">
                <a:latin typeface="Cambria Math"/>
                <a:cs typeface="Cambria Math"/>
              </a:rPr>
              <a:t>+</a:t>
            </a:r>
            <a:r>
              <a:rPr dirty="0" sz="1450" spc="180">
                <a:latin typeface="Cambria Math"/>
                <a:cs typeface="Cambria Math"/>
              </a:rPr>
              <a:t>  </a:t>
            </a:r>
            <a:r>
              <a:rPr dirty="0" sz="1450">
                <a:latin typeface="Cambria Math"/>
                <a:cs typeface="Cambria Math"/>
              </a:rPr>
              <a:t>25</a:t>
            </a:r>
            <a:r>
              <a:rPr dirty="0" sz="1450" spc="35">
                <a:latin typeface="Cambria Math"/>
                <a:cs typeface="Cambria Math"/>
              </a:rPr>
              <a:t> </a:t>
            </a:r>
            <a:r>
              <a:rPr dirty="0" sz="1450">
                <a:latin typeface="Cambria Math"/>
                <a:cs typeface="Cambria Math"/>
              </a:rPr>
              <a:t>×</a:t>
            </a:r>
            <a:r>
              <a:rPr dirty="0" sz="1450" spc="25">
                <a:latin typeface="Cambria Math"/>
                <a:cs typeface="Cambria Math"/>
              </a:rPr>
              <a:t> </a:t>
            </a:r>
            <a:r>
              <a:rPr dirty="0" sz="1450">
                <a:latin typeface="Calibri"/>
                <a:cs typeface="Calibri"/>
              </a:rPr>
              <a:t>Wickets</a:t>
            </a:r>
            <a:r>
              <a:rPr dirty="0" sz="1450" spc="170">
                <a:latin typeface="Calibri"/>
                <a:cs typeface="Calibri"/>
              </a:rPr>
              <a:t>  </a:t>
            </a:r>
            <a:r>
              <a:rPr dirty="0" sz="1450">
                <a:latin typeface="Cambria Math"/>
                <a:cs typeface="Cambria Math"/>
              </a:rPr>
              <a:t>+</a:t>
            </a:r>
            <a:r>
              <a:rPr dirty="0" sz="1450" spc="180">
                <a:latin typeface="Cambria Math"/>
                <a:cs typeface="Cambria Math"/>
              </a:rPr>
              <a:t>  </a:t>
            </a:r>
            <a:r>
              <a:rPr dirty="0" sz="1450">
                <a:latin typeface="Cambria Math"/>
                <a:cs typeface="Cambria Math"/>
              </a:rPr>
              <a:t>5</a:t>
            </a:r>
            <a:r>
              <a:rPr dirty="0" sz="1450" spc="15">
                <a:latin typeface="Cambria Math"/>
                <a:cs typeface="Cambria Math"/>
              </a:rPr>
              <a:t> </a:t>
            </a:r>
            <a:r>
              <a:rPr dirty="0" sz="1450">
                <a:latin typeface="Cambria Math"/>
                <a:cs typeface="Cambria Math"/>
              </a:rPr>
              <a:t>×</a:t>
            </a:r>
            <a:r>
              <a:rPr dirty="0" sz="1450" spc="35">
                <a:latin typeface="Cambria Math"/>
                <a:cs typeface="Cambria Math"/>
              </a:rPr>
              <a:t> </a:t>
            </a:r>
            <a:r>
              <a:rPr dirty="0" sz="1450">
                <a:latin typeface="Calibri"/>
                <a:cs typeface="Calibri"/>
              </a:rPr>
              <a:t>Catches</a:t>
            </a:r>
            <a:r>
              <a:rPr dirty="0" sz="1450" spc="175">
                <a:latin typeface="Calibri"/>
                <a:cs typeface="Calibri"/>
              </a:rPr>
              <a:t>  </a:t>
            </a:r>
            <a:r>
              <a:rPr dirty="0" sz="1450">
                <a:latin typeface="Cambria Math"/>
                <a:cs typeface="Cambria Math"/>
              </a:rPr>
              <a:t>+</a:t>
            </a:r>
            <a:r>
              <a:rPr dirty="0" sz="1450" spc="180">
                <a:latin typeface="Cambria Math"/>
                <a:cs typeface="Cambria Math"/>
              </a:rPr>
              <a:t>  </a:t>
            </a:r>
            <a:r>
              <a:rPr dirty="0" sz="1450">
                <a:latin typeface="Cambria Math"/>
                <a:cs typeface="Cambria Math"/>
              </a:rPr>
              <a:t>0.1</a:t>
            </a:r>
            <a:r>
              <a:rPr dirty="0" sz="1450" spc="15">
                <a:latin typeface="Cambria Math"/>
                <a:cs typeface="Cambria Math"/>
              </a:rPr>
              <a:t> </a:t>
            </a:r>
            <a:r>
              <a:rPr dirty="0" sz="1450">
                <a:latin typeface="Cambria Math"/>
                <a:cs typeface="Cambria Math"/>
              </a:rPr>
              <a:t>×</a:t>
            </a:r>
            <a:r>
              <a:rPr dirty="0" sz="1450" spc="25">
                <a:latin typeface="Cambria Math"/>
                <a:cs typeface="Cambria Math"/>
              </a:rPr>
              <a:t> </a:t>
            </a:r>
            <a:r>
              <a:rPr dirty="0" sz="1450">
                <a:latin typeface="Calibri"/>
                <a:cs typeface="Calibri"/>
              </a:rPr>
              <a:t>Strike</a:t>
            </a:r>
            <a:r>
              <a:rPr dirty="0" sz="1450" spc="3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Rate</a:t>
            </a:r>
            <a:r>
              <a:rPr dirty="0" sz="1450" spc="170">
                <a:latin typeface="Calibri"/>
                <a:cs typeface="Calibri"/>
              </a:rPr>
              <a:t>  </a:t>
            </a:r>
            <a:r>
              <a:rPr dirty="0" sz="1450">
                <a:latin typeface="Cambria Math"/>
                <a:cs typeface="Cambria Math"/>
              </a:rPr>
              <a:t>−</a:t>
            </a:r>
            <a:r>
              <a:rPr dirty="0" sz="1450" spc="175">
                <a:latin typeface="Cambria Math"/>
                <a:cs typeface="Cambria Math"/>
              </a:rPr>
              <a:t>  </a:t>
            </a:r>
            <a:r>
              <a:rPr dirty="0" sz="1450">
                <a:latin typeface="Cambria Math"/>
                <a:cs typeface="Cambria Math"/>
              </a:rPr>
              <a:t>2</a:t>
            </a:r>
            <a:r>
              <a:rPr dirty="0" sz="1450" spc="40">
                <a:latin typeface="Cambria Math"/>
                <a:cs typeface="Cambria Math"/>
              </a:rPr>
              <a:t> </a:t>
            </a:r>
            <a:r>
              <a:rPr dirty="0" sz="1450">
                <a:latin typeface="Cambria Math"/>
                <a:cs typeface="Cambria Math"/>
              </a:rPr>
              <a:t>×</a:t>
            </a:r>
            <a:r>
              <a:rPr dirty="0" sz="1450" spc="30">
                <a:latin typeface="Cambria Math"/>
                <a:cs typeface="Cambria Math"/>
              </a:rPr>
              <a:t> </a:t>
            </a:r>
            <a:r>
              <a:rPr dirty="0" sz="1450" spc="-10">
                <a:latin typeface="Calibri"/>
                <a:cs typeface="Calibri"/>
              </a:rPr>
              <a:t>Economy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7399" y="4039645"/>
            <a:ext cx="7567930" cy="24911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-10">
                <a:latin typeface="Calibri"/>
                <a:cs typeface="Calibri"/>
              </a:rPr>
              <a:t>Where: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2300" b="1">
                <a:latin typeface="Calibri"/>
                <a:cs typeface="Calibri"/>
              </a:rPr>
              <a:t>Runs</a:t>
            </a:r>
            <a:r>
              <a:rPr dirty="0" sz="2300" spc="-70" b="1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measure</a:t>
            </a:r>
            <a:r>
              <a:rPr dirty="0" sz="2300" spc="-4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batting</a:t>
            </a:r>
            <a:r>
              <a:rPr dirty="0" sz="2300" spc="-60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contribution.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2300" b="1">
                <a:latin typeface="Calibri"/>
                <a:cs typeface="Calibri"/>
              </a:rPr>
              <a:t>Wickets</a:t>
            </a:r>
            <a:r>
              <a:rPr dirty="0" sz="2300" spc="-65" b="1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carry</a:t>
            </a:r>
            <a:r>
              <a:rPr dirty="0" sz="2300" spc="-4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the</a:t>
            </a:r>
            <a:r>
              <a:rPr dirty="0" sz="2300" spc="-5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highest</a:t>
            </a:r>
            <a:r>
              <a:rPr dirty="0" sz="2300" spc="-4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weight,</a:t>
            </a:r>
            <a:r>
              <a:rPr dirty="0" sz="2300" spc="-5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reflecting</a:t>
            </a:r>
            <a:r>
              <a:rPr dirty="0" sz="2300" spc="-6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bowling</a:t>
            </a:r>
            <a:r>
              <a:rPr dirty="0" sz="2300" spc="-60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impact.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2300" b="1">
                <a:latin typeface="Calibri"/>
                <a:cs typeface="Calibri"/>
              </a:rPr>
              <a:t>Catches</a:t>
            </a:r>
            <a:r>
              <a:rPr dirty="0" sz="2300" spc="-60" b="1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reward</a:t>
            </a:r>
            <a:r>
              <a:rPr dirty="0" sz="2300" spc="-7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fielding</a:t>
            </a:r>
            <a:r>
              <a:rPr dirty="0" sz="2300" spc="-80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performance.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2300" b="1">
                <a:latin typeface="Calibri"/>
                <a:cs typeface="Calibri"/>
              </a:rPr>
              <a:t>Strike</a:t>
            </a:r>
            <a:r>
              <a:rPr dirty="0" sz="2300" spc="-75" b="1">
                <a:latin typeface="Calibri"/>
                <a:cs typeface="Calibri"/>
              </a:rPr>
              <a:t> </a:t>
            </a:r>
            <a:r>
              <a:rPr dirty="0" sz="2300" b="1">
                <a:latin typeface="Calibri"/>
                <a:cs typeface="Calibri"/>
              </a:rPr>
              <a:t>Rate</a:t>
            </a:r>
            <a:r>
              <a:rPr dirty="0" sz="2300" spc="-80" b="1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rewards</a:t>
            </a:r>
            <a:r>
              <a:rPr dirty="0" sz="2300" spc="-65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faster</a:t>
            </a:r>
            <a:r>
              <a:rPr dirty="0" sz="2300" spc="-105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scoring.</a:t>
            </a:r>
            <a:endParaRPr sz="2300">
              <a:latin typeface="Calibri"/>
              <a:cs typeface="Calibri"/>
            </a:endParaRPr>
          </a:p>
          <a:p>
            <a:pPr marL="12700" marR="5080">
              <a:lnSpc>
                <a:spcPct val="100400"/>
              </a:lnSpc>
            </a:pPr>
            <a:r>
              <a:rPr dirty="0" sz="2300" b="1">
                <a:latin typeface="Calibri"/>
                <a:cs typeface="Calibri"/>
              </a:rPr>
              <a:t>Economy</a:t>
            </a:r>
            <a:r>
              <a:rPr dirty="0" sz="2300" spc="-100" b="1">
                <a:latin typeface="Calibri"/>
                <a:cs typeface="Calibri"/>
              </a:rPr>
              <a:t> </a:t>
            </a:r>
            <a:r>
              <a:rPr dirty="0" sz="2300" b="1">
                <a:latin typeface="Calibri"/>
                <a:cs typeface="Calibri"/>
              </a:rPr>
              <a:t>Rate</a:t>
            </a:r>
            <a:r>
              <a:rPr dirty="0" sz="2300" spc="-45" b="1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is</a:t>
            </a:r>
            <a:r>
              <a:rPr dirty="0" sz="2300" spc="-6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subtracted,</a:t>
            </a:r>
            <a:r>
              <a:rPr dirty="0" sz="2300" spc="-6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as</a:t>
            </a:r>
            <a:r>
              <a:rPr dirty="0" sz="2300" spc="-4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lower</a:t>
            </a:r>
            <a:r>
              <a:rPr dirty="0" sz="2300" spc="-6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economy</a:t>
            </a:r>
            <a:r>
              <a:rPr dirty="0" sz="2300" spc="-7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indicates</a:t>
            </a:r>
            <a:r>
              <a:rPr dirty="0" sz="2300" spc="-65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better bowling.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1880" y="1188138"/>
            <a:ext cx="3818039" cy="523586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05325" y="1357230"/>
            <a:ext cx="4295317" cy="389447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1350" y="1640782"/>
            <a:ext cx="8085455" cy="42513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5"/>
              </a:spcBef>
            </a:pPr>
            <a:r>
              <a:rPr dirty="0" sz="2300" spc="125">
                <a:latin typeface="Trebuchet MS"/>
                <a:cs typeface="Trebuchet MS"/>
              </a:rPr>
              <a:t>This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60">
                <a:latin typeface="Trebuchet MS"/>
                <a:cs typeface="Trebuchet MS"/>
              </a:rPr>
              <a:t>output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50">
                <a:latin typeface="Trebuchet MS"/>
                <a:cs typeface="Trebuchet MS"/>
              </a:rPr>
              <a:t>ranks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players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80">
                <a:latin typeface="Trebuchet MS"/>
                <a:cs typeface="Trebuchet MS"/>
              </a:rPr>
              <a:t>based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on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their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45" b="1">
                <a:latin typeface="Trebuchet MS"/>
                <a:cs typeface="Trebuchet MS"/>
              </a:rPr>
              <a:t>Player </a:t>
            </a:r>
            <a:r>
              <a:rPr dirty="0" sz="2300" spc="50" b="1">
                <a:latin typeface="Trebuchet MS"/>
                <a:cs typeface="Trebuchet MS"/>
              </a:rPr>
              <a:t>Performance</a:t>
            </a:r>
            <a:r>
              <a:rPr dirty="0" sz="2300" spc="-7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Index</a:t>
            </a:r>
            <a:r>
              <a:rPr dirty="0" sz="2300" spc="-5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(PPI)</a:t>
            </a:r>
            <a:r>
              <a:rPr dirty="0" sz="2300">
                <a:latin typeface="Trebuchet MS"/>
                <a:cs typeface="Trebuchet MS"/>
              </a:rPr>
              <a:t>,</a:t>
            </a:r>
            <a:r>
              <a:rPr dirty="0" sz="2300" spc="-60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which</a:t>
            </a:r>
            <a:r>
              <a:rPr dirty="0" sz="2300" spc="-5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combines</a:t>
            </a:r>
            <a:r>
              <a:rPr dirty="0" sz="2300">
                <a:latin typeface="Trebuchet MS"/>
                <a:cs typeface="Trebuchet MS"/>
              </a:rPr>
              <a:t> </a:t>
            </a:r>
            <a:r>
              <a:rPr dirty="0" sz="2300" spc="-10">
                <a:latin typeface="Trebuchet MS"/>
                <a:cs typeface="Trebuchet MS"/>
              </a:rPr>
              <a:t>batting, </a:t>
            </a:r>
            <a:r>
              <a:rPr dirty="0" sz="2300" spc="75">
                <a:latin typeface="Trebuchet MS"/>
                <a:cs typeface="Trebuchet MS"/>
              </a:rPr>
              <a:t>bowling,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60">
                <a:latin typeface="Trebuchet MS"/>
                <a:cs typeface="Trebuchet MS"/>
              </a:rPr>
              <a:t>fielding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90">
                <a:latin typeface="Trebuchet MS"/>
                <a:cs typeface="Trebuchet MS"/>
              </a:rPr>
              <a:t>contributions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into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single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score. </a:t>
            </a:r>
            <a:r>
              <a:rPr dirty="0" sz="2300" spc="70" b="1">
                <a:latin typeface="Trebuchet MS"/>
                <a:cs typeface="Trebuchet MS"/>
              </a:rPr>
              <a:t>Axar</a:t>
            </a:r>
            <a:r>
              <a:rPr dirty="0" sz="2300" spc="-9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Patel</a:t>
            </a:r>
            <a:r>
              <a:rPr dirty="0" sz="2300" spc="-105" b="1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tops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list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with</a:t>
            </a:r>
            <a:r>
              <a:rPr dirty="0" sz="2300" spc="-75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190">
                <a:latin typeface="Trebuchet MS"/>
                <a:cs typeface="Trebuchet MS"/>
              </a:rPr>
              <a:t>PPI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of</a:t>
            </a:r>
            <a:r>
              <a:rPr dirty="0" sz="2300" spc="190">
                <a:latin typeface="Trebuchet MS"/>
                <a:cs typeface="Trebuchet MS"/>
              </a:rPr>
              <a:t> </a:t>
            </a:r>
            <a:r>
              <a:rPr dirty="0" sz="2300" spc="-40" b="1">
                <a:latin typeface="Trebuchet MS"/>
                <a:cs typeface="Trebuchet MS"/>
              </a:rPr>
              <a:t>59.62</a:t>
            </a:r>
            <a:r>
              <a:rPr dirty="0" sz="2300" spc="-40">
                <a:latin typeface="Trebuchet MS"/>
                <a:cs typeface="Trebuchet MS"/>
              </a:rPr>
              <a:t>,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60">
                <a:latin typeface="Trebuchet MS"/>
                <a:cs typeface="Trebuchet MS"/>
              </a:rPr>
              <a:t>followed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90">
                <a:latin typeface="Trebuchet MS"/>
                <a:cs typeface="Trebuchet MS"/>
              </a:rPr>
              <a:t>by </a:t>
            </a:r>
            <a:r>
              <a:rPr dirty="0" sz="2300" spc="120" b="1">
                <a:latin typeface="Trebuchet MS"/>
                <a:cs typeface="Trebuchet MS"/>
              </a:rPr>
              <a:t>Rashid</a:t>
            </a:r>
            <a:r>
              <a:rPr dirty="0" sz="2300" spc="-140" b="1">
                <a:latin typeface="Trebuchet MS"/>
                <a:cs typeface="Trebuchet MS"/>
              </a:rPr>
              <a:t> </a:t>
            </a:r>
            <a:r>
              <a:rPr dirty="0" sz="2300" spc="120" b="1">
                <a:latin typeface="Trebuchet MS"/>
                <a:cs typeface="Trebuchet MS"/>
              </a:rPr>
              <a:t>Khan</a:t>
            </a:r>
            <a:r>
              <a:rPr dirty="0" sz="2300" spc="-135" b="1">
                <a:latin typeface="Trebuchet MS"/>
                <a:cs typeface="Trebuchet MS"/>
              </a:rPr>
              <a:t> </a:t>
            </a:r>
            <a:r>
              <a:rPr dirty="0" sz="2300" spc="-25" b="1">
                <a:latin typeface="Trebuchet MS"/>
                <a:cs typeface="Trebuchet MS"/>
              </a:rPr>
              <a:t>(55.33)</a:t>
            </a:r>
            <a:r>
              <a:rPr dirty="0" sz="2300" spc="-140" b="1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90" b="1">
                <a:latin typeface="Trebuchet MS"/>
                <a:cs typeface="Trebuchet MS"/>
              </a:rPr>
              <a:t>Shivam</a:t>
            </a:r>
            <a:r>
              <a:rPr dirty="0" sz="2300" spc="-165" b="1">
                <a:latin typeface="Trebuchet MS"/>
                <a:cs typeface="Trebuchet MS"/>
              </a:rPr>
              <a:t> </a:t>
            </a:r>
            <a:r>
              <a:rPr dirty="0" sz="2300" spc="105" b="1">
                <a:latin typeface="Trebuchet MS"/>
                <a:cs typeface="Trebuchet MS"/>
              </a:rPr>
              <a:t>Dube</a:t>
            </a:r>
            <a:r>
              <a:rPr dirty="0" sz="2300" spc="-135" b="1">
                <a:latin typeface="Trebuchet MS"/>
                <a:cs typeface="Trebuchet MS"/>
              </a:rPr>
              <a:t> </a:t>
            </a:r>
            <a:r>
              <a:rPr dirty="0" sz="2300" spc="-40" b="1">
                <a:latin typeface="Trebuchet MS"/>
                <a:cs typeface="Trebuchet MS"/>
              </a:rPr>
              <a:t>(51.15)</a:t>
            </a:r>
            <a:r>
              <a:rPr dirty="0" sz="2300" spc="-40">
                <a:latin typeface="Trebuchet MS"/>
                <a:cs typeface="Trebuchet MS"/>
              </a:rPr>
              <a:t>,</a:t>
            </a:r>
            <a:r>
              <a:rPr dirty="0" sz="2300" spc="-160">
                <a:latin typeface="Trebuchet MS"/>
                <a:cs typeface="Trebuchet MS"/>
              </a:rPr>
              <a:t> </a:t>
            </a:r>
            <a:r>
              <a:rPr dirty="0" sz="2300" spc="70">
                <a:latin typeface="Trebuchet MS"/>
                <a:cs typeface="Trebuchet MS"/>
              </a:rPr>
              <a:t>indicating </a:t>
            </a:r>
            <a:r>
              <a:rPr dirty="0" sz="2300" spc="105">
                <a:latin typeface="Trebuchet MS"/>
                <a:cs typeface="Trebuchet MS"/>
              </a:rPr>
              <a:t>outstanding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-25">
                <a:latin typeface="Trebuchet MS"/>
                <a:cs typeface="Trebuchet MS"/>
              </a:rPr>
              <a:t>all-</a:t>
            </a:r>
            <a:r>
              <a:rPr dirty="0" sz="2300" spc="120">
                <a:latin typeface="Trebuchet MS"/>
                <a:cs typeface="Trebuchet MS"/>
              </a:rPr>
              <a:t>round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00">
                <a:latin typeface="Trebuchet MS"/>
                <a:cs typeface="Trebuchet MS"/>
              </a:rPr>
              <a:t>performances.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Players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85">
                <a:latin typeface="Trebuchet MS"/>
                <a:cs typeface="Trebuchet MS"/>
              </a:rPr>
              <a:t>such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210">
                <a:latin typeface="Trebuchet MS"/>
                <a:cs typeface="Trebuchet MS"/>
              </a:rPr>
              <a:t>as </a:t>
            </a:r>
            <a:r>
              <a:rPr dirty="0" sz="2300" spc="65" b="1">
                <a:latin typeface="Trebuchet MS"/>
                <a:cs typeface="Trebuchet MS"/>
              </a:rPr>
              <a:t>Ravindra</a:t>
            </a:r>
            <a:r>
              <a:rPr dirty="0" sz="2300" spc="-12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Jadeja</a:t>
            </a:r>
            <a:r>
              <a:rPr dirty="0" sz="2300">
                <a:latin typeface="Trebuchet MS"/>
                <a:cs typeface="Trebuchet MS"/>
              </a:rPr>
              <a:t>,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105" b="1">
                <a:latin typeface="Trebuchet MS"/>
                <a:cs typeface="Trebuchet MS"/>
              </a:rPr>
              <a:t>Shubman</a:t>
            </a:r>
            <a:r>
              <a:rPr dirty="0" sz="2300" spc="-11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Gill</a:t>
            </a:r>
            <a:r>
              <a:rPr dirty="0" sz="2300">
                <a:latin typeface="Trebuchet MS"/>
                <a:cs typeface="Trebuchet MS"/>
              </a:rPr>
              <a:t>,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70">
                <a:latin typeface="Trebuchet MS"/>
                <a:cs typeface="Trebuchet MS"/>
              </a:rPr>
              <a:t> </a:t>
            </a:r>
            <a:r>
              <a:rPr dirty="0" sz="2300" spc="105" b="1">
                <a:latin typeface="Trebuchet MS"/>
                <a:cs typeface="Trebuchet MS"/>
              </a:rPr>
              <a:t>Rishabh</a:t>
            </a:r>
            <a:r>
              <a:rPr dirty="0" sz="2300" spc="-9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Pant</a:t>
            </a:r>
            <a:r>
              <a:rPr dirty="0" sz="2300" spc="-90" b="1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also rank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highly.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At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90">
                <a:latin typeface="Trebuchet MS"/>
                <a:cs typeface="Trebuchet MS"/>
              </a:rPr>
              <a:t>lower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end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of</a:t>
            </a:r>
            <a:r>
              <a:rPr dirty="0" sz="2300" spc="20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list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are</a:t>
            </a:r>
            <a:r>
              <a:rPr dirty="0" sz="2300" spc="-75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players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-20">
                <a:latin typeface="Trebuchet MS"/>
                <a:cs typeface="Trebuchet MS"/>
              </a:rPr>
              <a:t>like </a:t>
            </a:r>
            <a:r>
              <a:rPr dirty="0" sz="2300" b="1">
                <a:latin typeface="Trebuchet MS"/>
                <a:cs typeface="Trebuchet MS"/>
              </a:rPr>
              <a:t>Varun</a:t>
            </a:r>
            <a:r>
              <a:rPr dirty="0" sz="2300" spc="-125" b="1">
                <a:latin typeface="Trebuchet MS"/>
                <a:cs typeface="Trebuchet MS"/>
              </a:rPr>
              <a:t> </a:t>
            </a:r>
            <a:r>
              <a:rPr dirty="0" sz="2300" spc="55" b="1">
                <a:latin typeface="Trebuchet MS"/>
                <a:cs typeface="Trebuchet MS"/>
              </a:rPr>
              <a:t>Chakravarthy</a:t>
            </a:r>
            <a:r>
              <a:rPr dirty="0" sz="2300" spc="-95" b="1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80" b="1">
                <a:latin typeface="Trebuchet MS"/>
                <a:cs typeface="Trebuchet MS"/>
              </a:rPr>
              <a:t>Abhishek</a:t>
            </a:r>
            <a:r>
              <a:rPr dirty="0" sz="2300" spc="-95" b="1">
                <a:latin typeface="Trebuchet MS"/>
                <a:cs typeface="Trebuchet MS"/>
              </a:rPr>
              <a:t> </a:t>
            </a:r>
            <a:r>
              <a:rPr dirty="0" sz="2300" spc="90" b="1">
                <a:latin typeface="Trebuchet MS"/>
                <a:cs typeface="Trebuchet MS"/>
              </a:rPr>
              <a:t>Sharma</a:t>
            </a:r>
            <a:r>
              <a:rPr dirty="0" sz="2300" spc="90">
                <a:latin typeface="Trebuchet MS"/>
                <a:cs typeface="Trebuchet MS"/>
              </a:rPr>
              <a:t>.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55">
                <a:latin typeface="Trebuchet MS"/>
                <a:cs typeface="Trebuchet MS"/>
              </a:rPr>
              <a:t>Overall,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25">
                <a:latin typeface="Trebuchet MS"/>
                <a:cs typeface="Trebuchet MS"/>
              </a:rPr>
              <a:t>the </a:t>
            </a:r>
            <a:r>
              <a:rPr dirty="0" sz="2300" spc="190">
                <a:latin typeface="Trebuchet MS"/>
                <a:cs typeface="Trebuchet MS"/>
              </a:rPr>
              <a:t>PPI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ranking</a:t>
            </a:r>
            <a:r>
              <a:rPr dirty="0" sz="2300" spc="-160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provides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30">
                <a:latin typeface="Trebuchet MS"/>
                <a:cs typeface="Trebuchet MS"/>
              </a:rPr>
              <a:t>comprehensive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comparison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-25">
                <a:latin typeface="Trebuchet MS"/>
                <a:cs typeface="Trebuchet MS"/>
              </a:rPr>
              <a:t>of </a:t>
            </a:r>
            <a:r>
              <a:rPr dirty="0" sz="2300" spc="85">
                <a:latin typeface="Trebuchet MS"/>
                <a:cs typeface="Trebuchet MS"/>
              </a:rPr>
              <a:t>player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130">
                <a:latin typeface="Trebuchet MS"/>
                <a:cs typeface="Trebuchet MS"/>
              </a:rPr>
              <a:t>performances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helps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identify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70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most </a:t>
            </a:r>
            <a:r>
              <a:rPr dirty="0" sz="2300" spc="55">
                <a:latin typeface="Trebuchet MS"/>
                <a:cs typeface="Trebuchet MS"/>
              </a:rPr>
              <a:t>impactful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players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in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dataset.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19272" rIns="0" bIns="0" rtlCol="0" vert="horz">
            <a:spAutoFit/>
          </a:bodyPr>
          <a:lstStyle/>
          <a:p>
            <a:pPr marL="1961514">
              <a:lnSpc>
                <a:spcPct val="100000"/>
              </a:lnSpc>
              <a:spcBef>
                <a:spcPts val="100"/>
              </a:spcBef>
            </a:pPr>
            <a:r>
              <a:rPr dirty="0" spc="170"/>
              <a:t>IDEAL</a:t>
            </a:r>
            <a:r>
              <a:rPr dirty="0" spc="-40"/>
              <a:t> </a:t>
            </a:r>
            <a:r>
              <a:rPr dirty="0" spc="225"/>
              <a:t>PLAYING</a:t>
            </a:r>
            <a:r>
              <a:rPr dirty="0" spc="-25"/>
              <a:t> </a:t>
            </a:r>
            <a:r>
              <a:rPr dirty="0" spc="65"/>
              <a:t>XI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5097" y="2232203"/>
            <a:ext cx="7288530" cy="24911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5"/>
              </a:spcBef>
            </a:pPr>
            <a:r>
              <a:rPr dirty="0" sz="2300" spc="110">
                <a:latin typeface="Trebuchet MS"/>
                <a:cs typeface="Trebuchet MS"/>
              </a:rPr>
              <a:t>The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90">
                <a:latin typeface="Trebuchet MS"/>
                <a:cs typeface="Trebuchet MS"/>
              </a:rPr>
              <a:t>Ideal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Playing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00">
                <a:latin typeface="Trebuchet MS"/>
                <a:cs typeface="Trebuchet MS"/>
              </a:rPr>
              <a:t>XI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is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selected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by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60">
                <a:latin typeface="Trebuchet MS"/>
                <a:cs typeface="Trebuchet MS"/>
              </a:rPr>
              <a:t>choosing</a:t>
            </a:r>
            <a:r>
              <a:rPr dirty="0" sz="2300" spc="-160">
                <a:latin typeface="Trebuchet MS"/>
                <a:cs typeface="Trebuchet MS"/>
              </a:rPr>
              <a:t> </a:t>
            </a:r>
            <a:r>
              <a:rPr dirty="0" sz="2300" spc="25">
                <a:latin typeface="Trebuchet MS"/>
                <a:cs typeface="Trebuchet MS"/>
              </a:rPr>
              <a:t>the </a:t>
            </a:r>
            <a:r>
              <a:rPr dirty="0" sz="2300" spc="80">
                <a:latin typeface="Trebuchet MS"/>
                <a:cs typeface="Trebuchet MS"/>
              </a:rPr>
              <a:t>best-</a:t>
            </a:r>
            <a:r>
              <a:rPr dirty="0" sz="2300" spc="100">
                <a:latin typeface="Trebuchet MS"/>
                <a:cs typeface="Trebuchet MS"/>
              </a:rPr>
              <a:t>performing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players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55">
                <a:latin typeface="Trebuchet MS"/>
                <a:cs typeface="Trebuchet MS"/>
              </a:rPr>
              <a:t>from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90">
                <a:latin typeface="Trebuchet MS"/>
                <a:cs typeface="Trebuchet MS"/>
              </a:rPr>
              <a:t>analysis.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-25">
                <a:latin typeface="Trebuchet MS"/>
                <a:cs typeface="Trebuchet MS"/>
              </a:rPr>
              <a:t>It </a:t>
            </a:r>
            <a:r>
              <a:rPr dirty="0" sz="2300" spc="114">
                <a:latin typeface="Trebuchet MS"/>
                <a:cs typeface="Trebuchet MS"/>
              </a:rPr>
              <a:t>includes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65">
                <a:latin typeface="Trebuchet MS"/>
                <a:cs typeface="Trebuchet MS"/>
              </a:rPr>
              <a:t>top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90">
                <a:latin typeface="Trebuchet MS"/>
                <a:cs typeface="Trebuchet MS"/>
              </a:rPr>
              <a:t>batsmen,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45">
                <a:latin typeface="Trebuchet MS"/>
                <a:cs typeface="Trebuchet MS"/>
              </a:rPr>
              <a:t>effective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85">
                <a:latin typeface="Trebuchet MS"/>
                <a:cs typeface="Trebuchet MS"/>
              </a:rPr>
              <a:t>bowlers,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and </a:t>
            </a:r>
            <a:r>
              <a:rPr dirty="0" sz="2300" spc="45">
                <a:latin typeface="Trebuchet MS"/>
                <a:cs typeface="Trebuchet MS"/>
              </a:rPr>
              <a:t>reliable</a:t>
            </a:r>
            <a:r>
              <a:rPr dirty="0" sz="2300" spc="-70">
                <a:latin typeface="Trebuchet MS"/>
                <a:cs typeface="Trebuchet MS"/>
              </a:rPr>
              <a:t> </a:t>
            </a:r>
            <a:r>
              <a:rPr dirty="0" sz="2300" spc="-20">
                <a:latin typeface="Trebuchet MS"/>
                <a:cs typeface="Trebuchet MS"/>
              </a:rPr>
              <a:t>all-</a:t>
            </a:r>
            <a:r>
              <a:rPr dirty="0" sz="2300" spc="135">
                <a:latin typeface="Trebuchet MS"/>
                <a:cs typeface="Trebuchet MS"/>
              </a:rPr>
              <a:t>rounders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80">
                <a:latin typeface="Trebuchet MS"/>
                <a:cs typeface="Trebuchet MS"/>
              </a:rPr>
              <a:t>based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on</a:t>
            </a:r>
            <a:r>
              <a:rPr dirty="0" sz="2300" spc="-6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their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runs,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45">
                <a:latin typeface="Trebuchet MS"/>
                <a:cs typeface="Trebuchet MS"/>
              </a:rPr>
              <a:t>wickets, </a:t>
            </a:r>
            <a:r>
              <a:rPr dirty="0" sz="2300" spc="85">
                <a:latin typeface="Trebuchet MS"/>
                <a:cs typeface="Trebuchet MS"/>
              </a:rPr>
              <a:t>strike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-10">
                <a:latin typeface="Trebuchet MS"/>
                <a:cs typeface="Trebuchet MS"/>
              </a:rPr>
              <a:t>rate,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90">
                <a:latin typeface="Trebuchet MS"/>
                <a:cs typeface="Trebuchet MS"/>
              </a:rPr>
              <a:t>economy,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60">
                <a:latin typeface="Trebuchet MS"/>
                <a:cs typeface="Trebuchet MS"/>
              </a:rPr>
              <a:t>overall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performance.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This </a:t>
            </a:r>
            <a:r>
              <a:rPr dirty="0" sz="2300" spc="135">
                <a:latin typeface="Trebuchet MS"/>
                <a:cs typeface="Trebuchet MS"/>
              </a:rPr>
              <a:t>helps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create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balanced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team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with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strong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-10">
                <a:latin typeface="Trebuchet MS"/>
                <a:cs typeface="Trebuchet MS"/>
              </a:rPr>
              <a:t>batting, </a:t>
            </a:r>
            <a:r>
              <a:rPr dirty="0" sz="2300" spc="75">
                <a:latin typeface="Trebuchet MS"/>
                <a:cs typeface="Trebuchet MS"/>
              </a:rPr>
              <a:t>bowling,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-20">
                <a:latin typeface="Trebuchet MS"/>
                <a:cs typeface="Trebuchet MS"/>
              </a:rPr>
              <a:t>all-</a:t>
            </a:r>
            <a:r>
              <a:rPr dirty="0" sz="2300" spc="114">
                <a:latin typeface="Trebuchet MS"/>
                <a:cs typeface="Trebuchet MS"/>
              </a:rPr>
              <a:t>round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-10">
                <a:latin typeface="Trebuchet MS"/>
                <a:cs typeface="Trebuchet MS"/>
              </a:rPr>
              <a:t>abilities.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1103" y="1537716"/>
            <a:ext cx="5971948" cy="458895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873" y="1980727"/>
            <a:ext cx="8277225" cy="31953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7785">
              <a:lnSpc>
                <a:spcPct val="100400"/>
              </a:lnSpc>
              <a:spcBef>
                <a:spcPts val="105"/>
              </a:spcBef>
            </a:pPr>
            <a:r>
              <a:rPr dirty="0" sz="2300" spc="110">
                <a:latin typeface="Trebuchet MS"/>
                <a:cs typeface="Trebuchet MS"/>
              </a:rPr>
              <a:t>The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program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selects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the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90">
                <a:latin typeface="Trebuchet MS"/>
                <a:cs typeface="Trebuchet MS"/>
              </a:rPr>
              <a:t>Ideal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Playing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00">
                <a:latin typeface="Trebuchet MS"/>
                <a:cs typeface="Trebuchet MS"/>
              </a:rPr>
              <a:t>XI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by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30">
                <a:latin typeface="Trebuchet MS"/>
                <a:cs typeface="Trebuchet MS"/>
              </a:rPr>
              <a:t>comparing </a:t>
            </a:r>
            <a:r>
              <a:rPr dirty="0" sz="2300" spc="125">
                <a:latin typeface="Trebuchet MS"/>
                <a:cs typeface="Trebuchet MS"/>
              </a:rPr>
              <a:t>players'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130">
                <a:latin typeface="Trebuchet MS"/>
                <a:cs typeface="Trebuchet MS"/>
              </a:rPr>
              <a:t>performances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165">
                <a:latin typeface="Trebuchet MS"/>
                <a:cs typeface="Trebuchet MS"/>
              </a:rPr>
              <a:t>using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runs,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90">
                <a:latin typeface="Trebuchet MS"/>
                <a:cs typeface="Trebuchet MS"/>
              </a:rPr>
              <a:t>catches,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150">
                <a:latin typeface="Trebuchet MS"/>
                <a:cs typeface="Trebuchet MS"/>
              </a:rPr>
              <a:t>and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wickets.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-25">
                <a:latin typeface="Trebuchet MS"/>
                <a:cs typeface="Trebuchet MS"/>
              </a:rPr>
              <a:t>It </a:t>
            </a:r>
            <a:r>
              <a:rPr dirty="0" sz="2300" spc="195">
                <a:latin typeface="Trebuchet MS"/>
                <a:cs typeface="Trebuchet MS"/>
              </a:rPr>
              <a:t>chooses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best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85">
                <a:latin typeface="Trebuchet MS"/>
                <a:cs typeface="Trebuchet MS"/>
              </a:rPr>
              <a:t>batsmen,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-25">
                <a:latin typeface="Trebuchet MS"/>
                <a:cs typeface="Trebuchet MS"/>
              </a:rPr>
              <a:t>all-</a:t>
            </a:r>
            <a:r>
              <a:rPr dirty="0" sz="2300" spc="95">
                <a:latin typeface="Trebuchet MS"/>
                <a:cs typeface="Trebuchet MS"/>
              </a:rPr>
              <a:t>rounders,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bowlers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-25">
                <a:latin typeface="Trebuchet MS"/>
                <a:cs typeface="Trebuchet MS"/>
              </a:rPr>
              <a:t>to </a:t>
            </a:r>
            <a:r>
              <a:rPr dirty="0" sz="2300" spc="65">
                <a:latin typeface="Trebuchet MS"/>
                <a:cs typeface="Trebuchet MS"/>
              </a:rPr>
              <a:t>form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30">
                <a:latin typeface="Trebuchet MS"/>
                <a:cs typeface="Trebuchet MS"/>
              </a:rPr>
              <a:t>balanced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-20">
                <a:latin typeface="Trebuchet MS"/>
                <a:cs typeface="Trebuchet MS"/>
              </a:rPr>
              <a:t>team.</a:t>
            </a:r>
            <a:endParaRPr sz="2300">
              <a:latin typeface="Trebuchet MS"/>
              <a:cs typeface="Trebuchet MS"/>
            </a:endParaRPr>
          </a:p>
          <a:p>
            <a:pPr marL="12700" marR="5080">
              <a:lnSpc>
                <a:spcPct val="100400"/>
              </a:lnSpc>
            </a:pPr>
            <a:r>
              <a:rPr dirty="0" sz="2300" spc="85">
                <a:latin typeface="Trebuchet MS"/>
                <a:cs typeface="Trebuchet MS"/>
              </a:rPr>
              <a:t>Example: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175">
                <a:latin typeface="Trebuchet MS"/>
                <a:cs typeface="Trebuchet MS"/>
              </a:rPr>
              <a:t>Shubman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Gill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is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selected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175">
                <a:latin typeface="Trebuchet MS"/>
                <a:cs typeface="Trebuchet MS"/>
              </a:rPr>
              <a:t>because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he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170">
                <a:latin typeface="Trebuchet MS"/>
                <a:cs typeface="Trebuchet MS"/>
              </a:rPr>
              <a:t>scored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40">
                <a:latin typeface="Trebuchet MS"/>
                <a:cs typeface="Trebuchet MS"/>
              </a:rPr>
              <a:t>371 </a:t>
            </a:r>
            <a:r>
              <a:rPr dirty="0" sz="2300" spc="75">
                <a:latin typeface="Trebuchet MS"/>
                <a:cs typeface="Trebuchet MS"/>
              </a:rPr>
              <a:t>runs.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Axar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Patel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is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selected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245">
                <a:latin typeface="Trebuchet MS"/>
                <a:cs typeface="Trebuchet MS"/>
              </a:rPr>
              <a:t>as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-20">
                <a:latin typeface="Trebuchet MS"/>
                <a:cs typeface="Trebuchet MS"/>
              </a:rPr>
              <a:t>all-</a:t>
            </a:r>
            <a:r>
              <a:rPr dirty="0" sz="2300" spc="114">
                <a:latin typeface="Trebuchet MS"/>
                <a:cs typeface="Trebuchet MS"/>
              </a:rPr>
              <a:t>rounder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175">
                <a:latin typeface="Trebuchet MS"/>
                <a:cs typeface="Trebuchet MS"/>
              </a:rPr>
              <a:t>because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he </a:t>
            </a:r>
            <a:r>
              <a:rPr dirty="0" sz="2300" spc="170">
                <a:latin typeface="Trebuchet MS"/>
                <a:cs typeface="Trebuchet MS"/>
              </a:rPr>
              <a:t>scored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165">
                <a:latin typeface="Trebuchet MS"/>
                <a:cs typeface="Trebuchet MS"/>
              </a:rPr>
              <a:t>345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85">
                <a:latin typeface="Trebuchet MS"/>
                <a:cs typeface="Trebuchet MS"/>
              </a:rPr>
              <a:t>runs,</a:t>
            </a:r>
            <a:r>
              <a:rPr dirty="0" sz="2300" spc="-160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took</a:t>
            </a:r>
            <a:r>
              <a:rPr dirty="0" sz="2300" spc="-165">
                <a:latin typeface="Trebuchet MS"/>
                <a:cs typeface="Trebuchet MS"/>
              </a:rPr>
              <a:t> </a:t>
            </a:r>
            <a:r>
              <a:rPr dirty="0" sz="2300" spc="165">
                <a:latin typeface="Trebuchet MS"/>
                <a:cs typeface="Trebuchet MS"/>
              </a:rPr>
              <a:t>4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catches,</a:t>
            </a:r>
            <a:r>
              <a:rPr dirty="0" sz="2300" spc="-16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90">
                <a:latin typeface="Trebuchet MS"/>
                <a:cs typeface="Trebuchet MS"/>
              </a:rPr>
              <a:t>claimed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65">
                <a:latin typeface="Trebuchet MS"/>
                <a:cs typeface="Trebuchet MS"/>
              </a:rPr>
              <a:t>4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45">
                <a:latin typeface="Trebuchet MS"/>
                <a:cs typeface="Trebuchet MS"/>
              </a:rPr>
              <a:t>wickets.</a:t>
            </a:r>
            <a:endParaRPr sz="2300">
              <a:latin typeface="Trebuchet MS"/>
              <a:cs typeface="Trebuchet MS"/>
            </a:endParaRPr>
          </a:p>
          <a:p>
            <a:pPr marL="12700" marR="619760">
              <a:lnSpc>
                <a:spcPts val="2770"/>
              </a:lnSpc>
              <a:spcBef>
                <a:spcPts val="95"/>
              </a:spcBef>
            </a:pPr>
            <a:r>
              <a:rPr dirty="0" sz="2300" spc="155">
                <a:latin typeface="Trebuchet MS"/>
                <a:cs typeface="Trebuchet MS"/>
              </a:rPr>
              <a:t>Mohammed</a:t>
            </a:r>
            <a:r>
              <a:rPr dirty="0" sz="2300" spc="-165">
                <a:latin typeface="Trebuchet MS"/>
                <a:cs typeface="Trebuchet MS"/>
              </a:rPr>
              <a:t> </a:t>
            </a:r>
            <a:r>
              <a:rPr dirty="0" sz="2300" spc="165">
                <a:latin typeface="Trebuchet MS"/>
                <a:cs typeface="Trebuchet MS"/>
              </a:rPr>
              <a:t>Shami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is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selected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245">
                <a:latin typeface="Trebuchet MS"/>
                <a:cs typeface="Trebuchet MS"/>
              </a:rPr>
              <a:t>as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bowler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175">
                <a:latin typeface="Trebuchet MS"/>
                <a:cs typeface="Trebuchet MS"/>
              </a:rPr>
              <a:t>because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he </a:t>
            </a:r>
            <a:r>
              <a:rPr dirty="0" sz="2300" spc="90">
                <a:latin typeface="Trebuchet MS"/>
                <a:cs typeface="Trebuchet MS"/>
              </a:rPr>
              <a:t>took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70">
                <a:latin typeface="Trebuchet MS"/>
                <a:cs typeface="Trebuchet MS"/>
              </a:rPr>
              <a:t>10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40">
                <a:latin typeface="Trebuchet MS"/>
                <a:cs typeface="Trebuchet MS"/>
              </a:rPr>
              <a:t>wickets.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36166" y="3393948"/>
            <a:ext cx="4139565" cy="838200"/>
          </a:xfrm>
          <a:custGeom>
            <a:avLst/>
            <a:gdLst/>
            <a:ahLst/>
            <a:cxnLst/>
            <a:rect l="l" t="t" r="r" b="b"/>
            <a:pathLst>
              <a:path w="4139565" h="838200">
                <a:moveTo>
                  <a:pt x="92773" y="196215"/>
                </a:moveTo>
                <a:lnTo>
                  <a:pt x="85344" y="196215"/>
                </a:lnTo>
                <a:lnTo>
                  <a:pt x="70379" y="152405"/>
                </a:lnTo>
                <a:lnTo>
                  <a:pt x="51780" y="106132"/>
                </a:lnTo>
                <a:lnTo>
                  <a:pt x="29555" y="57393"/>
                </a:lnTo>
                <a:lnTo>
                  <a:pt x="3714" y="6191"/>
                </a:lnTo>
                <a:lnTo>
                  <a:pt x="0" y="0"/>
                </a:lnTo>
                <a:lnTo>
                  <a:pt x="738949" y="0"/>
                </a:lnTo>
                <a:lnTo>
                  <a:pt x="735329" y="7048"/>
                </a:lnTo>
                <a:lnTo>
                  <a:pt x="732853" y="11810"/>
                </a:lnTo>
                <a:lnTo>
                  <a:pt x="731615" y="14096"/>
                </a:lnTo>
                <a:lnTo>
                  <a:pt x="710166" y="51816"/>
                </a:lnTo>
                <a:lnTo>
                  <a:pt x="489680" y="51816"/>
                </a:lnTo>
                <a:lnTo>
                  <a:pt x="475891" y="52064"/>
                </a:lnTo>
                <a:lnTo>
                  <a:pt x="462093" y="52661"/>
                </a:lnTo>
                <a:lnTo>
                  <a:pt x="448716" y="53567"/>
                </a:lnTo>
                <a:lnTo>
                  <a:pt x="434435" y="54863"/>
                </a:lnTo>
                <a:lnTo>
                  <a:pt x="245554" y="54863"/>
                </a:lnTo>
                <a:lnTo>
                  <a:pt x="177462" y="63019"/>
                </a:lnTo>
                <a:lnTo>
                  <a:pt x="131445" y="87249"/>
                </a:lnTo>
                <a:lnTo>
                  <a:pt x="104286" y="130659"/>
                </a:lnTo>
                <a:lnTo>
                  <a:pt x="96579" y="160677"/>
                </a:lnTo>
                <a:lnTo>
                  <a:pt x="92773" y="196215"/>
                </a:lnTo>
                <a:close/>
              </a:path>
              <a:path w="4139565" h="838200">
                <a:moveTo>
                  <a:pt x="769524" y="461867"/>
                </a:moveTo>
                <a:lnTo>
                  <a:pt x="760141" y="455675"/>
                </a:lnTo>
                <a:lnTo>
                  <a:pt x="760336" y="455675"/>
                </a:lnTo>
                <a:lnTo>
                  <a:pt x="781255" y="416126"/>
                </a:lnTo>
                <a:lnTo>
                  <a:pt x="807886" y="385500"/>
                </a:lnTo>
                <a:lnTo>
                  <a:pt x="840197" y="363911"/>
                </a:lnTo>
                <a:lnTo>
                  <a:pt x="878204" y="351377"/>
                </a:lnTo>
                <a:lnTo>
                  <a:pt x="878204" y="74961"/>
                </a:lnTo>
                <a:lnTo>
                  <a:pt x="795908" y="0"/>
                </a:lnTo>
                <a:lnTo>
                  <a:pt x="1084897" y="0"/>
                </a:lnTo>
                <a:lnTo>
                  <a:pt x="1001649" y="81724"/>
                </a:lnTo>
                <a:lnTo>
                  <a:pt x="1001649" y="347091"/>
                </a:lnTo>
                <a:lnTo>
                  <a:pt x="1008792" y="348272"/>
                </a:lnTo>
                <a:lnTo>
                  <a:pt x="1016508" y="349257"/>
                </a:lnTo>
                <a:lnTo>
                  <a:pt x="1024794" y="350064"/>
                </a:lnTo>
                <a:lnTo>
                  <a:pt x="1033653" y="350710"/>
                </a:lnTo>
                <a:lnTo>
                  <a:pt x="1050417" y="350710"/>
                </a:lnTo>
                <a:lnTo>
                  <a:pt x="1050417" y="351377"/>
                </a:lnTo>
                <a:lnTo>
                  <a:pt x="1094241" y="354580"/>
                </a:lnTo>
                <a:lnTo>
                  <a:pt x="1117401" y="355758"/>
                </a:lnTo>
                <a:lnTo>
                  <a:pt x="1137122" y="356346"/>
                </a:lnTo>
                <a:lnTo>
                  <a:pt x="1128806" y="356346"/>
                </a:lnTo>
                <a:lnTo>
                  <a:pt x="1396365" y="356616"/>
                </a:lnTo>
                <a:lnTo>
                  <a:pt x="1396365" y="409670"/>
                </a:lnTo>
                <a:lnTo>
                  <a:pt x="878204" y="409670"/>
                </a:lnTo>
                <a:lnTo>
                  <a:pt x="845645" y="412990"/>
                </a:lnTo>
                <a:lnTo>
                  <a:pt x="816685" y="422802"/>
                </a:lnTo>
                <a:lnTo>
                  <a:pt x="791314" y="439098"/>
                </a:lnTo>
                <a:lnTo>
                  <a:pt x="769524" y="461867"/>
                </a:lnTo>
                <a:close/>
              </a:path>
              <a:path w="4139565" h="838200">
                <a:moveTo>
                  <a:pt x="1396365" y="356616"/>
                </a:moveTo>
                <a:lnTo>
                  <a:pt x="1162526" y="356616"/>
                </a:lnTo>
                <a:lnTo>
                  <a:pt x="1193478" y="356346"/>
                </a:lnTo>
                <a:lnTo>
                  <a:pt x="1222188" y="355389"/>
                </a:lnTo>
                <a:lnTo>
                  <a:pt x="1248666" y="353736"/>
                </a:lnTo>
                <a:lnTo>
                  <a:pt x="1272921" y="351377"/>
                </a:lnTo>
                <a:lnTo>
                  <a:pt x="1272921" y="68770"/>
                </a:lnTo>
                <a:lnTo>
                  <a:pt x="1197673" y="0"/>
                </a:lnTo>
                <a:lnTo>
                  <a:pt x="1481042" y="0"/>
                </a:lnTo>
                <a:lnTo>
                  <a:pt x="1396365" y="81724"/>
                </a:lnTo>
                <a:lnTo>
                  <a:pt x="1396365" y="356616"/>
                </a:lnTo>
                <a:close/>
              </a:path>
              <a:path w="4139565" h="838200">
                <a:moveTo>
                  <a:pt x="1050417" y="350710"/>
                </a:moveTo>
                <a:lnTo>
                  <a:pt x="1033653" y="350710"/>
                </a:lnTo>
                <a:lnTo>
                  <a:pt x="1033653" y="87820"/>
                </a:lnTo>
                <a:lnTo>
                  <a:pt x="1101566" y="21526"/>
                </a:lnTo>
                <a:lnTo>
                  <a:pt x="1113853" y="32575"/>
                </a:lnTo>
                <a:lnTo>
                  <a:pt x="1050417" y="95250"/>
                </a:lnTo>
                <a:lnTo>
                  <a:pt x="1050417" y="350710"/>
                </a:lnTo>
                <a:close/>
              </a:path>
              <a:path w="4139565" h="838200">
                <a:moveTo>
                  <a:pt x="1545526" y="838200"/>
                </a:moveTo>
                <a:lnTo>
                  <a:pt x="1227010" y="838200"/>
                </a:lnTo>
                <a:lnTo>
                  <a:pt x="1211580" y="821435"/>
                </a:lnTo>
                <a:lnTo>
                  <a:pt x="1510474" y="821435"/>
                </a:lnTo>
                <a:lnTo>
                  <a:pt x="1428368" y="728757"/>
                </a:lnTo>
                <a:lnTo>
                  <a:pt x="1428368" y="89058"/>
                </a:lnTo>
                <a:lnTo>
                  <a:pt x="1496377" y="21526"/>
                </a:lnTo>
                <a:lnTo>
                  <a:pt x="1506188" y="34385"/>
                </a:lnTo>
                <a:lnTo>
                  <a:pt x="1443609" y="95250"/>
                </a:lnTo>
                <a:lnTo>
                  <a:pt x="1443609" y="721423"/>
                </a:lnTo>
                <a:lnTo>
                  <a:pt x="1545526" y="838200"/>
                </a:lnTo>
                <a:close/>
              </a:path>
              <a:path w="4139565" h="838200">
                <a:moveTo>
                  <a:pt x="686181" y="224027"/>
                </a:moveTo>
                <a:lnTo>
                  <a:pt x="672655" y="212407"/>
                </a:lnTo>
                <a:lnTo>
                  <a:pt x="674560" y="206787"/>
                </a:lnTo>
                <a:lnTo>
                  <a:pt x="697081" y="148030"/>
                </a:lnTo>
                <a:lnTo>
                  <a:pt x="719208" y="98917"/>
                </a:lnTo>
                <a:lnTo>
                  <a:pt x="740943" y="59447"/>
                </a:lnTo>
                <a:lnTo>
                  <a:pt x="762285" y="29622"/>
                </a:lnTo>
                <a:lnTo>
                  <a:pt x="765429" y="25908"/>
                </a:lnTo>
                <a:lnTo>
                  <a:pt x="777621" y="38290"/>
                </a:lnTo>
                <a:lnTo>
                  <a:pt x="756206" y="69868"/>
                </a:lnTo>
                <a:lnTo>
                  <a:pt x="734246" y="110323"/>
                </a:lnTo>
                <a:lnTo>
                  <a:pt x="711733" y="159671"/>
                </a:lnTo>
                <a:lnTo>
                  <a:pt x="688657" y="217932"/>
                </a:lnTo>
                <a:lnTo>
                  <a:pt x="686181" y="224027"/>
                </a:lnTo>
                <a:close/>
              </a:path>
              <a:path w="4139565" h="838200">
                <a:moveTo>
                  <a:pt x="648652" y="188785"/>
                </a:moveTo>
                <a:lnTo>
                  <a:pt x="642556" y="184499"/>
                </a:lnTo>
                <a:lnTo>
                  <a:pt x="640746" y="176498"/>
                </a:lnTo>
                <a:lnTo>
                  <a:pt x="630927" y="144047"/>
                </a:lnTo>
                <a:lnTo>
                  <a:pt x="605703" y="95535"/>
                </a:lnTo>
                <a:lnTo>
                  <a:pt x="571480" y="67179"/>
                </a:lnTo>
                <a:lnTo>
                  <a:pt x="548267" y="58578"/>
                </a:lnTo>
                <a:lnTo>
                  <a:pt x="547986" y="58578"/>
                </a:lnTo>
                <a:lnTo>
                  <a:pt x="521292" y="53567"/>
                </a:lnTo>
                <a:lnTo>
                  <a:pt x="489680" y="51816"/>
                </a:lnTo>
                <a:lnTo>
                  <a:pt x="710166" y="51816"/>
                </a:lnTo>
                <a:lnTo>
                  <a:pt x="689704" y="87820"/>
                </a:lnTo>
                <a:lnTo>
                  <a:pt x="679278" y="108544"/>
                </a:lnTo>
                <a:lnTo>
                  <a:pt x="669131" y="131861"/>
                </a:lnTo>
                <a:lnTo>
                  <a:pt x="659341" y="157589"/>
                </a:lnTo>
                <a:lnTo>
                  <a:pt x="649890" y="185737"/>
                </a:lnTo>
                <a:lnTo>
                  <a:pt x="648652" y="188785"/>
                </a:lnTo>
                <a:close/>
              </a:path>
              <a:path w="4139565" h="838200">
                <a:moveTo>
                  <a:pt x="427100" y="88677"/>
                </a:moveTo>
                <a:lnTo>
                  <a:pt x="305181" y="88677"/>
                </a:lnTo>
                <a:lnTo>
                  <a:pt x="305181" y="58578"/>
                </a:lnTo>
                <a:lnTo>
                  <a:pt x="289027" y="56937"/>
                </a:lnTo>
                <a:lnTo>
                  <a:pt x="288791" y="56937"/>
                </a:lnTo>
                <a:lnTo>
                  <a:pt x="274617" y="55864"/>
                </a:lnTo>
                <a:lnTo>
                  <a:pt x="259894" y="55149"/>
                </a:lnTo>
                <a:lnTo>
                  <a:pt x="245554" y="54863"/>
                </a:lnTo>
                <a:lnTo>
                  <a:pt x="427100" y="54863"/>
                </a:lnTo>
                <a:lnTo>
                  <a:pt x="427100" y="88677"/>
                </a:lnTo>
                <a:close/>
              </a:path>
              <a:path w="4139565" h="838200">
                <a:moveTo>
                  <a:pt x="573595" y="838200"/>
                </a:moveTo>
                <a:lnTo>
                  <a:pt x="259841" y="838200"/>
                </a:lnTo>
                <a:lnTo>
                  <a:pt x="245745" y="821435"/>
                </a:lnTo>
                <a:lnTo>
                  <a:pt x="539781" y="821435"/>
                </a:lnTo>
                <a:lnTo>
                  <a:pt x="457581" y="727519"/>
                </a:lnTo>
                <a:lnTo>
                  <a:pt x="457581" y="87820"/>
                </a:lnTo>
                <a:lnTo>
                  <a:pt x="490728" y="86867"/>
                </a:lnTo>
                <a:lnTo>
                  <a:pt x="541603" y="89368"/>
                </a:lnTo>
                <a:lnTo>
                  <a:pt x="586850" y="102602"/>
                </a:lnTo>
                <a:lnTo>
                  <a:pt x="588124" y="103632"/>
                </a:lnTo>
                <a:lnTo>
                  <a:pt x="502920" y="103632"/>
                </a:lnTo>
                <a:lnTo>
                  <a:pt x="495829" y="103810"/>
                </a:lnTo>
                <a:lnTo>
                  <a:pt x="488561" y="104203"/>
                </a:lnTo>
                <a:lnTo>
                  <a:pt x="481113" y="104810"/>
                </a:lnTo>
                <a:lnTo>
                  <a:pt x="473639" y="105615"/>
                </a:lnTo>
                <a:lnTo>
                  <a:pt x="473718" y="163115"/>
                </a:lnTo>
                <a:lnTo>
                  <a:pt x="475937" y="716089"/>
                </a:lnTo>
                <a:lnTo>
                  <a:pt x="475964" y="722661"/>
                </a:lnTo>
                <a:lnTo>
                  <a:pt x="573595" y="838200"/>
                </a:lnTo>
                <a:close/>
              </a:path>
              <a:path w="4139565" h="838200">
                <a:moveTo>
                  <a:pt x="140017" y="216408"/>
                </a:moveTo>
                <a:lnTo>
                  <a:pt x="124015" y="216408"/>
                </a:lnTo>
                <a:lnTo>
                  <a:pt x="128908" y="183386"/>
                </a:lnTo>
                <a:lnTo>
                  <a:pt x="147482" y="133522"/>
                </a:lnTo>
                <a:lnTo>
                  <a:pt x="178845" y="104358"/>
                </a:lnTo>
                <a:lnTo>
                  <a:pt x="229033" y="90213"/>
                </a:lnTo>
                <a:lnTo>
                  <a:pt x="261556" y="88391"/>
                </a:lnTo>
                <a:lnTo>
                  <a:pt x="427100" y="88677"/>
                </a:lnTo>
                <a:lnTo>
                  <a:pt x="427100" y="103632"/>
                </a:lnTo>
                <a:lnTo>
                  <a:pt x="261556" y="103632"/>
                </a:lnTo>
                <a:lnTo>
                  <a:pt x="232250" y="105255"/>
                </a:lnTo>
                <a:lnTo>
                  <a:pt x="187283" y="117789"/>
                </a:lnTo>
                <a:lnTo>
                  <a:pt x="150364" y="163115"/>
                </a:lnTo>
                <a:lnTo>
                  <a:pt x="143820" y="187404"/>
                </a:lnTo>
                <a:lnTo>
                  <a:pt x="140017" y="216408"/>
                </a:lnTo>
                <a:close/>
              </a:path>
              <a:path w="4139565" h="838200">
                <a:moveTo>
                  <a:pt x="499491" y="787908"/>
                </a:moveTo>
                <a:lnTo>
                  <a:pt x="219170" y="787908"/>
                </a:lnTo>
                <a:lnTo>
                  <a:pt x="305181" y="716089"/>
                </a:lnTo>
                <a:lnTo>
                  <a:pt x="305181" y="104679"/>
                </a:lnTo>
                <a:lnTo>
                  <a:pt x="261556" y="103632"/>
                </a:lnTo>
                <a:lnTo>
                  <a:pt x="427100" y="103632"/>
                </a:lnTo>
                <a:lnTo>
                  <a:pt x="427100" y="721042"/>
                </a:lnTo>
                <a:lnTo>
                  <a:pt x="499491" y="787908"/>
                </a:lnTo>
                <a:close/>
              </a:path>
              <a:path w="4139565" h="838200">
                <a:moveTo>
                  <a:pt x="613505" y="134588"/>
                </a:moveTo>
                <a:lnTo>
                  <a:pt x="588859" y="121085"/>
                </a:lnTo>
                <a:lnTo>
                  <a:pt x="562213" y="111430"/>
                </a:lnTo>
                <a:lnTo>
                  <a:pt x="533566" y="105615"/>
                </a:lnTo>
                <a:lnTo>
                  <a:pt x="502920" y="103632"/>
                </a:lnTo>
                <a:lnTo>
                  <a:pt x="588124" y="103632"/>
                </a:lnTo>
                <a:lnTo>
                  <a:pt x="597169" y="110942"/>
                </a:lnTo>
                <a:lnTo>
                  <a:pt x="606060" y="121604"/>
                </a:lnTo>
                <a:lnTo>
                  <a:pt x="613505" y="134588"/>
                </a:lnTo>
                <a:close/>
              </a:path>
              <a:path w="4139565" h="838200">
                <a:moveTo>
                  <a:pt x="795908" y="488251"/>
                </a:moveTo>
                <a:lnTo>
                  <a:pt x="824626" y="447365"/>
                </a:lnTo>
                <a:lnTo>
                  <a:pt x="878204" y="432434"/>
                </a:lnTo>
                <a:lnTo>
                  <a:pt x="878204" y="409670"/>
                </a:lnTo>
                <a:lnTo>
                  <a:pt x="1396365" y="409670"/>
                </a:lnTo>
                <a:lnTo>
                  <a:pt x="1396365" y="417004"/>
                </a:lnTo>
                <a:lnTo>
                  <a:pt x="1001649" y="417004"/>
                </a:lnTo>
                <a:lnTo>
                  <a:pt x="1001649" y="447770"/>
                </a:lnTo>
                <a:lnTo>
                  <a:pt x="878204" y="447770"/>
                </a:lnTo>
                <a:lnTo>
                  <a:pt x="853719" y="450358"/>
                </a:lnTo>
                <a:lnTo>
                  <a:pt x="831842" y="457973"/>
                </a:lnTo>
                <a:lnTo>
                  <a:pt x="812571" y="470607"/>
                </a:lnTo>
                <a:lnTo>
                  <a:pt x="795908" y="488251"/>
                </a:lnTo>
                <a:close/>
              </a:path>
              <a:path w="4139565" h="838200">
                <a:moveTo>
                  <a:pt x="1142456" y="425142"/>
                </a:moveTo>
                <a:lnTo>
                  <a:pt x="1118943" y="425142"/>
                </a:lnTo>
                <a:lnTo>
                  <a:pt x="1096767" y="424733"/>
                </a:lnTo>
                <a:lnTo>
                  <a:pt x="1099879" y="424733"/>
                </a:lnTo>
                <a:lnTo>
                  <a:pt x="1088796" y="424285"/>
                </a:lnTo>
                <a:lnTo>
                  <a:pt x="1077849" y="423481"/>
                </a:lnTo>
                <a:lnTo>
                  <a:pt x="1015746" y="418242"/>
                </a:lnTo>
                <a:lnTo>
                  <a:pt x="1013269" y="417957"/>
                </a:lnTo>
                <a:lnTo>
                  <a:pt x="1001649" y="417004"/>
                </a:lnTo>
                <a:lnTo>
                  <a:pt x="1272921" y="417004"/>
                </a:lnTo>
                <a:lnTo>
                  <a:pt x="1242847" y="420628"/>
                </a:lnTo>
                <a:lnTo>
                  <a:pt x="1210353" y="423207"/>
                </a:lnTo>
                <a:lnTo>
                  <a:pt x="1175449" y="424733"/>
                </a:lnTo>
                <a:lnTo>
                  <a:pt x="1142456" y="425142"/>
                </a:lnTo>
                <a:close/>
              </a:path>
              <a:path w="4139565" h="838200">
                <a:moveTo>
                  <a:pt x="1470659" y="787908"/>
                </a:moveTo>
                <a:lnTo>
                  <a:pt x="1188434" y="787908"/>
                </a:lnTo>
                <a:lnTo>
                  <a:pt x="1272921" y="716089"/>
                </a:lnTo>
                <a:lnTo>
                  <a:pt x="1272921" y="455675"/>
                </a:lnTo>
                <a:lnTo>
                  <a:pt x="1169669" y="455675"/>
                </a:lnTo>
                <a:lnTo>
                  <a:pt x="1198407" y="454695"/>
                </a:lnTo>
                <a:lnTo>
                  <a:pt x="1225188" y="451615"/>
                </a:lnTo>
                <a:lnTo>
                  <a:pt x="1250023" y="446447"/>
                </a:lnTo>
                <a:lnTo>
                  <a:pt x="1273235" y="439098"/>
                </a:lnTo>
                <a:lnTo>
                  <a:pt x="1272921" y="439098"/>
                </a:lnTo>
                <a:lnTo>
                  <a:pt x="1272921" y="417004"/>
                </a:lnTo>
                <a:lnTo>
                  <a:pt x="1396365" y="417004"/>
                </a:lnTo>
                <a:lnTo>
                  <a:pt x="1396365" y="721613"/>
                </a:lnTo>
                <a:lnTo>
                  <a:pt x="1470659" y="787908"/>
                </a:lnTo>
                <a:close/>
              </a:path>
              <a:path w="4139565" h="838200">
                <a:moveTo>
                  <a:pt x="1079944" y="787908"/>
                </a:moveTo>
                <a:lnTo>
                  <a:pt x="795908" y="787908"/>
                </a:lnTo>
                <a:lnTo>
                  <a:pt x="878204" y="716089"/>
                </a:lnTo>
                <a:lnTo>
                  <a:pt x="878204" y="447770"/>
                </a:lnTo>
                <a:lnTo>
                  <a:pt x="1001649" y="447770"/>
                </a:lnTo>
                <a:lnTo>
                  <a:pt x="1001649" y="721613"/>
                </a:lnTo>
                <a:lnTo>
                  <a:pt x="1079944" y="787908"/>
                </a:lnTo>
                <a:close/>
              </a:path>
              <a:path w="4139565" h="838200">
                <a:moveTo>
                  <a:pt x="1152048" y="838200"/>
                </a:moveTo>
                <a:lnTo>
                  <a:pt x="834008" y="838200"/>
                </a:lnTo>
                <a:lnTo>
                  <a:pt x="818007" y="821435"/>
                </a:lnTo>
                <a:lnTo>
                  <a:pt x="1118139" y="821435"/>
                </a:lnTo>
                <a:lnTo>
                  <a:pt x="1033653" y="730186"/>
                </a:lnTo>
                <a:lnTo>
                  <a:pt x="1033653" y="447770"/>
                </a:lnTo>
                <a:lnTo>
                  <a:pt x="1089584" y="452032"/>
                </a:lnTo>
                <a:lnTo>
                  <a:pt x="1121937" y="454104"/>
                </a:lnTo>
                <a:lnTo>
                  <a:pt x="1148630" y="455318"/>
                </a:lnTo>
                <a:lnTo>
                  <a:pt x="1169669" y="455675"/>
                </a:lnTo>
                <a:lnTo>
                  <a:pt x="1273384" y="455675"/>
                </a:lnTo>
                <a:lnTo>
                  <a:pt x="1246849" y="461130"/>
                </a:lnTo>
                <a:lnTo>
                  <a:pt x="1241711" y="461867"/>
                </a:lnTo>
                <a:lnTo>
                  <a:pt x="1050417" y="461867"/>
                </a:lnTo>
                <a:lnTo>
                  <a:pt x="1050417" y="721613"/>
                </a:lnTo>
                <a:lnTo>
                  <a:pt x="1152048" y="838200"/>
                </a:lnTo>
                <a:close/>
              </a:path>
              <a:path w="4139565" h="838200">
                <a:moveTo>
                  <a:pt x="1166241" y="467867"/>
                </a:moveTo>
                <a:lnTo>
                  <a:pt x="1140147" y="467582"/>
                </a:lnTo>
                <a:lnTo>
                  <a:pt x="1113579" y="466582"/>
                </a:lnTo>
                <a:lnTo>
                  <a:pt x="1086530" y="464867"/>
                </a:lnTo>
                <a:lnTo>
                  <a:pt x="1058989" y="462438"/>
                </a:lnTo>
                <a:lnTo>
                  <a:pt x="1050417" y="461867"/>
                </a:lnTo>
                <a:lnTo>
                  <a:pt x="1241711" y="461867"/>
                </a:lnTo>
                <a:lnTo>
                  <a:pt x="1220782" y="464867"/>
                </a:lnTo>
                <a:lnTo>
                  <a:pt x="1221080" y="464867"/>
                </a:lnTo>
                <a:lnTo>
                  <a:pt x="1193491" y="467170"/>
                </a:lnTo>
                <a:lnTo>
                  <a:pt x="1166241" y="467867"/>
                </a:lnTo>
                <a:close/>
              </a:path>
              <a:path w="4139565" h="838200">
                <a:moveTo>
                  <a:pt x="1894165" y="299720"/>
                </a:moveTo>
                <a:lnTo>
                  <a:pt x="1837943" y="299720"/>
                </a:lnTo>
                <a:lnTo>
                  <a:pt x="1921383" y="69850"/>
                </a:lnTo>
                <a:lnTo>
                  <a:pt x="1856327" y="0"/>
                </a:lnTo>
                <a:lnTo>
                  <a:pt x="2139315" y="0"/>
                </a:lnTo>
                <a:lnTo>
                  <a:pt x="2075497" y="72390"/>
                </a:lnTo>
                <a:lnTo>
                  <a:pt x="2095633" y="125730"/>
                </a:lnTo>
                <a:lnTo>
                  <a:pt x="1960054" y="125730"/>
                </a:lnTo>
                <a:lnTo>
                  <a:pt x="1894165" y="299720"/>
                </a:lnTo>
                <a:close/>
              </a:path>
              <a:path w="4139565" h="838200">
                <a:moveTo>
                  <a:pt x="2838164" y="838200"/>
                </a:moveTo>
                <a:lnTo>
                  <a:pt x="2504122" y="838200"/>
                </a:lnTo>
                <a:lnTo>
                  <a:pt x="2494311" y="820420"/>
                </a:lnTo>
                <a:lnTo>
                  <a:pt x="2803112" y="820420"/>
                </a:lnTo>
                <a:lnTo>
                  <a:pt x="2771203" y="787400"/>
                </a:lnTo>
                <a:lnTo>
                  <a:pt x="2483929" y="787400"/>
                </a:lnTo>
                <a:lnTo>
                  <a:pt x="2518219" y="772160"/>
                </a:lnTo>
                <a:lnTo>
                  <a:pt x="2546223" y="755650"/>
                </a:lnTo>
                <a:lnTo>
                  <a:pt x="2583370" y="715010"/>
                </a:lnTo>
                <a:lnTo>
                  <a:pt x="2601801" y="652780"/>
                </a:lnTo>
                <a:lnTo>
                  <a:pt x="2606409" y="609600"/>
                </a:lnTo>
                <a:lnTo>
                  <a:pt x="2607752" y="565150"/>
                </a:lnTo>
                <a:lnTo>
                  <a:pt x="2607868" y="561340"/>
                </a:lnTo>
                <a:lnTo>
                  <a:pt x="2607944" y="67310"/>
                </a:lnTo>
                <a:lnTo>
                  <a:pt x="2526220" y="0"/>
                </a:lnTo>
                <a:lnTo>
                  <a:pt x="2838164" y="0"/>
                </a:lnTo>
                <a:lnTo>
                  <a:pt x="2750915" y="57150"/>
                </a:lnTo>
                <a:lnTo>
                  <a:pt x="2788668" y="130810"/>
                </a:lnTo>
                <a:lnTo>
                  <a:pt x="2658236" y="130810"/>
                </a:lnTo>
                <a:lnTo>
                  <a:pt x="2658328" y="488950"/>
                </a:lnTo>
                <a:lnTo>
                  <a:pt x="2659582" y="558800"/>
                </a:lnTo>
                <a:lnTo>
                  <a:pt x="2659628" y="561340"/>
                </a:lnTo>
                <a:lnTo>
                  <a:pt x="2663797" y="623570"/>
                </a:lnTo>
                <a:lnTo>
                  <a:pt x="2670734" y="670560"/>
                </a:lnTo>
                <a:lnTo>
                  <a:pt x="2695307" y="728980"/>
                </a:lnTo>
                <a:lnTo>
                  <a:pt x="2747456" y="767080"/>
                </a:lnTo>
                <a:lnTo>
                  <a:pt x="2784729" y="781050"/>
                </a:lnTo>
                <a:lnTo>
                  <a:pt x="2838164" y="838200"/>
                </a:lnTo>
                <a:close/>
              </a:path>
              <a:path w="4139565" h="838200">
                <a:moveTo>
                  <a:pt x="3101721" y="530860"/>
                </a:moveTo>
                <a:lnTo>
                  <a:pt x="3048381" y="530860"/>
                </a:lnTo>
                <a:lnTo>
                  <a:pt x="3048266" y="205740"/>
                </a:lnTo>
                <a:lnTo>
                  <a:pt x="3047290" y="162560"/>
                </a:lnTo>
                <a:lnTo>
                  <a:pt x="3044011" y="121920"/>
                </a:lnTo>
                <a:lnTo>
                  <a:pt x="3030855" y="68580"/>
                </a:lnTo>
                <a:lnTo>
                  <a:pt x="3000518" y="33020"/>
                </a:lnTo>
                <a:lnTo>
                  <a:pt x="2944463" y="0"/>
                </a:lnTo>
                <a:lnTo>
                  <a:pt x="3222593" y="0"/>
                </a:lnTo>
                <a:lnTo>
                  <a:pt x="3165098" y="34290"/>
                </a:lnTo>
                <a:lnTo>
                  <a:pt x="3132391" y="66040"/>
                </a:lnTo>
                <a:lnTo>
                  <a:pt x="3109412" y="124460"/>
                </a:lnTo>
                <a:lnTo>
                  <a:pt x="3103647" y="162560"/>
                </a:lnTo>
                <a:lnTo>
                  <a:pt x="3101777" y="204470"/>
                </a:lnTo>
                <a:lnTo>
                  <a:pt x="3101721" y="530860"/>
                </a:lnTo>
                <a:close/>
              </a:path>
              <a:path w="4139565" h="838200">
                <a:moveTo>
                  <a:pt x="2287285" y="339090"/>
                </a:moveTo>
                <a:lnTo>
                  <a:pt x="2176176" y="339090"/>
                </a:lnTo>
                <a:lnTo>
                  <a:pt x="2200751" y="326390"/>
                </a:lnTo>
                <a:lnTo>
                  <a:pt x="2109882" y="83820"/>
                </a:lnTo>
                <a:lnTo>
                  <a:pt x="2174938" y="8890"/>
                </a:lnTo>
                <a:lnTo>
                  <a:pt x="2190940" y="16510"/>
                </a:lnTo>
                <a:lnTo>
                  <a:pt x="2128932" y="87630"/>
                </a:lnTo>
                <a:lnTo>
                  <a:pt x="2214848" y="317500"/>
                </a:lnTo>
                <a:lnTo>
                  <a:pt x="2279974" y="317500"/>
                </a:lnTo>
                <a:lnTo>
                  <a:pt x="2287285" y="339090"/>
                </a:lnTo>
                <a:close/>
              </a:path>
              <a:path w="4139565" h="838200">
                <a:moveTo>
                  <a:pt x="3101721" y="637540"/>
                </a:moveTo>
                <a:lnTo>
                  <a:pt x="3048381" y="637540"/>
                </a:lnTo>
                <a:lnTo>
                  <a:pt x="3048381" y="563880"/>
                </a:lnTo>
                <a:lnTo>
                  <a:pt x="2793301" y="67310"/>
                </a:lnTo>
                <a:lnTo>
                  <a:pt x="2879312" y="8890"/>
                </a:lnTo>
                <a:lnTo>
                  <a:pt x="2891027" y="20320"/>
                </a:lnTo>
                <a:lnTo>
                  <a:pt x="2814827" y="72390"/>
                </a:lnTo>
                <a:lnTo>
                  <a:pt x="3048381" y="530860"/>
                </a:lnTo>
                <a:lnTo>
                  <a:pt x="3101721" y="530860"/>
                </a:lnTo>
                <a:lnTo>
                  <a:pt x="3101721" y="637540"/>
                </a:lnTo>
                <a:close/>
              </a:path>
              <a:path w="4139565" h="838200">
                <a:moveTo>
                  <a:pt x="3152013" y="838200"/>
                </a:moveTo>
                <a:lnTo>
                  <a:pt x="3019806" y="838200"/>
                </a:lnTo>
                <a:lnTo>
                  <a:pt x="3011805" y="820420"/>
                </a:lnTo>
                <a:lnTo>
                  <a:pt x="3135249" y="820420"/>
                </a:lnTo>
                <a:lnTo>
                  <a:pt x="3135249" y="210820"/>
                </a:lnTo>
                <a:lnTo>
                  <a:pt x="3136570" y="172720"/>
                </a:lnTo>
                <a:lnTo>
                  <a:pt x="3136658" y="170180"/>
                </a:lnTo>
                <a:lnTo>
                  <a:pt x="3140880" y="137160"/>
                </a:lnTo>
                <a:lnTo>
                  <a:pt x="3157727" y="90170"/>
                </a:lnTo>
                <a:lnTo>
                  <a:pt x="3190517" y="62230"/>
                </a:lnTo>
                <a:lnTo>
                  <a:pt x="3244024" y="44450"/>
                </a:lnTo>
                <a:lnTo>
                  <a:pt x="3232975" y="63500"/>
                </a:lnTo>
                <a:lnTo>
                  <a:pt x="3211279" y="69850"/>
                </a:lnTo>
                <a:lnTo>
                  <a:pt x="3193351" y="78740"/>
                </a:lnTo>
                <a:lnTo>
                  <a:pt x="3161496" y="121920"/>
                </a:lnTo>
                <a:lnTo>
                  <a:pt x="3153066" y="171450"/>
                </a:lnTo>
                <a:lnTo>
                  <a:pt x="3152013" y="204470"/>
                </a:lnTo>
                <a:lnTo>
                  <a:pt x="3152013" y="838200"/>
                </a:lnTo>
                <a:close/>
              </a:path>
              <a:path w="4139565" h="838200">
                <a:moveTo>
                  <a:pt x="2066028" y="524510"/>
                </a:moveTo>
                <a:lnTo>
                  <a:pt x="1977294" y="524510"/>
                </a:lnTo>
                <a:lnTo>
                  <a:pt x="1981009" y="521970"/>
                </a:lnTo>
                <a:lnTo>
                  <a:pt x="1983009" y="519430"/>
                </a:lnTo>
                <a:lnTo>
                  <a:pt x="1983390" y="518160"/>
                </a:lnTo>
                <a:lnTo>
                  <a:pt x="1991963" y="508000"/>
                </a:lnTo>
                <a:lnTo>
                  <a:pt x="1993296" y="506730"/>
                </a:lnTo>
                <a:lnTo>
                  <a:pt x="1995487" y="504190"/>
                </a:lnTo>
                <a:lnTo>
                  <a:pt x="1976401" y="467360"/>
                </a:lnTo>
                <a:lnTo>
                  <a:pt x="1952291" y="436880"/>
                </a:lnTo>
                <a:lnTo>
                  <a:pt x="1926395" y="407670"/>
                </a:lnTo>
                <a:lnTo>
                  <a:pt x="1898713" y="379730"/>
                </a:lnTo>
                <a:lnTo>
                  <a:pt x="1977294" y="172720"/>
                </a:lnTo>
                <a:lnTo>
                  <a:pt x="1960054" y="125730"/>
                </a:lnTo>
                <a:lnTo>
                  <a:pt x="2095633" y="125730"/>
                </a:lnTo>
                <a:lnTo>
                  <a:pt x="2122481" y="196850"/>
                </a:lnTo>
                <a:lnTo>
                  <a:pt x="1987676" y="196850"/>
                </a:lnTo>
                <a:lnTo>
                  <a:pt x="1920144" y="374650"/>
                </a:lnTo>
                <a:lnTo>
                  <a:pt x="1923859" y="378460"/>
                </a:lnTo>
                <a:lnTo>
                  <a:pt x="1925955" y="381000"/>
                </a:lnTo>
                <a:lnTo>
                  <a:pt x="1926335" y="382270"/>
                </a:lnTo>
                <a:lnTo>
                  <a:pt x="1951482" y="410210"/>
                </a:lnTo>
                <a:lnTo>
                  <a:pt x="1962319" y="422910"/>
                </a:lnTo>
                <a:lnTo>
                  <a:pt x="1974532" y="438150"/>
                </a:lnTo>
                <a:lnTo>
                  <a:pt x="1988102" y="457200"/>
                </a:lnTo>
                <a:lnTo>
                  <a:pt x="2003012" y="478790"/>
                </a:lnTo>
                <a:lnTo>
                  <a:pt x="2009203" y="487680"/>
                </a:lnTo>
                <a:lnTo>
                  <a:pt x="2232102" y="487680"/>
                </a:lnTo>
                <a:lnTo>
                  <a:pt x="2234902" y="495300"/>
                </a:lnTo>
                <a:lnTo>
                  <a:pt x="2098167" y="495300"/>
                </a:lnTo>
                <a:lnTo>
                  <a:pt x="2066028" y="524510"/>
                </a:lnTo>
                <a:close/>
              </a:path>
              <a:path w="4139565" h="838200">
                <a:moveTo>
                  <a:pt x="2776061" y="769620"/>
                </a:moveTo>
                <a:lnTo>
                  <a:pt x="2739181" y="748030"/>
                </a:lnTo>
                <a:lnTo>
                  <a:pt x="2712839" y="709930"/>
                </a:lnTo>
                <a:lnTo>
                  <a:pt x="2697033" y="656590"/>
                </a:lnTo>
                <a:lnTo>
                  <a:pt x="2692057" y="591820"/>
                </a:lnTo>
                <a:lnTo>
                  <a:pt x="2691960" y="590550"/>
                </a:lnTo>
                <a:lnTo>
                  <a:pt x="2691862" y="589280"/>
                </a:lnTo>
                <a:lnTo>
                  <a:pt x="2691765" y="194310"/>
                </a:lnTo>
                <a:lnTo>
                  <a:pt x="2658236" y="130810"/>
                </a:lnTo>
                <a:lnTo>
                  <a:pt x="2788668" y="130810"/>
                </a:lnTo>
                <a:lnTo>
                  <a:pt x="2836835" y="224790"/>
                </a:lnTo>
                <a:lnTo>
                  <a:pt x="2708529" y="224790"/>
                </a:lnTo>
                <a:lnTo>
                  <a:pt x="2708529" y="585470"/>
                </a:lnTo>
                <a:lnTo>
                  <a:pt x="2715195" y="673100"/>
                </a:lnTo>
                <a:lnTo>
                  <a:pt x="2715291" y="674370"/>
                </a:lnTo>
                <a:lnTo>
                  <a:pt x="2723398" y="703580"/>
                </a:lnTo>
                <a:lnTo>
                  <a:pt x="2735425" y="727710"/>
                </a:lnTo>
                <a:lnTo>
                  <a:pt x="2751363" y="748030"/>
                </a:lnTo>
                <a:lnTo>
                  <a:pt x="2771203" y="764540"/>
                </a:lnTo>
                <a:lnTo>
                  <a:pt x="2776061" y="769620"/>
                </a:lnTo>
                <a:close/>
              </a:path>
              <a:path w="4139565" h="838200">
                <a:moveTo>
                  <a:pt x="2232102" y="487680"/>
                </a:moveTo>
                <a:lnTo>
                  <a:pt x="2009203" y="487680"/>
                </a:lnTo>
                <a:lnTo>
                  <a:pt x="2023026" y="471170"/>
                </a:lnTo>
                <a:lnTo>
                  <a:pt x="2054316" y="439420"/>
                </a:lnTo>
                <a:lnTo>
                  <a:pt x="2071782" y="422910"/>
                </a:lnTo>
                <a:lnTo>
                  <a:pt x="1987676" y="196850"/>
                </a:lnTo>
                <a:lnTo>
                  <a:pt x="2122481" y="196850"/>
                </a:lnTo>
                <a:lnTo>
                  <a:pt x="2176176" y="339090"/>
                </a:lnTo>
                <a:lnTo>
                  <a:pt x="2287285" y="339090"/>
                </a:lnTo>
                <a:lnTo>
                  <a:pt x="2300612" y="368300"/>
                </a:lnTo>
                <a:lnTo>
                  <a:pt x="2315425" y="396240"/>
                </a:lnTo>
                <a:lnTo>
                  <a:pt x="2263183" y="396240"/>
                </a:lnTo>
                <a:lnTo>
                  <a:pt x="2239887" y="400050"/>
                </a:lnTo>
                <a:lnTo>
                  <a:pt x="2220502" y="406400"/>
                </a:lnTo>
                <a:lnTo>
                  <a:pt x="2205037" y="414020"/>
                </a:lnTo>
                <a:lnTo>
                  <a:pt x="2232102" y="487680"/>
                </a:lnTo>
                <a:close/>
              </a:path>
              <a:path w="4139565" h="838200">
                <a:moveTo>
                  <a:pt x="3101721" y="787400"/>
                </a:moveTo>
                <a:lnTo>
                  <a:pt x="2998565" y="787400"/>
                </a:lnTo>
                <a:lnTo>
                  <a:pt x="2708529" y="224790"/>
                </a:lnTo>
                <a:lnTo>
                  <a:pt x="2836835" y="224790"/>
                </a:lnTo>
                <a:lnTo>
                  <a:pt x="3048381" y="637540"/>
                </a:lnTo>
                <a:lnTo>
                  <a:pt x="3101721" y="637540"/>
                </a:lnTo>
                <a:lnTo>
                  <a:pt x="3101721" y="787400"/>
                </a:lnTo>
                <a:close/>
              </a:path>
              <a:path w="4139565" h="838200">
                <a:moveTo>
                  <a:pt x="1877332" y="344170"/>
                </a:moveTo>
                <a:lnTo>
                  <a:pt x="1818893" y="344170"/>
                </a:lnTo>
                <a:lnTo>
                  <a:pt x="1829943" y="317500"/>
                </a:lnTo>
                <a:lnTo>
                  <a:pt x="1807858" y="298450"/>
                </a:lnTo>
                <a:lnTo>
                  <a:pt x="1794331" y="287020"/>
                </a:lnTo>
                <a:lnTo>
                  <a:pt x="1782036" y="275590"/>
                </a:lnTo>
                <a:lnTo>
                  <a:pt x="1770983" y="266700"/>
                </a:lnTo>
                <a:lnTo>
                  <a:pt x="1765458" y="262890"/>
                </a:lnTo>
                <a:lnTo>
                  <a:pt x="1775269" y="248920"/>
                </a:lnTo>
                <a:lnTo>
                  <a:pt x="1791411" y="260350"/>
                </a:lnTo>
                <a:lnTo>
                  <a:pt x="1807249" y="273050"/>
                </a:lnTo>
                <a:lnTo>
                  <a:pt x="1822766" y="285750"/>
                </a:lnTo>
                <a:lnTo>
                  <a:pt x="1837943" y="299720"/>
                </a:lnTo>
                <a:lnTo>
                  <a:pt x="1894165" y="299720"/>
                </a:lnTo>
                <a:lnTo>
                  <a:pt x="1877332" y="344170"/>
                </a:lnTo>
                <a:close/>
              </a:path>
              <a:path w="4139565" h="838200">
                <a:moveTo>
                  <a:pt x="2279974" y="317500"/>
                </a:moveTo>
                <a:lnTo>
                  <a:pt x="2214848" y="317500"/>
                </a:lnTo>
                <a:lnTo>
                  <a:pt x="2219801" y="313690"/>
                </a:lnTo>
                <a:lnTo>
                  <a:pt x="2222658" y="311150"/>
                </a:lnTo>
                <a:lnTo>
                  <a:pt x="2223420" y="309880"/>
                </a:lnTo>
                <a:lnTo>
                  <a:pt x="2243709" y="293370"/>
                </a:lnTo>
                <a:lnTo>
                  <a:pt x="2252083" y="285750"/>
                </a:lnTo>
                <a:lnTo>
                  <a:pt x="2258770" y="280670"/>
                </a:lnTo>
                <a:lnTo>
                  <a:pt x="2263760" y="275590"/>
                </a:lnTo>
                <a:lnTo>
                  <a:pt x="2267045" y="271780"/>
                </a:lnTo>
                <a:lnTo>
                  <a:pt x="2276103" y="306070"/>
                </a:lnTo>
                <a:lnTo>
                  <a:pt x="2279974" y="317500"/>
                </a:lnTo>
                <a:close/>
              </a:path>
              <a:path w="4139565" h="838200">
                <a:moveTo>
                  <a:pt x="1852612" y="787400"/>
                </a:moveTo>
                <a:lnTo>
                  <a:pt x="1545717" y="787400"/>
                </a:lnTo>
                <a:lnTo>
                  <a:pt x="1587310" y="763270"/>
                </a:lnTo>
                <a:lnTo>
                  <a:pt x="1624357" y="734060"/>
                </a:lnTo>
                <a:lnTo>
                  <a:pt x="1656851" y="701040"/>
                </a:lnTo>
                <a:lnTo>
                  <a:pt x="1684782" y="665480"/>
                </a:lnTo>
                <a:lnTo>
                  <a:pt x="1705253" y="631190"/>
                </a:lnTo>
                <a:lnTo>
                  <a:pt x="1725638" y="590550"/>
                </a:lnTo>
                <a:lnTo>
                  <a:pt x="1745941" y="543560"/>
                </a:lnTo>
                <a:lnTo>
                  <a:pt x="1766166" y="488950"/>
                </a:lnTo>
                <a:lnTo>
                  <a:pt x="1786318" y="427990"/>
                </a:lnTo>
                <a:lnTo>
                  <a:pt x="1788794" y="419100"/>
                </a:lnTo>
                <a:lnTo>
                  <a:pt x="1770718" y="407670"/>
                </a:lnTo>
                <a:lnTo>
                  <a:pt x="1749051" y="397510"/>
                </a:lnTo>
                <a:lnTo>
                  <a:pt x="1723777" y="389890"/>
                </a:lnTo>
                <a:lnTo>
                  <a:pt x="1694878" y="386080"/>
                </a:lnTo>
                <a:lnTo>
                  <a:pt x="1710789" y="360680"/>
                </a:lnTo>
                <a:lnTo>
                  <a:pt x="1724798" y="334010"/>
                </a:lnTo>
                <a:lnTo>
                  <a:pt x="1736897" y="307340"/>
                </a:lnTo>
                <a:lnTo>
                  <a:pt x="1747075" y="280670"/>
                </a:lnTo>
                <a:lnTo>
                  <a:pt x="1752790" y="285750"/>
                </a:lnTo>
                <a:lnTo>
                  <a:pt x="1756314" y="289560"/>
                </a:lnTo>
                <a:lnTo>
                  <a:pt x="1757457" y="290830"/>
                </a:lnTo>
                <a:lnTo>
                  <a:pt x="1785080" y="316230"/>
                </a:lnTo>
                <a:lnTo>
                  <a:pt x="1792547" y="323850"/>
                </a:lnTo>
                <a:lnTo>
                  <a:pt x="1800665" y="330200"/>
                </a:lnTo>
                <a:lnTo>
                  <a:pt x="1809444" y="336550"/>
                </a:lnTo>
                <a:lnTo>
                  <a:pt x="1818893" y="344170"/>
                </a:lnTo>
                <a:lnTo>
                  <a:pt x="1877332" y="344170"/>
                </a:lnTo>
                <a:lnTo>
                  <a:pt x="1862423" y="383540"/>
                </a:lnTo>
                <a:lnTo>
                  <a:pt x="1884978" y="407670"/>
                </a:lnTo>
                <a:lnTo>
                  <a:pt x="1905916" y="430530"/>
                </a:lnTo>
                <a:lnTo>
                  <a:pt x="1923197" y="452120"/>
                </a:lnTo>
                <a:lnTo>
                  <a:pt x="1837943" y="452120"/>
                </a:lnTo>
                <a:lnTo>
                  <a:pt x="1833659" y="463550"/>
                </a:lnTo>
                <a:lnTo>
                  <a:pt x="1828811" y="477520"/>
                </a:lnTo>
                <a:lnTo>
                  <a:pt x="1823410" y="492760"/>
                </a:lnTo>
                <a:lnTo>
                  <a:pt x="1817465" y="510540"/>
                </a:lnTo>
                <a:lnTo>
                  <a:pt x="1797081" y="572770"/>
                </a:lnTo>
                <a:lnTo>
                  <a:pt x="1784604" y="618490"/>
                </a:lnTo>
                <a:lnTo>
                  <a:pt x="1780413" y="656590"/>
                </a:lnTo>
                <a:lnTo>
                  <a:pt x="1780694" y="662940"/>
                </a:lnTo>
                <a:lnTo>
                  <a:pt x="1780807" y="665480"/>
                </a:lnTo>
                <a:lnTo>
                  <a:pt x="1780920" y="668020"/>
                </a:lnTo>
                <a:lnTo>
                  <a:pt x="1781032" y="670560"/>
                </a:lnTo>
                <a:lnTo>
                  <a:pt x="1781145" y="673100"/>
                </a:lnTo>
                <a:lnTo>
                  <a:pt x="1792128" y="713740"/>
                </a:lnTo>
                <a:lnTo>
                  <a:pt x="1824329" y="756920"/>
                </a:lnTo>
                <a:lnTo>
                  <a:pt x="1844040" y="778510"/>
                </a:lnTo>
                <a:lnTo>
                  <a:pt x="1852612" y="787400"/>
                </a:lnTo>
                <a:close/>
              </a:path>
              <a:path w="4139565" h="838200">
                <a:moveTo>
                  <a:pt x="2378388" y="434340"/>
                </a:moveTo>
                <a:lnTo>
                  <a:pt x="2362200" y="434340"/>
                </a:lnTo>
                <a:lnTo>
                  <a:pt x="2354865" y="420370"/>
                </a:lnTo>
                <a:lnTo>
                  <a:pt x="2336827" y="384810"/>
                </a:lnTo>
                <a:lnTo>
                  <a:pt x="2322004" y="351790"/>
                </a:lnTo>
                <a:lnTo>
                  <a:pt x="2310395" y="320040"/>
                </a:lnTo>
                <a:lnTo>
                  <a:pt x="2302001" y="289560"/>
                </a:lnTo>
                <a:lnTo>
                  <a:pt x="2321051" y="300990"/>
                </a:lnTo>
                <a:lnTo>
                  <a:pt x="2330358" y="331470"/>
                </a:lnTo>
                <a:lnTo>
                  <a:pt x="2344709" y="367030"/>
                </a:lnTo>
                <a:lnTo>
                  <a:pt x="2364115" y="407670"/>
                </a:lnTo>
                <a:lnTo>
                  <a:pt x="2378388" y="434340"/>
                </a:lnTo>
                <a:close/>
              </a:path>
              <a:path w="4139565" h="838200">
                <a:moveTo>
                  <a:pt x="2316099" y="397510"/>
                </a:moveTo>
                <a:lnTo>
                  <a:pt x="2307848" y="396240"/>
                </a:lnTo>
                <a:lnTo>
                  <a:pt x="2315425" y="396240"/>
                </a:lnTo>
                <a:lnTo>
                  <a:pt x="2316099" y="397510"/>
                </a:lnTo>
                <a:close/>
              </a:path>
              <a:path w="4139565" h="838200">
                <a:moveTo>
                  <a:pt x="2501550" y="838200"/>
                </a:moveTo>
                <a:lnTo>
                  <a:pt x="2146077" y="838200"/>
                </a:lnTo>
                <a:lnTo>
                  <a:pt x="2134457" y="820420"/>
                </a:lnTo>
                <a:lnTo>
                  <a:pt x="2460402" y="820420"/>
                </a:lnTo>
                <a:lnTo>
                  <a:pt x="2349912" y="723900"/>
                </a:lnTo>
                <a:lnTo>
                  <a:pt x="2240660" y="434340"/>
                </a:lnTo>
                <a:lnTo>
                  <a:pt x="2251480" y="431800"/>
                </a:lnTo>
                <a:lnTo>
                  <a:pt x="2275406" y="429260"/>
                </a:lnTo>
                <a:lnTo>
                  <a:pt x="2305514" y="429260"/>
                </a:lnTo>
                <a:lnTo>
                  <a:pt x="2342376" y="431800"/>
                </a:lnTo>
                <a:lnTo>
                  <a:pt x="2362200" y="434340"/>
                </a:lnTo>
                <a:lnTo>
                  <a:pt x="2378388" y="434340"/>
                </a:lnTo>
                <a:lnTo>
                  <a:pt x="2383826" y="444500"/>
                </a:lnTo>
                <a:lnTo>
                  <a:pt x="2262092" y="444500"/>
                </a:lnTo>
                <a:lnTo>
                  <a:pt x="2364676" y="716280"/>
                </a:lnTo>
                <a:lnTo>
                  <a:pt x="2501550" y="838200"/>
                </a:lnTo>
                <a:close/>
              </a:path>
              <a:path w="4139565" h="838200">
                <a:moveTo>
                  <a:pt x="2388584" y="453390"/>
                </a:moveTo>
                <a:lnTo>
                  <a:pt x="2379630" y="452120"/>
                </a:lnTo>
                <a:lnTo>
                  <a:pt x="2374487" y="452120"/>
                </a:lnTo>
                <a:lnTo>
                  <a:pt x="2323528" y="447040"/>
                </a:lnTo>
                <a:lnTo>
                  <a:pt x="2307812" y="445770"/>
                </a:lnTo>
                <a:lnTo>
                  <a:pt x="2294382" y="445770"/>
                </a:lnTo>
                <a:lnTo>
                  <a:pt x="2283237" y="444500"/>
                </a:lnTo>
                <a:lnTo>
                  <a:pt x="2383826" y="444500"/>
                </a:lnTo>
                <a:lnTo>
                  <a:pt x="2388584" y="453390"/>
                </a:lnTo>
                <a:close/>
              </a:path>
              <a:path w="4139565" h="838200">
                <a:moveTo>
                  <a:pt x="1921383" y="838200"/>
                </a:moveTo>
                <a:lnTo>
                  <a:pt x="1589913" y="838200"/>
                </a:lnTo>
                <a:lnTo>
                  <a:pt x="1577625" y="820420"/>
                </a:lnTo>
                <a:lnTo>
                  <a:pt x="1890045" y="820420"/>
                </a:lnTo>
                <a:lnTo>
                  <a:pt x="1861125" y="784860"/>
                </a:lnTo>
                <a:lnTo>
                  <a:pt x="1834550" y="746760"/>
                </a:lnTo>
                <a:lnTo>
                  <a:pt x="1817084" y="702310"/>
                </a:lnTo>
                <a:lnTo>
                  <a:pt x="1814169" y="665480"/>
                </a:lnTo>
                <a:lnTo>
                  <a:pt x="1817134" y="632460"/>
                </a:lnTo>
                <a:lnTo>
                  <a:pt x="1826704" y="589280"/>
                </a:lnTo>
                <a:lnTo>
                  <a:pt x="1842632" y="538480"/>
                </a:lnTo>
                <a:lnTo>
                  <a:pt x="1864899" y="481330"/>
                </a:lnTo>
                <a:lnTo>
                  <a:pt x="1837943" y="452120"/>
                </a:lnTo>
                <a:lnTo>
                  <a:pt x="1923197" y="452120"/>
                </a:lnTo>
                <a:lnTo>
                  <a:pt x="1925230" y="454660"/>
                </a:lnTo>
                <a:lnTo>
                  <a:pt x="1942909" y="477520"/>
                </a:lnTo>
                <a:lnTo>
                  <a:pt x="1955642" y="495300"/>
                </a:lnTo>
                <a:lnTo>
                  <a:pt x="1878425" y="495300"/>
                </a:lnTo>
                <a:lnTo>
                  <a:pt x="1857547" y="544830"/>
                </a:lnTo>
                <a:lnTo>
                  <a:pt x="1842635" y="590550"/>
                </a:lnTo>
                <a:lnTo>
                  <a:pt x="1833687" y="629920"/>
                </a:lnTo>
                <a:lnTo>
                  <a:pt x="1830705" y="665480"/>
                </a:lnTo>
                <a:lnTo>
                  <a:pt x="1831541" y="684530"/>
                </a:lnTo>
                <a:lnTo>
                  <a:pt x="1843944" y="731520"/>
                </a:lnTo>
                <a:lnTo>
                  <a:pt x="1866578" y="767080"/>
                </a:lnTo>
                <a:lnTo>
                  <a:pt x="1907857" y="820420"/>
                </a:lnTo>
                <a:lnTo>
                  <a:pt x="1910715" y="824230"/>
                </a:lnTo>
                <a:lnTo>
                  <a:pt x="1921383" y="838200"/>
                </a:lnTo>
                <a:close/>
              </a:path>
              <a:path w="4139565" h="838200">
                <a:moveTo>
                  <a:pt x="1977294" y="636270"/>
                </a:moveTo>
                <a:lnTo>
                  <a:pt x="1949136" y="591820"/>
                </a:lnTo>
                <a:lnTo>
                  <a:pt x="1908274" y="534670"/>
                </a:lnTo>
                <a:lnTo>
                  <a:pt x="1884521" y="502920"/>
                </a:lnTo>
                <a:lnTo>
                  <a:pt x="1878425" y="495300"/>
                </a:lnTo>
                <a:lnTo>
                  <a:pt x="1955642" y="495300"/>
                </a:lnTo>
                <a:lnTo>
                  <a:pt x="1971103" y="516890"/>
                </a:lnTo>
                <a:lnTo>
                  <a:pt x="1971579" y="518160"/>
                </a:lnTo>
                <a:lnTo>
                  <a:pt x="1973675" y="520700"/>
                </a:lnTo>
                <a:lnTo>
                  <a:pt x="1977294" y="524510"/>
                </a:lnTo>
                <a:lnTo>
                  <a:pt x="2066028" y="524510"/>
                </a:lnTo>
                <a:lnTo>
                  <a:pt x="2063234" y="527050"/>
                </a:lnTo>
                <a:lnTo>
                  <a:pt x="2031444" y="561340"/>
                </a:lnTo>
                <a:lnTo>
                  <a:pt x="2002798" y="596900"/>
                </a:lnTo>
                <a:lnTo>
                  <a:pt x="1977294" y="636270"/>
                </a:lnTo>
                <a:close/>
              </a:path>
              <a:path w="4139565" h="838200">
                <a:moveTo>
                  <a:pt x="2011013" y="666750"/>
                </a:moveTo>
                <a:lnTo>
                  <a:pt x="2042064" y="599440"/>
                </a:lnTo>
                <a:lnTo>
                  <a:pt x="2071282" y="565150"/>
                </a:lnTo>
                <a:lnTo>
                  <a:pt x="2104929" y="528320"/>
                </a:lnTo>
                <a:lnTo>
                  <a:pt x="2109882" y="521970"/>
                </a:lnTo>
                <a:lnTo>
                  <a:pt x="2098167" y="495300"/>
                </a:lnTo>
                <a:lnTo>
                  <a:pt x="2234902" y="495300"/>
                </a:lnTo>
                <a:lnTo>
                  <a:pt x="2250302" y="537210"/>
                </a:lnTo>
                <a:lnTo>
                  <a:pt x="2114740" y="537210"/>
                </a:lnTo>
                <a:lnTo>
                  <a:pt x="2082968" y="570230"/>
                </a:lnTo>
                <a:lnTo>
                  <a:pt x="2055090" y="603250"/>
                </a:lnTo>
                <a:lnTo>
                  <a:pt x="2031105" y="635000"/>
                </a:lnTo>
                <a:lnTo>
                  <a:pt x="2011013" y="666750"/>
                </a:lnTo>
                <a:close/>
              </a:path>
              <a:path w="4139565" h="838200">
                <a:moveTo>
                  <a:pt x="2408205" y="787400"/>
                </a:moveTo>
                <a:lnTo>
                  <a:pt x="2098167" y="787400"/>
                </a:lnTo>
                <a:lnTo>
                  <a:pt x="2182939" y="716280"/>
                </a:lnTo>
                <a:lnTo>
                  <a:pt x="2114740" y="537210"/>
                </a:lnTo>
                <a:lnTo>
                  <a:pt x="2250302" y="537210"/>
                </a:lnTo>
                <a:lnTo>
                  <a:pt x="2316099" y="716280"/>
                </a:lnTo>
                <a:lnTo>
                  <a:pt x="2408205" y="787400"/>
                </a:lnTo>
                <a:close/>
              </a:path>
              <a:path w="4139565" h="838200">
                <a:moveTo>
                  <a:pt x="3557206" y="787908"/>
                </a:moveTo>
                <a:lnTo>
                  <a:pt x="3276695" y="787908"/>
                </a:lnTo>
                <a:lnTo>
                  <a:pt x="3360801" y="716089"/>
                </a:lnTo>
                <a:lnTo>
                  <a:pt x="3360801" y="73151"/>
                </a:lnTo>
                <a:lnTo>
                  <a:pt x="3281552" y="0"/>
                </a:lnTo>
                <a:lnTo>
                  <a:pt x="3568255" y="0"/>
                </a:lnTo>
                <a:lnTo>
                  <a:pt x="3484244" y="81152"/>
                </a:lnTo>
                <a:lnTo>
                  <a:pt x="3484244" y="452056"/>
                </a:lnTo>
                <a:lnTo>
                  <a:pt x="3549220" y="452056"/>
                </a:lnTo>
                <a:lnTo>
                  <a:pt x="3484244" y="530066"/>
                </a:lnTo>
                <a:lnTo>
                  <a:pt x="3484244" y="721042"/>
                </a:lnTo>
                <a:lnTo>
                  <a:pt x="3557206" y="787908"/>
                </a:lnTo>
                <a:close/>
              </a:path>
              <a:path w="4139565" h="838200">
                <a:moveTo>
                  <a:pt x="3597297" y="394334"/>
                </a:moveTo>
                <a:lnTo>
                  <a:pt x="3531489" y="394334"/>
                </a:lnTo>
                <a:lnTo>
                  <a:pt x="3721894" y="167068"/>
                </a:lnTo>
                <a:lnTo>
                  <a:pt x="3739951" y="143171"/>
                </a:lnTo>
                <a:lnTo>
                  <a:pt x="3752838" y="120479"/>
                </a:lnTo>
                <a:lnTo>
                  <a:pt x="3760563" y="98983"/>
                </a:lnTo>
                <a:lnTo>
                  <a:pt x="3763136" y="78676"/>
                </a:lnTo>
                <a:lnTo>
                  <a:pt x="3761687" y="67158"/>
                </a:lnTo>
                <a:lnTo>
                  <a:pt x="3739800" y="34194"/>
                </a:lnTo>
                <a:lnTo>
                  <a:pt x="3699148" y="10513"/>
                </a:lnTo>
                <a:lnTo>
                  <a:pt x="3683127" y="6191"/>
                </a:lnTo>
                <a:lnTo>
                  <a:pt x="3683127" y="0"/>
                </a:lnTo>
                <a:lnTo>
                  <a:pt x="4006595" y="0"/>
                </a:lnTo>
                <a:lnTo>
                  <a:pt x="4006595" y="6191"/>
                </a:lnTo>
                <a:lnTo>
                  <a:pt x="3970749" y="18184"/>
                </a:lnTo>
                <a:lnTo>
                  <a:pt x="3933980" y="36925"/>
                </a:lnTo>
                <a:lnTo>
                  <a:pt x="3896284" y="62412"/>
                </a:lnTo>
                <a:lnTo>
                  <a:pt x="3857660" y="94646"/>
                </a:lnTo>
                <a:lnTo>
                  <a:pt x="3818104" y="133627"/>
                </a:lnTo>
                <a:lnTo>
                  <a:pt x="3777615" y="179355"/>
                </a:lnTo>
                <a:lnTo>
                  <a:pt x="3692270" y="280701"/>
                </a:lnTo>
                <a:lnTo>
                  <a:pt x="3742855" y="378999"/>
                </a:lnTo>
                <a:lnTo>
                  <a:pt x="3610070" y="378999"/>
                </a:lnTo>
                <a:lnTo>
                  <a:pt x="3597297" y="394334"/>
                </a:lnTo>
                <a:close/>
              </a:path>
              <a:path w="4139565" h="838200">
                <a:moveTo>
                  <a:pt x="3549220" y="452056"/>
                </a:moveTo>
                <a:lnTo>
                  <a:pt x="3484244" y="452056"/>
                </a:lnTo>
                <a:lnTo>
                  <a:pt x="3516249" y="413384"/>
                </a:lnTo>
                <a:lnTo>
                  <a:pt x="3516249" y="86010"/>
                </a:lnTo>
                <a:lnTo>
                  <a:pt x="3585496" y="19050"/>
                </a:lnTo>
                <a:lnTo>
                  <a:pt x="3594639" y="32575"/>
                </a:lnTo>
                <a:lnTo>
                  <a:pt x="3531489" y="94011"/>
                </a:lnTo>
                <a:lnTo>
                  <a:pt x="3531489" y="394334"/>
                </a:lnTo>
                <a:lnTo>
                  <a:pt x="3597297" y="394334"/>
                </a:lnTo>
                <a:lnTo>
                  <a:pt x="3549220" y="452056"/>
                </a:lnTo>
                <a:close/>
              </a:path>
              <a:path w="4139565" h="838200">
                <a:moveTo>
                  <a:pt x="4139374" y="838200"/>
                </a:moveTo>
                <a:lnTo>
                  <a:pt x="3748944" y="838200"/>
                </a:lnTo>
                <a:lnTo>
                  <a:pt x="3731704" y="821435"/>
                </a:lnTo>
                <a:lnTo>
                  <a:pt x="4087177" y="821435"/>
                </a:lnTo>
                <a:lnTo>
                  <a:pt x="3956399" y="732472"/>
                </a:lnTo>
                <a:lnTo>
                  <a:pt x="3731704" y="281368"/>
                </a:lnTo>
                <a:lnTo>
                  <a:pt x="3845909" y="152304"/>
                </a:lnTo>
                <a:lnTo>
                  <a:pt x="3891096" y="107976"/>
                </a:lnTo>
                <a:lnTo>
                  <a:pt x="3936944" y="74997"/>
                </a:lnTo>
                <a:lnTo>
                  <a:pt x="3983471" y="53359"/>
                </a:lnTo>
                <a:lnTo>
                  <a:pt x="4030694" y="43052"/>
                </a:lnTo>
                <a:lnTo>
                  <a:pt x="4037450" y="55899"/>
                </a:lnTo>
                <a:lnTo>
                  <a:pt x="3992073" y="64912"/>
                </a:lnTo>
                <a:lnTo>
                  <a:pt x="3946778" y="85629"/>
                </a:lnTo>
                <a:lnTo>
                  <a:pt x="3901556" y="118062"/>
                </a:lnTo>
                <a:lnTo>
                  <a:pt x="3856387" y="162210"/>
                </a:lnTo>
                <a:lnTo>
                  <a:pt x="3748944" y="281368"/>
                </a:lnTo>
                <a:lnTo>
                  <a:pt x="3965638" y="720851"/>
                </a:lnTo>
                <a:lnTo>
                  <a:pt x="4139374" y="838200"/>
                </a:lnTo>
                <a:close/>
              </a:path>
              <a:path w="4139565" h="838200">
                <a:moveTo>
                  <a:pt x="3631501" y="838200"/>
                </a:moveTo>
                <a:lnTo>
                  <a:pt x="3317176" y="838200"/>
                </a:lnTo>
                <a:lnTo>
                  <a:pt x="3300602" y="821435"/>
                </a:lnTo>
                <a:lnTo>
                  <a:pt x="3594639" y="821435"/>
                </a:lnTo>
                <a:lnTo>
                  <a:pt x="3516249" y="727709"/>
                </a:lnTo>
                <a:lnTo>
                  <a:pt x="3516249" y="537400"/>
                </a:lnTo>
                <a:lnTo>
                  <a:pt x="3623500" y="405955"/>
                </a:lnTo>
                <a:lnTo>
                  <a:pt x="3610070" y="378999"/>
                </a:lnTo>
                <a:lnTo>
                  <a:pt x="3742855" y="378999"/>
                </a:lnTo>
                <a:lnTo>
                  <a:pt x="3765598" y="423195"/>
                </a:lnTo>
                <a:lnTo>
                  <a:pt x="3631501" y="423195"/>
                </a:lnTo>
                <a:lnTo>
                  <a:pt x="3531489" y="545401"/>
                </a:lnTo>
                <a:lnTo>
                  <a:pt x="3531489" y="721042"/>
                </a:lnTo>
                <a:lnTo>
                  <a:pt x="3631501" y="838200"/>
                </a:lnTo>
                <a:close/>
              </a:path>
              <a:path w="4139565" h="838200">
                <a:moveTo>
                  <a:pt x="4021931" y="787908"/>
                </a:moveTo>
                <a:lnTo>
                  <a:pt x="3703320" y="787908"/>
                </a:lnTo>
                <a:lnTo>
                  <a:pt x="3783806" y="727709"/>
                </a:lnTo>
                <a:lnTo>
                  <a:pt x="3631501" y="423195"/>
                </a:lnTo>
                <a:lnTo>
                  <a:pt x="3765598" y="423195"/>
                </a:lnTo>
                <a:lnTo>
                  <a:pt x="3918773" y="720851"/>
                </a:lnTo>
                <a:lnTo>
                  <a:pt x="3918871" y="721042"/>
                </a:lnTo>
                <a:lnTo>
                  <a:pt x="4021931" y="787908"/>
                </a:lnTo>
                <a:close/>
              </a:path>
            </a:pathLst>
          </a:custGeom>
          <a:solidFill>
            <a:srgbClr val="00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726906" y="3177921"/>
            <a:ext cx="2371725" cy="1068070"/>
          </a:xfrm>
          <a:custGeom>
            <a:avLst/>
            <a:gdLst/>
            <a:ahLst/>
            <a:cxnLst/>
            <a:rect l="l" t="t" r="r" b="b"/>
            <a:pathLst>
              <a:path w="2371725" h="1068070">
                <a:moveTo>
                  <a:pt x="533654" y="557530"/>
                </a:moveTo>
                <a:lnTo>
                  <a:pt x="467582" y="557530"/>
                </a:lnTo>
                <a:lnTo>
                  <a:pt x="605123" y="340360"/>
                </a:lnTo>
                <a:lnTo>
                  <a:pt x="631236" y="295910"/>
                </a:lnTo>
                <a:lnTo>
                  <a:pt x="649866" y="257810"/>
                </a:lnTo>
                <a:lnTo>
                  <a:pt x="661032" y="224790"/>
                </a:lnTo>
                <a:lnTo>
                  <a:pt x="664749" y="199390"/>
                </a:lnTo>
                <a:lnTo>
                  <a:pt x="661481" y="179070"/>
                </a:lnTo>
                <a:lnTo>
                  <a:pt x="651676" y="157480"/>
                </a:lnTo>
                <a:lnTo>
                  <a:pt x="635335" y="133350"/>
                </a:lnTo>
                <a:lnTo>
                  <a:pt x="612457" y="109220"/>
                </a:lnTo>
                <a:lnTo>
                  <a:pt x="670218" y="93980"/>
                </a:lnTo>
                <a:lnTo>
                  <a:pt x="724439" y="78740"/>
                </a:lnTo>
                <a:lnTo>
                  <a:pt x="775120" y="60960"/>
                </a:lnTo>
                <a:lnTo>
                  <a:pt x="822261" y="43180"/>
                </a:lnTo>
                <a:lnTo>
                  <a:pt x="865862" y="24130"/>
                </a:lnTo>
                <a:lnTo>
                  <a:pt x="905922" y="2540"/>
                </a:lnTo>
                <a:lnTo>
                  <a:pt x="913256" y="0"/>
                </a:lnTo>
                <a:lnTo>
                  <a:pt x="916971" y="3810"/>
                </a:lnTo>
                <a:lnTo>
                  <a:pt x="910780" y="11430"/>
                </a:lnTo>
                <a:lnTo>
                  <a:pt x="875228" y="49530"/>
                </a:lnTo>
                <a:lnTo>
                  <a:pt x="841823" y="87630"/>
                </a:lnTo>
                <a:lnTo>
                  <a:pt x="810565" y="125730"/>
                </a:lnTo>
                <a:lnTo>
                  <a:pt x="781459" y="165100"/>
                </a:lnTo>
                <a:lnTo>
                  <a:pt x="754506" y="204470"/>
                </a:lnTo>
                <a:lnTo>
                  <a:pt x="729710" y="242570"/>
                </a:lnTo>
                <a:lnTo>
                  <a:pt x="706076" y="281940"/>
                </a:lnTo>
                <a:lnTo>
                  <a:pt x="697228" y="295910"/>
                </a:lnTo>
                <a:lnTo>
                  <a:pt x="690371" y="307340"/>
                </a:lnTo>
                <a:lnTo>
                  <a:pt x="533654" y="557530"/>
                </a:lnTo>
                <a:close/>
              </a:path>
              <a:path w="2371725" h="1068070">
                <a:moveTo>
                  <a:pt x="621791" y="1054100"/>
                </a:moveTo>
                <a:lnTo>
                  <a:pt x="237077" y="1054100"/>
                </a:lnTo>
                <a:lnTo>
                  <a:pt x="229742" y="1036320"/>
                </a:lnTo>
                <a:lnTo>
                  <a:pt x="589216" y="1036320"/>
                </a:lnTo>
                <a:lnTo>
                  <a:pt x="495585" y="922020"/>
                </a:lnTo>
                <a:lnTo>
                  <a:pt x="495585" y="676910"/>
                </a:lnTo>
                <a:lnTo>
                  <a:pt x="722661" y="318770"/>
                </a:lnTo>
                <a:lnTo>
                  <a:pt x="758380" y="262890"/>
                </a:lnTo>
                <a:lnTo>
                  <a:pt x="789948" y="214630"/>
                </a:lnTo>
                <a:lnTo>
                  <a:pt x="821030" y="170180"/>
                </a:lnTo>
                <a:lnTo>
                  <a:pt x="851630" y="130810"/>
                </a:lnTo>
                <a:lnTo>
                  <a:pt x="881753" y="95250"/>
                </a:lnTo>
                <a:lnTo>
                  <a:pt x="911406" y="63500"/>
                </a:lnTo>
                <a:lnTo>
                  <a:pt x="940593" y="35560"/>
                </a:lnTo>
                <a:lnTo>
                  <a:pt x="940593" y="60960"/>
                </a:lnTo>
                <a:lnTo>
                  <a:pt x="909452" y="92710"/>
                </a:lnTo>
                <a:lnTo>
                  <a:pt x="886325" y="116840"/>
                </a:lnTo>
                <a:lnTo>
                  <a:pt x="845534" y="166370"/>
                </a:lnTo>
                <a:lnTo>
                  <a:pt x="799326" y="231140"/>
                </a:lnTo>
                <a:lnTo>
                  <a:pt x="769439" y="276860"/>
                </a:lnTo>
                <a:lnTo>
                  <a:pt x="735044" y="330200"/>
                </a:lnTo>
                <a:lnTo>
                  <a:pt x="512349" y="680720"/>
                </a:lnTo>
                <a:lnTo>
                  <a:pt x="512349" y="922020"/>
                </a:lnTo>
                <a:lnTo>
                  <a:pt x="621791" y="1054100"/>
                </a:lnTo>
                <a:close/>
              </a:path>
              <a:path w="2371725" h="1068070">
                <a:moveTo>
                  <a:pt x="1208055" y="1013460"/>
                </a:moveTo>
                <a:lnTo>
                  <a:pt x="1162117" y="1010920"/>
                </a:lnTo>
                <a:lnTo>
                  <a:pt x="1118249" y="1002030"/>
                </a:lnTo>
                <a:lnTo>
                  <a:pt x="1076443" y="986790"/>
                </a:lnTo>
                <a:lnTo>
                  <a:pt x="1036691" y="966470"/>
                </a:lnTo>
                <a:lnTo>
                  <a:pt x="998982" y="938530"/>
                </a:lnTo>
                <a:lnTo>
                  <a:pt x="963274" y="905510"/>
                </a:lnTo>
                <a:lnTo>
                  <a:pt x="933061" y="867410"/>
                </a:lnTo>
                <a:lnTo>
                  <a:pt x="908340" y="825500"/>
                </a:lnTo>
                <a:lnTo>
                  <a:pt x="889114" y="778510"/>
                </a:lnTo>
                <a:lnTo>
                  <a:pt x="875380" y="726440"/>
                </a:lnTo>
                <a:lnTo>
                  <a:pt x="867140" y="671830"/>
                </a:lnTo>
                <a:lnTo>
                  <a:pt x="864393" y="612140"/>
                </a:lnTo>
                <a:lnTo>
                  <a:pt x="866738" y="557530"/>
                </a:lnTo>
                <a:lnTo>
                  <a:pt x="866848" y="554990"/>
                </a:lnTo>
                <a:lnTo>
                  <a:pt x="874645" y="496570"/>
                </a:lnTo>
                <a:lnTo>
                  <a:pt x="887456" y="445770"/>
                </a:lnTo>
                <a:lnTo>
                  <a:pt x="905386" y="398780"/>
                </a:lnTo>
                <a:lnTo>
                  <a:pt x="928433" y="355600"/>
                </a:lnTo>
                <a:lnTo>
                  <a:pt x="956595" y="317500"/>
                </a:lnTo>
                <a:lnTo>
                  <a:pt x="989132" y="283210"/>
                </a:lnTo>
                <a:lnTo>
                  <a:pt x="1025211" y="256540"/>
                </a:lnTo>
                <a:lnTo>
                  <a:pt x="1064835" y="234950"/>
                </a:lnTo>
                <a:lnTo>
                  <a:pt x="1108007" y="219710"/>
                </a:lnTo>
                <a:lnTo>
                  <a:pt x="1154731" y="210820"/>
                </a:lnTo>
                <a:lnTo>
                  <a:pt x="1205007" y="208280"/>
                </a:lnTo>
                <a:lnTo>
                  <a:pt x="1253163" y="210820"/>
                </a:lnTo>
                <a:lnTo>
                  <a:pt x="1297996" y="220980"/>
                </a:lnTo>
                <a:lnTo>
                  <a:pt x="1339500" y="236220"/>
                </a:lnTo>
                <a:lnTo>
                  <a:pt x="1377671" y="257810"/>
                </a:lnTo>
                <a:lnTo>
                  <a:pt x="1379254" y="259080"/>
                </a:lnTo>
                <a:lnTo>
                  <a:pt x="1205388" y="259080"/>
                </a:lnTo>
                <a:lnTo>
                  <a:pt x="1165806" y="262890"/>
                </a:lnTo>
                <a:lnTo>
                  <a:pt x="1099129" y="292100"/>
                </a:lnTo>
                <a:lnTo>
                  <a:pt x="1049107" y="350520"/>
                </a:lnTo>
                <a:lnTo>
                  <a:pt x="1030345" y="391160"/>
                </a:lnTo>
                <a:lnTo>
                  <a:pt x="1015750" y="438150"/>
                </a:lnTo>
                <a:lnTo>
                  <a:pt x="1005324" y="492760"/>
                </a:lnTo>
                <a:lnTo>
                  <a:pt x="999067" y="554990"/>
                </a:lnTo>
                <a:lnTo>
                  <a:pt x="997095" y="621030"/>
                </a:lnTo>
                <a:lnTo>
                  <a:pt x="996981" y="624840"/>
                </a:lnTo>
                <a:lnTo>
                  <a:pt x="999036" y="688340"/>
                </a:lnTo>
                <a:lnTo>
                  <a:pt x="1005198" y="746760"/>
                </a:lnTo>
                <a:lnTo>
                  <a:pt x="1015467" y="796290"/>
                </a:lnTo>
                <a:lnTo>
                  <a:pt x="1029842" y="840740"/>
                </a:lnTo>
                <a:lnTo>
                  <a:pt x="1048321" y="877570"/>
                </a:lnTo>
                <a:lnTo>
                  <a:pt x="1097588" y="932180"/>
                </a:lnTo>
                <a:lnTo>
                  <a:pt x="1163260" y="958850"/>
                </a:lnTo>
                <a:lnTo>
                  <a:pt x="1202245" y="962660"/>
                </a:lnTo>
                <a:lnTo>
                  <a:pt x="1383414" y="962660"/>
                </a:lnTo>
                <a:lnTo>
                  <a:pt x="1364898" y="975360"/>
                </a:lnTo>
                <a:lnTo>
                  <a:pt x="1317463" y="996950"/>
                </a:lnTo>
                <a:lnTo>
                  <a:pt x="1265182" y="1009650"/>
                </a:lnTo>
                <a:lnTo>
                  <a:pt x="1208055" y="1013460"/>
                </a:lnTo>
                <a:close/>
              </a:path>
              <a:path w="2371725" h="1068070">
                <a:moveTo>
                  <a:pt x="551021" y="1003300"/>
                </a:moveTo>
                <a:lnTo>
                  <a:pt x="251650" y="1003300"/>
                </a:lnTo>
                <a:lnTo>
                  <a:pt x="340137" y="922020"/>
                </a:lnTo>
                <a:lnTo>
                  <a:pt x="340137" y="671830"/>
                </a:lnTo>
                <a:lnTo>
                  <a:pt x="192785" y="445770"/>
                </a:lnTo>
                <a:lnTo>
                  <a:pt x="160877" y="394970"/>
                </a:lnTo>
                <a:lnTo>
                  <a:pt x="140069" y="363220"/>
                </a:lnTo>
                <a:lnTo>
                  <a:pt x="104312" y="313690"/>
                </a:lnTo>
                <a:lnTo>
                  <a:pt x="73681" y="279400"/>
                </a:lnTo>
                <a:lnTo>
                  <a:pt x="32390" y="241300"/>
                </a:lnTo>
                <a:lnTo>
                  <a:pt x="0" y="215900"/>
                </a:lnTo>
                <a:lnTo>
                  <a:pt x="310038" y="215900"/>
                </a:lnTo>
                <a:lnTo>
                  <a:pt x="233933" y="294640"/>
                </a:lnTo>
                <a:lnTo>
                  <a:pt x="438626" y="603250"/>
                </a:lnTo>
                <a:lnTo>
                  <a:pt x="505015" y="603250"/>
                </a:lnTo>
                <a:lnTo>
                  <a:pt x="462057" y="671830"/>
                </a:lnTo>
                <a:lnTo>
                  <a:pt x="462057" y="922020"/>
                </a:lnTo>
                <a:lnTo>
                  <a:pt x="551021" y="1003300"/>
                </a:lnTo>
                <a:close/>
              </a:path>
              <a:path w="2371725" h="1068070">
                <a:moveTo>
                  <a:pt x="505015" y="603250"/>
                </a:moveTo>
                <a:lnTo>
                  <a:pt x="438626" y="603250"/>
                </a:lnTo>
                <a:lnTo>
                  <a:pt x="458343" y="571500"/>
                </a:lnTo>
                <a:lnTo>
                  <a:pt x="275653" y="294640"/>
                </a:lnTo>
                <a:lnTo>
                  <a:pt x="340137" y="233680"/>
                </a:lnTo>
                <a:lnTo>
                  <a:pt x="352996" y="242570"/>
                </a:lnTo>
                <a:lnTo>
                  <a:pt x="297084" y="294640"/>
                </a:lnTo>
                <a:lnTo>
                  <a:pt x="467582" y="557530"/>
                </a:lnTo>
                <a:lnTo>
                  <a:pt x="533654" y="557530"/>
                </a:lnTo>
                <a:lnTo>
                  <a:pt x="505015" y="603250"/>
                </a:lnTo>
                <a:close/>
              </a:path>
              <a:path w="2371725" h="1068070">
                <a:moveTo>
                  <a:pt x="1342055" y="1042670"/>
                </a:moveTo>
                <a:lnTo>
                  <a:pt x="1221867" y="1042670"/>
                </a:lnTo>
                <a:lnTo>
                  <a:pt x="1271626" y="1040130"/>
                </a:lnTo>
                <a:lnTo>
                  <a:pt x="1318319" y="1029970"/>
                </a:lnTo>
                <a:lnTo>
                  <a:pt x="1361944" y="1013460"/>
                </a:lnTo>
                <a:lnTo>
                  <a:pt x="1402496" y="991870"/>
                </a:lnTo>
                <a:lnTo>
                  <a:pt x="1439974" y="962660"/>
                </a:lnTo>
                <a:lnTo>
                  <a:pt x="1474374" y="927100"/>
                </a:lnTo>
                <a:lnTo>
                  <a:pt x="1504537" y="886460"/>
                </a:lnTo>
                <a:lnTo>
                  <a:pt x="1529210" y="843280"/>
                </a:lnTo>
                <a:lnTo>
                  <a:pt x="1548395" y="795020"/>
                </a:lnTo>
                <a:lnTo>
                  <a:pt x="1562096" y="744220"/>
                </a:lnTo>
                <a:lnTo>
                  <a:pt x="1570314" y="689610"/>
                </a:lnTo>
                <a:lnTo>
                  <a:pt x="1573053" y="631190"/>
                </a:lnTo>
                <a:lnTo>
                  <a:pt x="1571259" y="577850"/>
                </a:lnTo>
                <a:lnTo>
                  <a:pt x="1565875" y="528320"/>
                </a:lnTo>
                <a:lnTo>
                  <a:pt x="1556903" y="481330"/>
                </a:lnTo>
                <a:lnTo>
                  <a:pt x="1544341" y="436880"/>
                </a:lnTo>
                <a:lnTo>
                  <a:pt x="1528190" y="396240"/>
                </a:lnTo>
                <a:lnTo>
                  <a:pt x="1503403" y="349250"/>
                </a:lnTo>
                <a:lnTo>
                  <a:pt x="1473910" y="308610"/>
                </a:lnTo>
                <a:lnTo>
                  <a:pt x="1439720" y="273050"/>
                </a:lnTo>
                <a:lnTo>
                  <a:pt x="1400841" y="245110"/>
                </a:lnTo>
                <a:lnTo>
                  <a:pt x="1400841" y="238760"/>
                </a:lnTo>
                <a:lnTo>
                  <a:pt x="1442274" y="264160"/>
                </a:lnTo>
                <a:lnTo>
                  <a:pt x="1479125" y="295910"/>
                </a:lnTo>
                <a:lnTo>
                  <a:pt x="1511386" y="336550"/>
                </a:lnTo>
                <a:lnTo>
                  <a:pt x="1539049" y="383540"/>
                </a:lnTo>
                <a:lnTo>
                  <a:pt x="1557350" y="425450"/>
                </a:lnTo>
                <a:lnTo>
                  <a:pt x="1571568" y="471170"/>
                </a:lnTo>
                <a:lnTo>
                  <a:pt x="1581713" y="518160"/>
                </a:lnTo>
                <a:lnTo>
                  <a:pt x="1587793" y="567690"/>
                </a:lnTo>
                <a:lnTo>
                  <a:pt x="1589817" y="621030"/>
                </a:lnTo>
                <a:lnTo>
                  <a:pt x="1587776" y="675640"/>
                </a:lnTo>
                <a:lnTo>
                  <a:pt x="1581649" y="727710"/>
                </a:lnTo>
                <a:lnTo>
                  <a:pt x="1571433" y="775970"/>
                </a:lnTo>
                <a:lnTo>
                  <a:pt x="1557125" y="821690"/>
                </a:lnTo>
                <a:lnTo>
                  <a:pt x="1538721" y="863600"/>
                </a:lnTo>
                <a:lnTo>
                  <a:pt x="1516219" y="902970"/>
                </a:lnTo>
                <a:lnTo>
                  <a:pt x="1489614" y="939800"/>
                </a:lnTo>
                <a:lnTo>
                  <a:pt x="1454442" y="976630"/>
                </a:lnTo>
                <a:lnTo>
                  <a:pt x="1415788" y="1007110"/>
                </a:lnTo>
                <a:lnTo>
                  <a:pt x="1373647" y="1031240"/>
                </a:lnTo>
                <a:lnTo>
                  <a:pt x="1342055" y="1042670"/>
                </a:lnTo>
                <a:close/>
              </a:path>
              <a:path w="2371725" h="1068070">
                <a:moveTo>
                  <a:pt x="1383414" y="962660"/>
                </a:moveTo>
                <a:lnTo>
                  <a:pt x="1202245" y="962660"/>
                </a:lnTo>
                <a:lnTo>
                  <a:pt x="1247236" y="956310"/>
                </a:lnTo>
                <a:lnTo>
                  <a:pt x="1286494" y="939800"/>
                </a:lnTo>
                <a:lnTo>
                  <a:pt x="1320037" y="911860"/>
                </a:lnTo>
                <a:lnTo>
                  <a:pt x="1347882" y="872490"/>
                </a:lnTo>
                <a:lnTo>
                  <a:pt x="1365875" y="833120"/>
                </a:lnTo>
                <a:lnTo>
                  <a:pt x="1379853" y="788670"/>
                </a:lnTo>
                <a:lnTo>
                  <a:pt x="1389826" y="735330"/>
                </a:lnTo>
                <a:lnTo>
                  <a:pt x="1395803" y="676910"/>
                </a:lnTo>
                <a:lnTo>
                  <a:pt x="1397755" y="612140"/>
                </a:lnTo>
                <a:lnTo>
                  <a:pt x="1397793" y="610870"/>
                </a:lnTo>
                <a:lnTo>
                  <a:pt x="1396932" y="571500"/>
                </a:lnTo>
                <a:lnTo>
                  <a:pt x="1396848" y="567690"/>
                </a:lnTo>
                <a:lnTo>
                  <a:pt x="1396737" y="562610"/>
                </a:lnTo>
                <a:lnTo>
                  <a:pt x="1396626" y="557530"/>
                </a:lnTo>
                <a:lnTo>
                  <a:pt x="1396570" y="554990"/>
                </a:lnTo>
                <a:lnTo>
                  <a:pt x="1396459" y="549910"/>
                </a:lnTo>
                <a:lnTo>
                  <a:pt x="1392456" y="494030"/>
                </a:lnTo>
                <a:lnTo>
                  <a:pt x="1385780" y="445770"/>
                </a:lnTo>
                <a:lnTo>
                  <a:pt x="1376429" y="403860"/>
                </a:lnTo>
                <a:lnTo>
                  <a:pt x="1349692" y="339090"/>
                </a:lnTo>
                <a:lnTo>
                  <a:pt x="1321706" y="304800"/>
                </a:lnTo>
                <a:lnTo>
                  <a:pt x="1288327" y="279400"/>
                </a:lnTo>
                <a:lnTo>
                  <a:pt x="1249554" y="264160"/>
                </a:lnTo>
                <a:lnTo>
                  <a:pt x="1205388" y="259080"/>
                </a:lnTo>
                <a:lnTo>
                  <a:pt x="1379254" y="259080"/>
                </a:lnTo>
                <a:lnTo>
                  <a:pt x="1412502" y="285750"/>
                </a:lnTo>
                <a:lnTo>
                  <a:pt x="1443990" y="321310"/>
                </a:lnTo>
                <a:lnTo>
                  <a:pt x="1471318" y="360680"/>
                </a:lnTo>
                <a:lnTo>
                  <a:pt x="1493678" y="405130"/>
                </a:lnTo>
                <a:lnTo>
                  <a:pt x="1511069" y="453390"/>
                </a:lnTo>
                <a:lnTo>
                  <a:pt x="1523492" y="505460"/>
                </a:lnTo>
                <a:lnTo>
                  <a:pt x="1530945" y="562610"/>
                </a:lnTo>
                <a:lnTo>
                  <a:pt x="1533376" y="621030"/>
                </a:lnTo>
                <a:lnTo>
                  <a:pt x="1533323" y="624840"/>
                </a:lnTo>
                <a:lnTo>
                  <a:pt x="1530984" y="680720"/>
                </a:lnTo>
                <a:lnTo>
                  <a:pt x="1523643" y="734060"/>
                </a:lnTo>
                <a:lnTo>
                  <a:pt x="1511403" y="783590"/>
                </a:lnTo>
                <a:lnTo>
                  <a:pt x="1494257" y="829310"/>
                </a:lnTo>
                <a:lnTo>
                  <a:pt x="1472200" y="869950"/>
                </a:lnTo>
                <a:lnTo>
                  <a:pt x="1445228" y="908050"/>
                </a:lnTo>
                <a:lnTo>
                  <a:pt x="1407486" y="946150"/>
                </a:lnTo>
                <a:lnTo>
                  <a:pt x="1383414" y="962660"/>
                </a:lnTo>
                <a:close/>
              </a:path>
              <a:path w="2371725" h="1068070">
                <a:moveTo>
                  <a:pt x="1151000" y="944880"/>
                </a:moveTo>
                <a:lnTo>
                  <a:pt x="1098768" y="894080"/>
                </a:lnTo>
                <a:lnTo>
                  <a:pt x="1064037" y="830580"/>
                </a:lnTo>
                <a:lnTo>
                  <a:pt x="1052716" y="792480"/>
                </a:lnTo>
                <a:lnTo>
                  <a:pt x="1044618" y="746760"/>
                </a:lnTo>
                <a:lnTo>
                  <a:pt x="1039753" y="695960"/>
                </a:lnTo>
                <a:lnTo>
                  <a:pt x="1038129" y="638810"/>
                </a:lnTo>
                <a:lnTo>
                  <a:pt x="1040183" y="571500"/>
                </a:lnTo>
                <a:lnTo>
                  <a:pt x="1040299" y="567690"/>
                </a:lnTo>
                <a:lnTo>
                  <a:pt x="1040338" y="566420"/>
                </a:lnTo>
                <a:lnTo>
                  <a:pt x="1046962" y="504190"/>
                </a:lnTo>
                <a:lnTo>
                  <a:pt x="1058001" y="449580"/>
                </a:lnTo>
                <a:lnTo>
                  <a:pt x="1073455" y="402590"/>
                </a:lnTo>
                <a:lnTo>
                  <a:pt x="1093323" y="364490"/>
                </a:lnTo>
                <a:lnTo>
                  <a:pt x="1146295" y="314960"/>
                </a:lnTo>
                <a:lnTo>
                  <a:pt x="1216913" y="297180"/>
                </a:lnTo>
                <a:lnTo>
                  <a:pt x="1254918" y="300990"/>
                </a:lnTo>
                <a:lnTo>
                  <a:pt x="1287494" y="311150"/>
                </a:lnTo>
                <a:lnTo>
                  <a:pt x="1289433" y="312420"/>
                </a:lnTo>
                <a:lnTo>
                  <a:pt x="1217866" y="312420"/>
                </a:lnTo>
                <a:lnTo>
                  <a:pt x="1183982" y="317500"/>
                </a:lnTo>
                <a:lnTo>
                  <a:pt x="1128172" y="347980"/>
                </a:lnTo>
                <a:lnTo>
                  <a:pt x="1088308" y="411480"/>
                </a:lnTo>
                <a:lnTo>
                  <a:pt x="1074356" y="454660"/>
                </a:lnTo>
                <a:lnTo>
                  <a:pt x="1064390" y="505460"/>
                </a:lnTo>
                <a:lnTo>
                  <a:pt x="1058410" y="563880"/>
                </a:lnTo>
                <a:lnTo>
                  <a:pt x="1056417" y="631190"/>
                </a:lnTo>
                <a:lnTo>
                  <a:pt x="1058297" y="688340"/>
                </a:lnTo>
                <a:lnTo>
                  <a:pt x="1058338" y="689610"/>
                </a:lnTo>
                <a:lnTo>
                  <a:pt x="1058464" y="693420"/>
                </a:lnTo>
                <a:lnTo>
                  <a:pt x="1064600" y="750570"/>
                </a:lnTo>
                <a:lnTo>
                  <a:pt x="1074824" y="801370"/>
                </a:lnTo>
                <a:lnTo>
                  <a:pt x="1089132" y="845820"/>
                </a:lnTo>
                <a:lnTo>
                  <a:pt x="1107520" y="882650"/>
                </a:lnTo>
                <a:lnTo>
                  <a:pt x="1129986" y="914400"/>
                </a:lnTo>
                <a:lnTo>
                  <a:pt x="1156525" y="938530"/>
                </a:lnTo>
                <a:lnTo>
                  <a:pt x="1151000" y="944880"/>
                </a:lnTo>
                <a:close/>
              </a:path>
              <a:path w="2371725" h="1068070">
                <a:moveTo>
                  <a:pt x="1336357" y="351790"/>
                </a:moveTo>
                <a:lnTo>
                  <a:pt x="1325975" y="346710"/>
                </a:lnTo>
                <a:lnTo>
                  <a:pt x="1297135" y="331470"/>
                </a:lnTo>
                <a:lnTo>
                  <a:pt x="1269492" y="321310"/>
                </a:lnTo>
                <a:lnTo>
                  <a:pt x="1243063" y="314960"/>
                </a:lnTo>
                <a:lnTo>
                  <a:pt x="1217866" y="312420"/>
                </a:lnTo>
                <a:lnTo>
                  <a:pt x="1289433" y="312420"/>
                </a:lnTo>
                <a:lnTo>
                  <a:pt x="1314640" y="328930"/>
                </a:lnTo>
                <a:lnTo>
                  <a:pt x="1336357" y="351790"/>
                </a:lnTo>
                <a:close/>
              </a:path>
              <a:path w="2371725" h="1068070">
                <a:moveTo>
                  <a:pt x="1226248" y="1061720"/>
                </a:moveTo>
                <a:lnTo>
                  <a:pt x="1174954" y="1056640"/>
                </a:lnTo>
                <a:lnTo>
                  <a:pt x="1125366" y="1043940"/>
                </a:lnTo>
                <a:lnTo>
                  <a:pt x="1077475" y="1022350"/>
                </a:lnTo>
                <a:lnTo>
                  <a:pt x="1031271" y="990600"/>
                </a:lnTo>
                <a:lnTo>
                  <a:pt x="1031271" y="988060"/>
                </a:lnTo>
                <a:lnTo>
                  <a:pt x="1071687" y="1012190"/>
                </a:lnTo>
                <a:lnTo>
                  <a:pt x="1116925" y="1028700"/>
                </a:lnTo>
                <a:lnTo>
                  <a:pt x="1166985" y="1040130"/>
                </a:lnTo>
                <a:lnTo>
                  <a:pt x="1221867" y="1042670"/>
                </a:lnTo>
                <a:lnTo>
                  <a:pt x="1342055" y="1042670"/>
                </a:lnTo>
                <a:lnTo>
                  <a:pt x="1328014" y="1047750"/>
                </a:lnTo>
                <a:lnTo>
                  <a:pt x="1278882" y="1057910"/>
                </a:lnTo>
                <a:lnTo>
                  <a:pt x="1226248" y="1061720"/>
                </a:lnTo>
                <a:close/>
              </a:path>
              <a:path w="2371725" h="1068070">
                <a:moveTo>
                  <a:pt x="2000059" y="1014603"/>
                </a:moveTo>
                <a:lnTo>
                  <a:pt x="1939490" y="1011506"/>
                </a:lnTo>
                <a:lnTo>
                  <a:pt x="1886707" y="1002104"/>
                </a:lnTo>
                <a:lnTo>
                  <a:pt x="1841701" y="986402"/>
                </a:lnTo>
                <a:lnTo>
                  <a:pt x="1804463" y="964405"/>
                </a:lnTo>
                <a:lnTo>
                  <a:pt x="1774983" y="936117"/>
                </a:lnTo>
                <a:lnTo>
                  <a:pt x="1742322" y="868503"/>
                </a:lnTo>
                <a:lnTo>
                  <a:pt x="1732107" y="821026"/>
                </a:lnTo>
                <a:lnTo>
                  <a:pt x="1725974" y="764441"/>
                </a:lnTo>
                <a:lnTo>
                  <a:pt x="1724006" y="701230"/>
                </a:lnTo>
                <a:lnTo>
                  <a:pt x="1723929" y="290988"/>
                </a:lnTo>
                <a:lnTo>
                  <a:pt x="1640395" y="216027"/>
                </a:lnTo>
                <a:lnTo>
                  <a:pt x="1930907" y="216027"/>
                </a:lnTo>
                <a:lnTo>
                  <a:pt x="1847373" y="297751"/>
                </a:lnTo>
                <a:lnTo>
                  <a:pt x="1847494" y="708564"/>
                </a:lnTo>
                <a:lnTo>
                  <a:pt x="1848611" y="794194"/>
                </a:lnTo>
                <a:lnTo>
                  <a:pt x="1851002" y="836787"/>
                </a:lnTo>
                <a:lnTo>
                  <a:pt x="1870070" y="901899"/>
                </a:lnTo>
                <a:lnTo>
                  <a:pt x="1908982" y="941262"/>
                </a:lnTo>
                <a:lnTo>
                  <a:pt x="1973133" y="960445"/>
                </a:lnTo>
                <a:lnTo>
                  <a:pt x="2015013" y="962787"/>
                </a:lnTo>
                <a:lnTo>
                  <a:pt x="2181817" y="962787"/>
                </a:lnTo>
                <a:lnTo>
                  <a:pt x="2180379" y="964405"/>
                </a:lnTo>
                <a:lnTo>
                  <a:pt x="2147266" y="986402"/>
                </a:lnTo>
                <a:lnTo>
                  <a:pt x="2106175" y="1002104"/>
                </a:lnTo>
                <a:lnTo>
                  <a:pt x="2057106" y="1011506"/>
                </a:lnTo>
                <a:lnTo>
                  <a:pt x="2000059" y="1014603"/>
                </a:lnTo>
                <a:close/>
              </a:path>
              <a:path w="2371725" h="1068070">
                <a:moveTo>
                  <a:pt x="2181817" y="962787"/>
                </a:moveTo>
                <a:lnTo>
                  <a:pt x="2015013" y="962787"/>
                </a:lnTo>
                <a:lnTo>
                  <a:pt x="2060928" y="959180"/>
                </a:lnTo>
                <a:lnTo>
                  <a:pt x="2099083" y="948225"/>
                </a:lnTo>
                <a:lnTo>
                  <a:pt x="2152078" y="904303"/>
                </a:lnTo>
                <a:lnTo>
                  <a:pt x="2174664" y="829948"/>
                </a:lnTo>
                <a:lnTo>
                  <a:pt x="2180300" y="772380"/>
                </a:lnTo>
                <a:lnTo>
                  <a:pt x="2182177" y="701230"/>
                </a:lnTo>
                <a:lnTo>
                  <a:pt x="2184508" y="327183"/>
                </a:lnTo>
                <a:lnTo>
                  <a:pt x="2184554" y="319849"/>
                </a:lnTo>
                <a:lnTo>
                  <a:pt x="2184653" y="303847"/>
                </a:lnTo>
                <a:lnTo>
                  <a:pt x="2088737" y="216027"/>
                </a:lnTo>
                <a:lnTo>
                  <a:pt x="2350389" y="216027"/>
                </a:lnTo>
                <a:lnTo>
                  <a:pt x="2240565" y="303847"/>
                </a:lnTo>
                <a:lnTo>
                  <a:pt x="2240461" y="712850"/>
                </a:lnTo>
                <a:lnTo>
                  <a:pt x="2240134" y="751427"/>
                </a:lnTo>
                <a:lnTo>
                  <a:pt x="2238839" y="794194"/>
                </a:lnTo>
                <a:lnTo>
                  <a:pt x="2233517" y="857726"/>
                </a:lnTo>
                <a:lnTo>
                  <a:pt x="2222944" y="901243"/>
                </a:lnTo>
                <a:lnTo>
                  <a:pt x="2205513" y="936117"/>
                </a:lnTo>
                <a:lnTo>
                  <a:pt x="2181817" y="962787"/>
                </a:lnTo>
                <a:close/>
              </a:path>
              <a:path w="2371725" h="1068070">
                <a:moveTo>
                  <a:pt x="1970722" y="948690"/>
                </a:moveTo>
                <a:lnTo>
                  <a:pt x="1926871" y="923091"/>
                </a:lnTo>
                <a:lnTo>
                  <a:pt x="1899094" y="887920"/>
                </a:lnTo>
                <a:lnTo>
                  <a:pt x="1884384" y="837482"/>
                </a:lnTo>
                <a:lnTo>
                  <a:pt x="1879377" y="764441"/>
                </a:lnTo>
                <a:lnTo>
                  <a:pt x="1879377" y="303847"/>
                </a:lnTo>
                <a:lnTo>
                  <a:pt x="1949196" y="236315"/>
                </a:lnTo>
                <a:lnTo>
                  <a:pt x="1957768" y="249269"/>
                </a:lnTo>
                <a:lnTo>
                  <a:pt x="1897665" y="310038"/>
                </a:lnTo>
                <a:lnTo>
                  <a:pt x="1897665" y="808672"/>
                </a:lnTo>
                <a:lnTo>
                  <a:pt x="1915963" y="886317"/>
                </a:lnTo>
                <a:lnTo>
                  <a:pt x="1916049" y="886682"/>
                </a:lnTo>
                <a:lnTo>
                  <a:pt x="1924692" y="899003"/>
                </a:lnTo>
                <a:lnTo>
                  <a:pt x="1936480" y="912530"/>
                </a:lnTo>
                <a:lnTo>
                  <a:pt x="1951410" y="927254"/>
                </a:lnTo>
                <a:lnTo>
                  <a:pt x="1969484" y="943165"/>
                </a:lnTo>
                <a:lnTo>
                  <a:pt x="1970618" y="948225"/>
                </a:lnTo>
                <a:lnTo>
                  <a:pt x="1970722" y="948690"/>
                </a:lnTo>
                <a:close/>
              </a:path>
              <a:path w="2371725" h="1068070">
                <a:moveTo>
                  <a:pt x="2137780" y="1051179"/>
                </a:moveTo>
                <a:lnTo>
                  <a:pt x="2016823" y="1051179"/>
                </a:lnTo>
                <a:lnTo>
                  <a:pt x="2080041" y="1046961"/>
                </a:lnTo>
                <a:lnTo>
                  <a:pt x="2134128" y="1034194"/>
                </a:lnTo>
                <a:lnTo>
                  <a:pt x="2179076" y="1012877"/>
                </a:lnTo>
                <a:lnTo>
                  <a:pt x="2214876" y="983010"/>
                </a:lnTo>
                <a:lnTo>
                  <a:pt x="2241518" y="944594"/>
                </a:lnTo>
                <a:lnTo>
                  <a:pt x="2260429" y="879946"/>
                </a:lnTo>
                <a:lnTo>
                  <a:pt x="2266330" y="833597"/>
                </a:lnTo>
                <a:lnTo>
                  <a:pt x="2269846" y="778229"/>
                </a:lnTo>
                <a:lnTo>
                  <a:pt x="2271045" y="712850"/>
                </a:lnTo>
                <a:lnTo>
                  <a:pt x="2271045" y="319849"/>
                </a:lnTo>
                <a:lnTo>
                  <a:pt x="2362104" y="244887"/>
                </a:lnTo>
                <a:lnTo>
                  <a:pt x="2371248" y="257841"/>
                </a:lnTo>
                <a:lnTo>
                  <a:pt x="2287809" y="327183"/>
                </a:lnTo>
                <a:lnTo>
                  <a:pt x="2287737" y="712850"/>
                </a:lnTo>
                <a:lnTo>
                  <a:pt x="2286731" y="772380"/>
                </a:lnTo>
                <a:lnTo>
                  <a:pt x="2286632" y="778229"/>
                </a:lnTo>
                <a:lnTo>
                  <a:pt x="2283142" y="836787"/>
                </a:lnTo>
                <a:lnTo>
                  <a:pt x="2283100" y="837482"/>
                </a:lnTo>
                <a:lnTo>
                  <a:pt x="2277214" y="886317"/>
                </a:lnTo>
                <a:lnTo>
                  <a:pt x="2269042" y="924401"/>
                </a:lnTo>
                <a:lnTo>
                  <a:pt x="2268973" y="924722"/>
                </a:lnTo>
                <a:lnTo>
                  <a:pt x="2258377" y="952690"/>
                </a:lnTo>
                <a:lnTo>
                  <a:pt x="2235144" y="987950"/>
                </a:lnTo>
                <a:lnTo>
                  <a:pt x="2205541" y="1016776"/>
                </a:lnTo>
                <a:lnTo>
                  <a:pt x="2169568" y="1039177"/>
                </a:lnTo>
                <a:lnTo>
                  <a:pt x="2137780" y="1051179"/>
                </a:lnTo>
                <a:close/>
              </a:path>
              <a:path w="2371725" h="1068070">
                <a:moveTo>
                  <a:pt x="2023395" y="1067943"/>
                </a:moveTo>
                <a:lnTo>
                  <a:pt x="1966039" y="1064946"/>
                </a:lnTo>
                <a:lnTo>
                  <a:pt x="1914667" y="1055952"/>
                </a:lnTo>
                <a:lnTo>
                  <a:pt x="1869275" y="1040949"/>
                </a:lnTo>
                <a:lnTo>
                  <a:pt x="1829859" y="1019930"/>
                </a:lnTo>
                <a:lnTo>
                  <a:pt x="1796415" y="992886"/>
                </a:lnTo>
                <a:lnTo>
                  <a:pt x="1801368" y="995267"/>
                </a:lnTo>
                <a:lnTo>
                  <a:pt x="1822894" y="1007459"/>
                </a:lnTo>
                <a:lnTo>
                  <a:pt x="1863308" y="1026640"/>
                </a:lnTo>
                <a:lnTo>
                  <a:pt x="1909107" y="1040320"/>
                </a:lnTo>
                <a:lnTo>
                  <a:pt x="1960282" y="1048500"/>
                </a:lnTo>
                <a:lnTo>
                  <a:pt x="2016823" y="1051179"/>
                </a:lnTo>
                <a:lnTo>
                  <a:pt x="2137780" y="1051179"/>
                </a:lnTo>
                <a:lnTo>
                  <a:pt x="2127221" y="1055165"/>
                </a:lnTo>
                <a:lnTo>
                  <a:pt x="2078498" y="1064750"/>
                </a:lnTo>
                <a:lnTo>
                  <a:pt x="2023395" y="1067943"/>
                </a:lnTo>
                <a:close/>
              </a:path>
            </a:pathLst>
          </a:custGeom>
          <a:solidFill>
            <a:srgbClr val="003399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cricket analyses</dc:title>
  <dcterms:created xsi:type="dcterms:W3CDTF">2026-07-23T08:29:04Z</dcterms:created>
  <dcterms:modified xsi:type="dcterms:W3CDTF">2026-07-23T08:29:04Z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2026-07-23T00:00:00Z</vt:filetime>
  </property>
  <property fmtid="{D5CDD505-2E9C-101B-9397-08002B2CF9AE}" pid="4" name="LastSaved">
    <vt:filetime>2026-07-23T00:00:00Z</vt:filetime>
  </property>
  <property fmtid="{D5CDD505-2E9C-101B-9397-08002B2CF9AE}" pid="5" name="Producer">
    <vt:lpwstr>Microsoft: Print To PDF</vt:lpwstr>
  </property>
</Properties>
</file>