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1986" y="2273278"/>
            <a:ext cx="8088565" cy="2731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9332" y="2008159"/>
            <a:ext cx="8108950" cy="2491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" y="1057655"/>
            <a:ext cx="10017252" cy="56586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9914" y="2466596"/>
            <a:ext cx="7121525" cy="2538095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algn="ctr" marL="12065" marR="5080">
              <a:lnSpc>
                <a:spcPts val="4810"/>
              </a:lnSpc>
              <a:spcBef>
                <a:spcPts val="700"/>
              </a:spcBef>
            </a:pPr>
            <a:r>
              <a:rPr dirty="0" sz="4450" spc="960" b="1">
                <a:solidFill>
                  <a:srgbClr val="FF0000"/>
                </a:solidFill>
                <a:latin typeface="Cambria"/>
                <a:cs typeface="Cambria"/>
              </a:rPr>
              <a:t>CRICKET</a:t>
            </a:r>
            <a:r>
              <a:rPr dirty="0" sz="4450" spc="135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4450" spc="715" b="1">
                <a:solidFill>
                  <a:srgbClr val="FF0000"/>
                </a:solidFill>
                <a:latin typeface="Cambria"/>
                <a:cs typeface="Cambria"/>
              </a:rPr>
              <a:t>ANALYTICS </a:t>
            </a:r>
            <a:r>
              <a:rPr dirty="0" sz="4450" spc="800" b="1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dirty="0" sz="4450" spc="130" b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4450" spc="875" b="1">
                <a:solidFill>
                  <a:srgbClr val="FF0000"/>
                </a:solidFill>
                <a:latin typeface="Cambria"/>
                <a:cs typeface="Cambria"/>
              </a:rPr>
              <a:t>TOURNAMENT </a:t>
            </a:r>
            <a:r>
              <a:rPr dirty="0" sz="4450" spc="1045" b="1">
                <a:solidFill>
                  <a:srgbClr val="FF0000"/>
                </a:solidFill>
                <a:latin typeface="Cambria"/>
                <a:cs typeface="Cambria"/>
              </a:rPr>
              <a:t>INTELLIGENCE </a:t>
            </a:r>
            <a:r>
              <a:rPr dirty="0" sz="4450" spc="880" b="1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endParaRPr sz="4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9212" y="1262445"/>
            <a:ext cx="2749550" cy="102552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50" spc="425">
                <a:latin typeface="Cambria"/>
                <a:cs typeface="Cambria"/>
              </a:rPr>
              <a:t>PRESENTED</a:t>
            </a:r>
            <a:r>
              <a:rPr dirty="0" sz="1650" spc="45">
                <a:latin typeface="Cambria"/>
                <a:cs typeface="Cambria"/>
              </a:rPr>
              <a:t> </a:t>
            </a:r>
            <a:r>
              <a:rPr dirty="0" sz="1650" spc="210">
                <a:latin typeface="Cambria"/>
                <a:cs typeface="Cambria"/>
              </a:rPr>
              <a:t>BY,</a:t>
            </a:r>
            <a:endParaRPr sz="16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875"/>
              </a:spcBef>
            </a:pPr>
            <a:r>
              <a:rPr dirty="0" sz="1450">
                <a:latin typeface="Courier New"/>
                <a:cs typeface="Courier New"/>
              </a:rPr>
              <a:t>GROUP</a:t>
            </a:r>
            <a:r>
              <a:rPr dirty="0" sz="1450" spc="114">
                <a:latin typeface="Courier New"/>
                <a:cs typeface="Courier New"/>
              </a:rPr>
              <a:t> </a:t>
            </a:r>
            <a:r>
              <a:rPr dirty="0" sz="1450" spc="-50">
                <a:latin typeface="Calibri"/>
                <a:cs typeface="Calibri"/>
              </a:rPr>
              <a:t>I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latin typeface="Calibri"/>
                <a:cs typeface="Calibri"/>
              </a:rPr>
              <a:t>MEMBERS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" y="2592324"/>
            <a:ext cx="8406384" cy="256489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5226" y="2586989"/>
          <a:ext cx="8493760" cy="309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670"/>
                <a:gridCol w="3542029"/>
                <a:gridCol w="2101850"/>
                <a:gridCol w="2101850"/>
              </a:tblGrid>
              <a:tr h="3429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College/University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Subject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099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Gaurav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Kishor</a:t>
                      </a:r>
                      <a:r>
                        <a:rPr dirty="0" sz="14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Dhemaji</a:t>
                      </a:r>
                      <a:r>
                        <a:rPr dirty="0" sz="14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2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Jigyash</a:t>
                      </a:r>
                      <a:r>
                        <a:rPr dirty="0" sz="14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13740">
                        <a:lnSpc>
                          <a:spcPct val="102099"/>
                        </a:lnSpc>
                        <a:spcBef>
                          <a:spcPts val="19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North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Lakhimpur 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Anthropology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3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Monojjol</a:t>
                      </a:r>
                      <a:r>
                        <a:rPr dirty="0" sz="14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Borah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13740">
                        <a:lnSpc>
                          <a:spcPct val="102099"/>
                        </a:lnSpc>
                        <a:spcBef>
                          <a:spcPts val="19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North</a:t>
                      </a:r>
                      <a:r>
                        <a:rPr dirty="0" sz="14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Lakhimpur University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Statistics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4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Riddhi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35">
                          <a:latin typeface="Calibri"/>
                          <a:cs typeface="Calibri"/>
                        </a:rPr>
                        <a:t>Kr.</a:t>
                      </a:r>
                      <a:r>
                        <a:rPr dirty="0" sz="1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Dutta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Silapathar</a:t>
                      </a:r>
                      <a:r>
                        <a:rPr dirty="0" sz="14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5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Rokibur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Rahman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A.D.P.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6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Saradi</a:t>
                      </a:r>
                      <a:r>
                        <a:rPr dirty="0" sz="14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Boruah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370205" indent="-43180">
                        <a:lnSpc>
                          <a:spcPct val="102099"/>
                        </a:lnSpc>
                        <a:spcBef>
                          <a:spcPts val="22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Dhakuakhana</a:t>
                      </a:r>
                      <a:r>
                        <a:rPr dirty="0" sz="14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College (Autonomous)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Physics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072" y="1384738"/>
            <a:ext cx="343344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2650" spc="165">
                <a:uFill>
                  <a:solidFill>
                    <a:srgbClr val="000000"/>
                  </a:solidFill>
                </a:uFill>
              </a:rPr>
              <a:t>Project</a:t>
            </a:r>
            <a:r>
              <a:rPr dirty="0" u="sng" sz="2650" spc="-3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650" spc="120">
                <a:uFill>
                  <a:solidFill>
                    <a:srgbClr val="000000"/>
                  </a:solidFill>
                </a:uFill>
              </a:rPr>
              <a:t>Objective</a:t>
            </a:r>
            <a:r>
              <a:rPr dirty="0" sz="2650" spc="-15"/>
              <a:t> </a:t>
            </a:r>
            <a:r>
              <a:rPr dirty="0" sz="2650" spc="-375"/>
              <a:t>: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872709" y="2046217"/>
            <a:ext cx="7994015" cy="3898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project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analyzes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IPL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team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performances </a:t>
            </a:r>
            <a:r>
              <a:rPr dirty="0" sz="2300" spc="165">
                <a:latin typeface="Trebuchet MS"/>
                <a:cs typeface="Trebuchet MS"/>
              </a:rPr>
              <a:t>using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Python,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Pandas,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Matplotlib.</a:t>
            </a:r>
            <a:endParaRPr sz="2300">
              <a:latin typeface="Trebuchet MS"/>
              <a:cs typeface="Trebuchet MS"/>
            </a:endParaRPr>
          </a:p>
          <a:p>
            <a:pPr marL="85725">
              <a:lnSpc>
                <a:spcPct val="100000"/>
              </a:lnSpc>
              <a:spcBef>
                <a:spcPts val="10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project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includes: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buSzPct val="95652"/>
              <a:buAutoNum type="arabicPeriod"/>
              <a:tabLst>
                <a:tab pos="352425" algn="l"/>
              </a:tabLst>
            </a:pPr>
            <a:r>
              <a:rPr dirty="0" sz="2300" spc="105">
                <a:latin typeface="Trebuchet MS"/>
                <a:cs typeface="Trebuchet MS"/>
              </a:rPr>
              <a:t>Data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Cleaning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90">
                <a:latin typeface="Trebuchet MS"/>
                <a:cs typeface="Trebuchet MS"/>
              </a:rPr>
              <a:t>Batting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5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140">
                <a:latin typeface="Trebuchet MS"/>
                <a:cs typeface="Trebuchet MS"/>
              </a:rPr>
              <a:t>Bowling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90">
                <a:latin typeface="Trebuchet MS"/>
                <a:cs typeface="Trebuchet MS"/>
              </a:rPr>
              <a:t>Team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352425" algn="l"/>
              </a:tabLst>
            </a:pPr>
            <a:r>
              <a:rPr dirty="0" sz="2300" spc="70">
                <a:latin typeface="Trebuchet MS"/>
                <a:cs typeface="Trebuchet MS"/>
              </a:rPr>
              <a:t>Statistical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Analysis</a:t>
            </a:r>
            <a:endParaRPr sz="2300">
              <a:latin typeface="Trebuchet MS"/>
              <a:cs typeface="Trebuchet MS"/>
            </a:endParaRPr>
          </a:p>
          <a:p>
            <a:pPr marL="424815" indent="-339090">
              <a:lnSpc>
                <a:spcPct val="100000"/>
              </a:lnSpc>
              <a:spcBef>
                <a:spcPts val="15"/>
              </a:spcBef>
              <a:buSzPct val="95652"/>
              <a:buAutoNum type="arabicPeriod"/>
              <a:tabLst>
                <a:tab pos="424815" algn="l"/>
              </a:tabLst>
            </a:pPr>
            <a:r>
              <a:rPr dirty="0" sz="2300" spc="100">
                <a:latin typeface="Trebuchet MS"/>
                <a:cs typeface="Trebuchet MS"/>
              </a:rPr>
              <a:t>Player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Index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(PPI)</a:t>
            </a:r>
            <a:endParaRPr sz="2300">
              <a:latin typeface="Trebuchet MS"/>
              <a:cs typeface="Trebuchet MS"/>
            </a:endParaRPr>
          </a:p>
          <a:p>
            <a:pPr marL="352425" indent="-266700">
              <a:lnSpc>
                <a:spcPct val="100000"/>
              </a:lnSpc>
              <a:spcBef>
                <a:spcPts val="10"/>
              </a:spcBef>
              <a:buSzPct val="95652"/>
              <a:buAutoNum type="arabicPeriod"/>
              <a:tabLst>
                <a:tab pos="352425" algn="l"/>
              </a:tabLst>
            </a:pPr>
            <a:r>
              <a:rPr dirty="0" sz="2300" spc="105">
                <a:latin typeface="Trebuchet MS"/>
                <a:cs typeface="Trebuchet MS"/>
              </a:rPr>
              <a:t>Data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Visualization.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170" y="1512873"/>
            <a:ext cx="21520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75">
                <a:latin typeface="Verdana"/>
                <a:cs typeface="Verdana"/>
              </a:rPr>
              <a:t>DATA</a:t>
            </a:r>
            <a:r>
              <a:rPr dirty="0" sz="1950" spc="-15">
                <a:latin typeface="Verdana"/>
                <a:cs typeface="Verdana"/>
              </a:rPr>
              <a:t> </a:t>
            </a:r>
            <a:r>
              <a:rPr dirty="0" sz="1950" spc="140">
                <a:latin typeface="Verdana"/>
                <a:cs typeface="Verdana"/>
              </a:rPr>
              <a:t>SOURCE</a:t>
            </a:r>
            <a:r>
              <a:rPr dirty="0" sz="1950" spc="10">
                <a:latin typeface="Verdana"/>
                <a:cs typeface="Verdana"/>
              </a:rPr>
              <a:t> </a:t>
            </a:r>
            <a:r>
              <a:rPr dirty="0" sz="1950" spc="-5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63824" y="2128511"/>
            <a:ext cx="122047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latin typeface="Trebuchet MS"/>
                <a:cs typeface="Trebuchet MS"/>
              </a:rPr>
              <a:t>Dataset: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057" y="2832530"/>
            <a:ext cx="3973829" cy="24911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14"/>
              </a:spcBef>
              <a:buAutoNum type="arabicPeriod"/>
              <a:tabLst>
                <a:tab pos="349250" algn="l"/>
              </a:tabLst>
            </a:pPr>
            <a:r>
              <a:rPr dirty="0" sz="2300" spc="70">
                <a:latin typeface="Trebuchet MS"/>
                <a:cs typeface="Trebuchet MS"/>
              </a:rPr>
              <a:t>Ipl_Tournament_Data.csv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 marL="422275" indent="-336550">
              <a:lnSpc>
                <a:spcPct val="100000"/>
              </a:lnSpc>
              <a:buAutoNum type="arabicPeriod"/>
              <a:tabLst>
                <a:tab pos="422275" algn="l"/>
              </a:tabLst>
            </a:pPr>
            <a:r>
              <a:rPr dirty="0" sz="2300" spc="85">
                <a:latin typeface="Trebuchet MS"/>
                <a:cs typeface="Trebuchet MS"/>
              </a:rPr>
              <a:t>cleaned_data.csv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Trebuchet MS"/>
              <a:buAutoNum type="arabicPeriod"/>
            </a:pPr>
            <a:endParaRPr sz="2300">
              <a:latin typeface="Trebuchet MS"/>
              <a:cs typeface="Trebuchet MS"/>
            </a:endParaRPr>
          </a:p>
          <a:p>
            <a:pPr marL="352425" indent="-273050">
              <a:lnSpc>
                <a:spcPct val="100000"/>
              </a:lnSpc>
              <a:buAutoNum type="arabicPeriod"/>
              <a:tabLst>
                <a:tab pos="352425" algn="l"/>
              </a:tabLst>
            </a:pPr>
            <a:r>
              <a:rPr dirty="0" sz="2300" spc="90">
                <a:latin typeface="Trebuchet MS"/>
                <a:cs typeface="Trebuchet MS"/>
              </a:rPr>
              <a:t>team_summary.csv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1885188"/>
            <a:ext cx="2042160" cy="0"/>
          </a:xfrm>
          <a:custGeom>
            <a:avLst/>
            <a:gdLst/>
            <a:ahLst/>
            <a:cxnLst/>
            <a:rect l="l" t="t" r="r" b="b"/>
            <a:pathLst>
              <a:path w="2042160" h="0">
                <a:moveTo>
                  <a:pt x="0" y="0"/>
                </a:moveTo>
                <a:lnTo>
                  <a:pt x="2042159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3604" y="1409131"/>
            <a:ext cx="530733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10"/>
              <a:t>1.</a:t>
            </a:r>
            <a:r>
              <a:rPr dirty="0" sz="2650" spc="-375"/>
              <a:t> </a:t>
            </a:r>
            <a:r>
              <a:rPr dirty="0" u="sng" sz="2650" spc="-40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650" spc="65">
                <a:uFill>
                  <a:solidFill>
                    <a:srgbClr val="000000"/>
                  </a:solidFill>
                </a:uFill>
              </a:rPr>
              <a:t>Ipl_Tournament_Data.csv</a:t>
            </a:r>
            <a:r>
              <a:rPr dirty="0" u="sng" sz="2650" spc="-4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490"/>
              <a:t>: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753936" y="2122479"/>
            <a:ext cx="9100185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5725" marR="5080" indent="-7366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contains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250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records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18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attributes. </a:t>
            </a:r>
            <a:r>
              <a:rPr dirty="0" sz="2300" spc="65">
                <a:latin typeface="Trebuchet MS"/>
                <a:cs typeface="Trebuchet MS"/>
              </a:rPr>
              <a:t>ipl_tournament_data.csv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primary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project.</a:t>
            </a:r>
            <a:r>
              <a:rPr dirty="0" sz="2300" spc="575">
                <a:latin typeface="Trebuchet MS"/>
                <a:cs typeface="Trebuchet MS"/>
              </a:rPr>
              <a:t> 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contains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detailed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match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data, </a:t>
            </a:r>
            <a:r>
              <a:rPr dirty="0" sz="2300" spc="95">
                <a:latin typeface="Trebuchet MS"/>
                <a:cs typeface="Trebuchet MS"/>
              </a:rPr>
              <a:t>including</a:t>
            </a:r>
            <a:r>
              <a:rPr dirty="0" sz="2300" spc="2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information,</a:t>
            </a:r>
            <a:r>
              <a:rPr dirty="0" sz="2300" spc="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batting,</a:t>
            </a:r>
            <a:r>
              <a:rPr dirty="0" sz="2300" spc="3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fielding,</a:t>
            </a:r>
            <a:r>
              <a:rPr dirty="0" sz="2300" spc="6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venues,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match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results.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raw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dataset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used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starting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35">
                <a:latin typeface="Trebuchet MS"/>
                <a:cs typeface="Trebuchet MS"/>
              </a:rPr>
              <a:t>point </a:t>
            </a:r>
            <a:r>
              <a:rPr dirty="0" sz="2300">
                <a:latin typeface="Trebuchet MS"/>
                <a:cs typeface="Trebuchet MS"/>
              </a:rPr>
              <a:t>for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data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cleaning,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analysis,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creation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summarized </a:t>
            </a:r>
            <a:r>
              <a:rPr dirty="0" sz="2300">
                <a:latin typeface="Trebuchet MS"/>
                <a:cs typeface="Trebuchet MS"/>
              </a:rPr>
              <a:t>team-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5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data.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772" y="1450386"/>
            <a:ext cx="3869054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-10"/>
              <a:t>2.</a:t>
            </a:r>
            <a:r>
              <a:rPr dirty="0" sz="2650" spc="-570"/>
              <a:t> </a:t>
            </a:r>
            <a:r>
              <a:rPr dirty="0" u="sng" sz="2650" spc="-1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650" spc="114">
                <a:uFill>
                  <a:solidFill>
                    <a:srgbClr val="000000"/>
                  </a:solidFill>
                </a:uFill>
              </a:rPr>
              <a:t>cleaned_data.csv</a:t>
            </a:r>
            <a:r>
              <a:rPr dirty="0" u="sng" sz="2650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375"/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1350" y="2146750"/>
            <a:ext cx="7747634" cy="21285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20"/>
              </a:spcBef>
            </a:pPr>
            <a:r>
              <a:rPr dirty="0" sz="2300" spc="95">
                <a:latin typeface="Trebuchet MS"/>
                <a:cs typeface="Trebuchet MS"/>
              </a:rPr>
              <a:t>cleaned_data.csv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processed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cleaned </a:t>
            </a:r>
            <a:r>
              <a:rPr dirty="0" sz="2300" spc="120">
                <a:latin typeface="Trebuchet MS"/>
                <a:cs typeface="Trebuchet MS"/>
              </a:rPr>
              <a:t>version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5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original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dataset.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contains </a:t>
            </a:r>
            <a:r>
              <a:rPr dirty="0" sz="2300" spc="114">
                <a:latin typeface="Trebuchet MS"/>
                <a:cs typeface="Trebuchet MS"/>
              </a:rPr>
              <a:t>organized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standardized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match,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player,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fielding,</a:t>
            </a:r>
            <a:r>
              <a:rPr dirty="0" sz="2300" spc="-4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result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data.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cleaned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dataset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used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for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accurate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analysis,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data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aggregation,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and </a:t>
            </a:r>
            <a:r>
              <a:rPr dirty="0" sz="2300" spc="70">
                <a:latin typeface="Trebuchet MS"/>
                <a:cs typeface="Trebuchet MS"/>
              </a:rPr>
              <a:t>visualization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project</a:t>
            </a:r>
            <a:r>
              <a:rPr dirty="0" sz="2300" spc="-10">
                <a:latin typeface="Arial MT"/>
                <a:cs typeface="Arial MT"/>
              </a:rPr>
              <a:t>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972" y="1369513"/>
            <a:ext cx="409384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13360">
              <a:lnSpc>
                <a:spcPct val="100000"/>
              </a:lnSpc>
              <a:spcBef>
                <a:spcPts val="90"/>
              </a:spcBef>
            </a:pPr>
            <a:r>
              <a:rPr dirty="0" u="heavy" sz="2650" spc="-4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650" spc="65">
                <a:uFill>
                  <a:solidFill>
                    <a:srgbClr val="000000"/>
                  </a:solidFill>
                </a:uFill>
              </a:rPr>
              <a:t>.team_summary.csv</a:t>
            </a:r>
            <a:r>
              <a:rPr dirty="0" u="heavy" sz="2650" spc="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sz="2650" spc="-375"/>
              <a:t>: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pc="75"/>
              <a:t>team_summary.csv,</a:t>
            </a:r>
            <a:r>
              <a:rPr dirty="0" spc="-135"/>
              <a:t> </a:t>
            </a:r>
            <a:r>
              <a:rPr dirty="0"/>
              <a:t>It</a:t>
            </a:r>
            <a:r>
              <a:rPr dirty="0" spc="-114"/>
              <a:t> </a:t>
            </a:r>
            <a:r>
              <a:rPr dirty="0" spc="120"/>
              <a:t>contains</a:t>
            </a:r>
            <a:r>
              <a:rPr dirty="0" spc="-130"/>
              <a:t> </a:t>
            </a:r>
            <a:r>
              <a:rPr dirty="0" spc="170"/>
              <a:t>10</a:t>
            </a:r>
            <a:r>
              <a:rPr dirty="0" spc="-165"/>
              <a:t> </a:t>
            </a:r>
            <a:r>
              <a:rPr dirty="0" spc="125"/>
              <a:t>teams</a:t>
            </a:r>
            <a:r>
              <a:rPr dirty="0" spc="-130"/>
              <a:t> </a:t>
            </a:r>
            <a:r>
              <a:rPr dirty="0" spc="145"/>
              <a:t>and</a:t>
            </a:r>
            <a:r>
              <a:rPr dirty="0" spc="-120"/>
              <a:t> </a:t>
            </a:r>
            <a:r>
              <a:rPr dirty="0" spc="165"/>
              <a:t>4</a:t>
            </a:r>
            <a:r>
              <a:rPr dirty="0" spc="-110"/>
              <a:t> </a:t>
            </a:r>
            <a:r>
              <a:rPr dirty="0" spc="45"/>
              <a:t>attributes </a:t>
            </a:r>
            <a:r>
              <a:rPr dirty="0" spc="145"/>
              <a:t>is</a:t>
            </a:r>
            <a:r>
              <a:rPr dirty="0" spc="-100"/>
              <a:t> </a:t>
            </a:r>
            <a:r>
              <a:rPr dirty="0" spc="50"/>
              <a:t>the</a:t>
            </a:r>
            <a:r>
              <a:rPr dirty="0" spc="-114"/>
              <a:t> </a:t>
            </a:r>
            <a:r>
              <a:rPr dirty="0" spc="55" b="1">
                <a:latin typeface="Trebuchet MS"/>
                <a:cs typeface="Trebuchet MS"/>
              </a:rPr>
              <a:t>summarized</a:t>
            </a:r>
            <a:r>
              <a:rPr dirty="0" spc="-12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team-</a:t>
            </a:r>
            <a:r>
              <a:rPr dirty="0" spc="-25" b="1">
                <a:latin typeface="Trebuchet MS"/>
                <a:cs typeface="Trebuchet MS"/>
              </a:rPr>
              <a:t>level</a:t>
            </a:r>
            <a:r>
              <a:rPr dirty="0" spc="-145" b="1">
                <a:latin typeface="Trebuchet MS"/>
                <a:cs typeface="Trebuchet MS"/>
              </a:rPr>
              <a:t> </a:t>
            </a:r>
            <a:r>
              <a:rPr dirty="0" spc="65" b="1">
                <a:latin typeface="Trebuchet MS"/>
                <a:cs typeface="Trebuchet MS"/>
              </a:rPr>
              <a:t>dataset</a:t>
            </a:r>
            <a:r>
              <a:rPr dirty="0" spc="-135" b="1">
                <a:latin typeface="Trebuchet MS"/>
                <a:cs typeface="Trebuchet MS"/>
              </a:rPr>
              <a:t> </a:t>
            </a:r>
            <a:r>
              <a:rPr dirty="0" spc="95"/>
              <a:t>created</a:t>
            </a:r>
            <a:r>
              <a:rPr dirty="0" spc="-125"/>
              <a:t> </a:t>
            </a:r>
            <a:r>
              <a:rPr dirty="0" spc="55"/>
              <a:t>from</a:t>
            </a:r>
            <a:r>
              <a:rPr dirty="0" spc="-100"/>
              <a:t> </a:t>
            </a:r>
            <a:r>
              <a:rPr dirty="0" spc="-25"/>
              <a:t>the </a:t>
            </a:r>
            <a:r>
              <a:rPr dirty="0" spc="110"/>
              <a:t>cleaned</a:t>
            </a:r>
            <a:r>
              <a:rPr dirty="0" spc="-125"/>
              <a:t> </a:t>
            </a:r>
            <a:r>
              <a:rPr dirty="0" spc="185"/>
              <a:t>IPL</a:t>
            </a:r>
            <a:r>
              <a:rPr dirty="0" spc="-95"/>
              <a:t> </a:t>
            </a:r>
            <a:r>
              <a:rPr dirty="0"/>
              <a:t>data.</a:t>
            </a:r>
            <a:r>
              <a:rPr dirty="0" spc="-120"/>
              <a:t> </a:t>
            </a:r>
            <a:r>
              <a:rPr dirty="0"/>
              <a:t>It</a:t>
            </a:r>
            <a:r>
              <a:rPr dirty="0" spc="-95"/>
              <a:t> </a:t>
            </a:r>
            <a:r>
              <a:rPr dirty="0" spc="125"/>
              <a:t>provides</a:t>
            </a:r>
            <a:r>
              <a:rPr dirty="0" spc="-135"/>
              <a:t> </a:t>
            </a:r>
            <a:r>
              <a:rPr dirty="0" spc="135"/>
              <a:t>an</a:t>
            </a:r>
            <a:r>
              <a:rPr dirty="0" spc="-100"/>
              <a:t> </a:t>
            </a:r>
            <a:r>
              <a:rPr dirty="0" spc="60"/>
              <a:t>overall</a:t>
            </a:r>
            <a:r>
              <a:rPr dirty="0" spc="-110"/>
              <a:t> </a:t>
            </a:r>
            <a:r>
              <a:rPr dirty="0" spc="150"/>
              <a:t>comparison</a:t>
            </a:r>
            <a:r>
              <a:rPr dirty="0" spc="-145"/>
              <a:t> </a:t>
            </a:r>
            <a:r>
              <a:rPr dirty="0" spc="-25"/>
              <a:t>of </a:t>
            </a:r>
            <a:r>
              <a:rPr dirty="0" spc="125"/>
              <a:t>teams</a:t>
            </a:r>
            <a:r>
              <a:rPr dirty="0" spc="-135"/>
              <a:t> </a:t>
            </a:r>
            <a:r>
              <a:rPr dirty="0" spc="180"/>
              <a:t>based</a:t>
            </a:r>
            <a:r>
              <a:rPr dirty="0" spc="-160"/>
              <a:t> </a:t>
            </a:r>
            <a:r>
              <a:rPr dirty="0" spc="145"/>
              <a:t>on</a:t>
            </a:r>
            <a:r>
              <a:rPr dirty="0" spc="-110"/>
              <a:t> </a:t>
            </a:r>
            <a:r>
              <a:rPr dirty="0" spc="75"/>
              <a:t>key</a:t>
            </a:r>
            <a:r>
              <a:rPr dirty="0" spc="-130"/>
              <a:t> </a:t>
            </a:r>
            <a:r>
              <a:rPr dirty="0" spc="114"/>
              <a:t>performance</a:t>
            </a:r>
            <a:r>
              <a:rPr dirty="0" spc="-165"/>
              <a:t> </a:t>
            </a:r>
            <a:r>
              <a:rPr dirty="0" spc="95"/>
              <a:t>indicators</a:t>
            </a:r>
            <a:r>
              <a:rPr dirty="0" spc="-150"/>
              <a:t> </a:t>
            </a:r>
            <a:r>
              <a:rPr dirty="0" spc="185"/>
              <a:t>such</a:t>
            </a:r>
            <a:r>
              <a:rPr dirty="0" spc="-110"/>
              <a:t> </a:t>
            </a:r>
            <a:r>
              <a:rPr dirty="0" spc="245"/>
              <a:t>as</a:t>
            </a:r>
            <a:r>
              <a:rPr dirty="0" spc="-150"/>
              <a:t> </a:t>
            </a:r>
            <a:r>
              <a:rPr dirty="0" spc="-10" b="1">
                <a:latin typeface="Trebuchet MS"/>
                <a:cs typeface="Trebuchet MS"/>
              </a:rPr>
              <a:t>total </a:t>
            </a:r>
            <a:r>
              <a:rPr dirty="0" b="1">
                <a:latin typeface="Trebuchet MS"/>
                <a:cs typeface="Trebuchet MS"/>
              </a:rPr>
              <a:t>runs,</a:t>
            </a:r>
            <a:r>
              <a:rPr dirty="0" spc="-114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total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wickets,</a:t>
            </a:r>
            <a:r>
              <a:rPr dirty="0" spc="-135" b="1">
                <a:latin typeface="Trebuchet MS"/>
                <a:cs typeface="Trebuchet MS"/>
              </a:rPr>
              <a:t> </a:t>
            </a:r>
            <a:r>
              <a:rPr dirty="0" spc="100" b="1">
                <a:latin typeface="Trebuchet MS"/>
                <a:cs typeface="Trebuchet MS"/>
              </a:rPr>
              <a:t>and</a:t>
            </a:r>
            <a:r>
              <a:rPr dirty="0" spc="-12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total</a:t>
            </a:r>
            <a:r>
              <a:rPr dirty="0" spc="-105" b="1">
                <a:latin typeface="Trebuchet MS"/>
                <a:cs typeface="Trebuchet MS"/>
              </a:rPr>
              <a:t> </a:t>
            </a:r>
            <a:r>
              <a:rPr dirty="0" spc="70" b="1">
                <a:latin typeface="Trebuchet MS"/>
                <a:cs typeface="Trebuchet MS"/>
              </a:rPr>
              <a:t>matches</a:t>
            </a:r>
            <a:r>
              <a:rPr dirty="0" spc="-110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played</a:t>
            </a:r>
            <a:r>
              <a:rPr dirty="0"/>
              <a:t>.</a:t>
            </a:r>
            <a:r>
              <a:rPr dirty="0" spc="-110"/>
              <a:t> </a:t>
            </a:r>
            <a:r>
              <a:rPr dirty="0" spc="125"/>
              <a:t>This</a:t>
            </a:r>
            <a:r>
              <a:rPr dirty="0" spc="-110"/>
              <a:t> </a:t>
            </a:r>
            <a:r>
              <a:rPr dirty="0"/>
              <a:t>file</a:t>
            </a:r>
            <a:r>
              <a:rPr dirty="0" spc="-70"/>
              <a:t> </a:t>
            </a:r>
            <a:r>
              <a:rPr dirty="0" spc="120"/>
              <a:t>is </a:t>
            </a:r>
            <a:r>
              <a:rPr dirty="0" spc="185"/>
              <a:t>used</a:t>
            </a:r>
            <a:r>
              <a:rPr dirty="0" spc="-140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 spc="100"/>
              <a:t>analyze</a:t>
            </a:r>
            <a:r>
              <a:rPr dirty="0" spc="-165"/>
              <a:t> </a:t>
            </a:r>
            <a:r>
              <a:rPr dirty="0" spc="145"/>
              <a:t>and</a:t>
            </a:r>
            <a:r>
              <a:rPr dirty="0" spc="-120"/>
              <a:t> </a:t>
            </a:r>
            <a:r>
              <a:rPr dirty="0" spc="140"/>
              <a:t>compare</a:t>
            </a:r>
            <a:r>
              <a:rPr dirty="0" spc="-140"/>
              <a:t> </a:t>
            </a:r>
            <a:r>
              <a:rPr dirty="0" spc="50"/>
              <a:t>the</a:t>
            </a:r>
            <a:r>
              <a:rPr dirty="0" spc="-114"/>
              <a:t> </a:t>
            </a:r>
            <a:r>
              <a:rPr dirty="0" spc="60"/>
              <a:t>overall</a:t>
            </a:r>
            <a:r>
              <a:rPr dirty="0" spc="-130"/>
              <a:t> </a:t>
            </a:r>
            <a:r>
              <a:rPr dirty="0" spc="114"/>
              <a:t>performance</a:t>
            </a:r>
            <a:r>
              <a:rPr dirty="0" spc="-135"/>
              <a:t> </a:t>
            </a:r>
            <a:r>
              <a:rPr dirty="0" spc="-25"/>
              <a:t>of </a:t>
            </a:r>
            <a:r>
              <a:rPr dirty="0"/>
              <a:t>different</a:t>
            </a:r>
            <a:r>
              <a:rPr dirty="0" spc="5"/>
              <a:t> </a:t>
            </a:r>
            <a:r>
              <a:rPr dirty="0" spc="185"/>
              <a:t>IPL</a:t>
            </a:r>
            <a:r>
              <a:rPr dirty="0" spc="35"/>
              <a:t> </a:t>
            </a:r>
            <a:r>
              <a:rPr dirty="0" spc="50"/>
              <a:t>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2829" rIns="0" bIns="0" rtlCol="0" vert="horz">
            <a:spAutoFit/>
          </a:bodyPr>
          <a:lstStyle/>
          <a:p>
            <a:pPr marL="654050">
              <a:lnSpc>
                <a:spcPct val="100000"/>
              </a:lnSpc>
              <a:spcBef>
                <a:spcPts val="105"/>
              </a:spcBef>
            </a:pPr>
            <a:r>
              <a:rPr dirty="0" spc="285"/>
              <a:t>BATTING</a:t>
            </a:r>
            <a:r>
              <a:rPr dirty="0" spc="-120"/>
              <a:t> </a:t>
            </a:r>
            <a:r>
              <a:rPr dirty="0" spc="250"/>
              <a:t>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750" y="2303726"/>
            <a:ext cx="8548370" cy="14351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85">
                <a:latin typeface="Trebuchet MS"/>
                <a:cs typeface="Trebuchet MS"/>
              </a:rPr>
              <a:t>Batting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analysis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studies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players'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balls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faced,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b="1">
                <a:latin typeface="Trebuchet MS"/>
                <a:cs typeface="Trebuchet MS"/>
              </a:rPr>
              <a:t>fours,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sixes,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5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understand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theirperformance.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batsmen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effective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hitters 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tournament.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971" y="1164674"/>
            <a:ext cx="3802567" cy="54579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7826" y="1398807"/>
            <a:ext cx="4024036" cy="48023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865" y="2134543"/>
            <a:ext cx="7694930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compares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average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45" b="1">
                <a:latin typeface="Trebuchet MS"/>
                <a:cs typeface="Trebuchet MS"/>
              </a:rPr>
              <a:t>rate,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and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boundary </a:t>
            </a:r>
            <a:r>
              <a:rPr dirty="0" sz="2300" spc="45" b="1">
                <a:latin typeface="Trebuchet MS"/>
                <a:cs typeface="Trebuchet MS"/>
              </a:rPr>
              <a:t>percentage</a:t>
            </a:r>
            <a:r>
              <a:rPr dirty="0" sz="2300" spc="45">
                <a:latin typeface="Trebuchet MS"/>
                <a:cs typeface="Trebuchet MS"/>
              </a:rPr>
              <a:t>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For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scored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the </a:t>
            </a:r>
            <a:r>
              <a:rPr dirty="0" sz="2300" spc="70" b="1">
                <a:latin typeface="Trebuchet MS"/>
                <a:cs typeface="Trebuchet MS"/>
              </a:rPr>
              <a:t>highest</a:t>
            </a:r>
            <a:r>
              <a:rPr dirty="0" sz="2300" spc="-16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(371)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had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average </a:t>
            </a:r>
            <a:r>
              <a:rPr dirty="0" sz="2300" spc="-45">
                <a:latin typeface="Trebuchet MS"/>
                <a:cs typeface="Trebuchet MS"/>
              </a:rPr>
              <a:t>(</a:t>
            </a:r>
            <a:r>
              <a:rPr dirty="0" sz="2300" spc="-45" b="1">
                <a:latin typeface="Trebuchet MS"/>
                <a:cs typeface="Trebuchet MS"/>
              </a:rPr>
              <a:t>74.2</a:t>
            </a:r>
            <a:r>
              <a:rPr dirty="0" sz="2300" spc="-45">
                <a:latin typeface="Trebuchet MS"/>
                <a:cs typeface="Trebuchet MS"/>
              </a:rPr>
              <a:t>),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while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Rinku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had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the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highest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rate </a:t>
            </a:r>
            <a:r>
              <a:rPr dirty="0" sz="2300" spc="-35" b="1">
                <a:latin typeface="Trebuchet MS"/>
                <a:cs typeface="Trebuchet MS"/>
              </a:rPr>
              <a:t>(169.73)</a:t>
            </a:r>
            <a:r>
              <a:rPr dirty="0" sz="2300" spc="-35">
                <a:latin typeface="Trebuchet MS"/>
                <a:cs typeface="Trebuchet MS"/>
              </a:rPr>
              <a:t>.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229">
                <a:latin typeface="Trebuchet MS"/>
                <a:cs typeface="Trebuchet MS"/>
              </a:rPr>
              <a:t>us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5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top-</a:t>
            </a:r>
            <a:r>
              <a:rPr dirty="0" sz="2300" spc="100">
                <a:latin typeface="Trebuchet MS"/>
                <a:cs typeface="Trebuchet MS"/>
              </a:rPr>
              <a:t>performing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130">
                <a:latin typeface="Trebuchet MS"/>
                <a:cs typeface="Trebuchet MS"/>
              </a:rPr>
              <a:t>most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aggressive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batsmen</a:t>
            </a:r>
            <a:r>
              <a:rPr dirty="0" sz="1450" spc="95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6445" rIns="0" bIns="0" rtlCol="0" vert="horz">
            <a:spAutoFit/>
          </a:bodyPr>
          <a:lstStyle/>
          <a:p>
            <a:pPr marL="475615" marR="5080" indent="838200">
              <a:lnSpc>
                <a:spcPct val="100000"/>
              </a:lnSpc>
              <a:spcBef>
                <a:spcPts val="105"/>
              </a:spcBef>
            </a:pPr>
            <a:r>
              <a:rPr dirty="0" spc="350"/>
              <a:t>GRAPHICAL </a:t>
            </a:r>
            <a:r>
              <a:rPr dirty="0" spc="305"/>
              <a:t>REPRESENTATION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833" y="1290990"/>
            <a:ext cx="8288377" cy="5351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1986" y="2273278"/>
            <a:ext cx="7468234" cy="143510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bar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batsmen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35" b="1">
                <a:latin typeface="Trebuchet MS"/>
                <a:cs typeface="Trebuchet MS"/>
              </a:rPr>
              <a:t>based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35" b="1">
                <a:latin typeface="Trebuchet MS"/>
                <a:cs typeface="Trebuchet MS"/>
              </a:rPr>
              <a:t>on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scored</a:t>
            </a:r>
            <a:r>
              <a:rPr dirty="0" sz="2300" spc="75">
                <a:latin typeface="Trebuchet MS"/>
                <a:cs typeface="Trebuchet MS"/>
              </a:rPr>
              <a:t>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scorer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371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Prabhsimran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with </a:t>
            </a:r>
            <a:r>
              <a:rPr dirty="0" sz="2300" b="1">
                <a:latin typeface="Trebuchet MS"/>
                <a:cs typeface="Trebuchet MS"/>
              </a:rPr>
              <a:t>368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Rishabh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Pant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with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359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runs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5524" rIns="0" bIns="0" rtlCol="0" vert="horz">
            <a:spAutoFit/>
          </a:bodyPr>
          <a:lstStyle/>
          <a:p>
            <a:pPr marL="915035">
              <a:lnSpc>
                <a:spcPct val="100000"/>
              </a:lnSpc>
              <a:spcBef>
                <a:spcPts val="105"/>
              </a:spcBef>
            </a:pPr>
            <a:r>
              <a:rPr dirty="0" spc="229"/>
              <a:t>BOWLING</a:t>
            </a:r>
            <a:r>
              <a:rPr dirty="0" spc="-100"/>
              <a:t> </a:t>
            </a:r>
            <a:r>
              <a:rPr dirty="0" spc="250"/>
              <a:t>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6737" y="2501920"/>
            <a:ext cx="7403465" cy="21297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14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bowling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compares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bowlers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on </a:t>
            </a:r>
            <a:r>
              <a:rPr dirty="0" sz="2300" b="1">
                <a:latin typeface="Trebuchet MS"/>
                <a:cs typeface="Trebuchet MS"/>
              </a:rPr>
              <a:t>wickets,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economy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-45" b="1">
                <a:latin typeface="Trebuchet MS"/>
                <a:cs typeface="Trebuchet MS"/>
              </a:rPr>
              <a:t>rate,</a:t>
            </a:r>
            <a:r>
              <a:rPr dirty="0" sz="2300" spc="-8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6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bowling</a:t>
            </a:r>
            <a:r>
              <a:rPr dirty="0" sz="2300" spc="-6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average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For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Mohammed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Shami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took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wickets </a:t>
            </a:r>
            <a:r>
              <a:rPr dirty="0" sz="2300" spc="-35" b="1">
                <a:latin typeface="Trebuchet MS"/>
                <a:cs typeface="Trebuchet MS"/>
              </a:rPr>
              <a:t>(10)</a:t>
            </a:r>
            <a:r>
              <a:rPr dirty="0" sz="2300" spc="-35">
                <a:latin typeface="Trebuchet MS"/>
                <a:cs typeface="Trebuchet MS"/>
              </a:rPr>
              <a:t>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Axar</a:t>
            </a:r>
            <a:r>
              <a:rPr dirty="0" sz="2300" spc="-14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Patel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had</a:t>
            </a:r>
            <a:r>
              <a:rPr dirty="0" sz="2300" spc="-16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the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best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economy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rate </a:t>
            </a:r>
            <a:r>
              <a:rPr dirty="0" sz="2300" spc="-45" b="1">
                <a:latin typeface="Trebuchet MS"/>
                <a:cs typeface="Trebuchet MS"/>
              </a:rPr>
              <a:t>(4.446)</a:t>
            </a:r>
            <a:r>
              <a:rPr dirty="0" sz="2300" spc="-45">
                <a:latin typeface="Trebuchet MS"/>
                <a:cs typeface="Trebuchet MS"/>
              </a:rPr>
              <a:t>.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Mohammed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Shami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Arshdeep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Singh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also </a:t>
            </a:r>
            <a:r>
              <a:rPr dirty="0" sz="2300" spc="130">
                <a:latin typeface="Trebuchet MS"/>
                <a:cs typeface="Trebuchet MS"/>
              </a:rPr>
              <a:t>recorded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best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bowling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average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0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1.5</a:t>
            </a:r>
            <a:r>
              <a:rPr dirty="0" sz="2300" spc="-2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820" y="1217428"/>
            <a:ext cx="4107404" cy="5485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8813" y="1380777"/>
            <a:ext cx="4282134" cy="31089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4130" rIns="0" bIns="0" rtlCol="0" vert="horz">
            <a:spAutoFit/>
          </a:bodyPr>
          <a:lstStyle/>
          <a:p>
            <a:pPr marL="600710" marR="5080" indent="1048385">
              <a:lnSpc>
                <a:spcPct val="100000"/>
              </a:lnSpc>
              <a:spcBef>
                <a:spcPts val="105"/>
              </a:spcBef>
            </a:pPr>
            <a:r>
              <a:rPr dirty="0" spc="350"/>
              <a:t>GRAPHICAL </a:t>
            </a:r>
            <a:r>
              <a:rPr dirty="0" spc="305"/>
              <a:t>REPRESENTATION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613" y="1416182"/>
            <a:ext cx="9320113" cy="5145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9202" rIns="0" bIns="0" rtlCol="0" vert="horz">
            <a:spAutoFit/>
          </a:bodyPr>
          <a:lstStyle/>
          <a:p>
            <a:pPr marL="327660" marR="5080">
              <a:lnSpc>
                <a:spcPct val="100499"/>
              </a:lnSpc>
              <a:spcBef>
                <a:spcPts val="100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bar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top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bowlers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135" b="1">
                <a:latin typeface="Trebuchet MS"/>
                <a:cs typeface="Trebuchet MS"/>
              </a:rPr>
              <a:t>based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on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Mohammed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Shami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took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number</a:t>
            </a:r>
            <a:endParaRPr sz="2300">
              <a:latin typeface="Trebuchet MS"/>
              <a:cs typeface="Trebuchet MS"/>
            </a:endParaRPr>
          </a:p>
          <a:p>
            <a:pPr marL="327660" marR="476250">
              <a:lnSpc>
                <a:spcPct val="100400"/>
              </a:lnSpc>
            </a:pP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wickets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-35" b="1">
                <a:latin typeface="Trebuchet MS"/>
                <a:cs typeface="Trebuchet MS"/>
              </a:rPr>
              <a:t>10</a:t>
            </a:r>
            <a:r>
              <a:rPr dirty="0" sz="2300" spc="-35">
                <a:latin typeface="Trebuchet MS"/>
                <a:cs typeface="Trebuchet MS"/>
              </a:rPr>
              <a:t>,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85" b="1">
                <a:latin typeface="Trebuchet MS"/>
                <a:cs typeface="Trebuchet MS"/>
              </a:rPr>
              <a:t>Arshdeep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Singh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and </a:t>
            </a:r>
            <a:r>
              <a:rPr dirty="0" sz="2300" spc="90" b="1">
                <a:latin typeface="Trebuchet MS"/>
                <a:cs typeface="Trebuchet MS"/>
              </a:rPr>
              <a:t>Shivam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Dube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-20" b="1">
                <a:latin typeface="Trebuchet MS"/>
                <a:cs typeface="Trebuchet MS"/>
              </a:rPr>
              <a:t>with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9</a:t>
            </a:r>
            <a:r>
              <a:rPr dirty="0" sz="2300" spc="-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each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0938" rIns="0" bIns="0" rtlCol="0" vert="horz">
            <a:spAutoFit/>
          </a:bodyPr>
          <a:lstStyle/>
          <a:p>
            <a:pPr marL="1272540">
              <a:lnSpc>
                <a:spcPct val="100000"/>
              </a:lnSpc>
              <a:spcBef>
                <a:spcPts val="105"/>
              </a:spcBef>
            </a:pPr>
            <a:r>
              <a:rPr dirty="0" spc="465"/>
              <a:t>TEAM</a:t>
            </a:r>
            <a:r>
              <a:rPr dirty="0" spc="-60"/>
              <a:t> </a:t>
            </a:r>
            <a:r>
              <a:rPr dirty="0" spc="250"/>
              <a:t>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17" y="1243438"/>
            <a:ext cx="3875547" cy="53257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7992" y="1350406"/>
            <a:ext cx="3689014" cy="41375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5078" rIns="0" bIns="0" rtlCol="0" vert="horz">
            <a:spAutoFit/>
          </a:bodyPr>
          <a:lstStyle/>
          <a:p>
            <a:pPr marL="137160" marR="192405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analysis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compares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teams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wins, </a:t>
            </a:r>
            <a:r>
              <a:rPr dirty="0" sz="2300" b="1">
                <a:latin typeface="Trebuchet MS"/>
                <a:cs typeface="Trebuchet MS"/>
              </a:rPr>
              <a:t>run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rate,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total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runs,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wickets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For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example,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Gujarat </a:t>
            </a:r>
            <a:r>
              <a:rPr dirty="0" sz="2300" b="1">
                <a:latin typeface="Trebuchet MS"/>
                <a:cs typeface="Trebuchet MS"/>
              </a:rPr>
              <a:t>Titans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60" b="1">
                <a:latin typeface="Trebuchet MS"/>
                <a:cs typeface="Trebuchet MS"/>
              </a:rPr>
              <a:t>recorded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75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most</a:t>
            </a:r>
            <a:r>
              <a:rPr dirty="0" sz="2300" spc="-80" b="1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wins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(5)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4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Delhi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Capitals </a:t>
            </a:r>
            <a:r>
              <a:rPr dirty="0" sz="2300" spc="100" b="1">
                <a:latin typeface="Trebuchet MS"/>
                <a:cs typeface="Trebuchet MS"/>
              </a:rPr>
              <a:t>had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the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highest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run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30" b="1">
                <a:latin typeface="Trebuchet MS"/>
                <a:cs typeface="Trebuchet MS"/>
              </a:rPr>
              <a:t>(9.46)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total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75" b="1">
                <a:latin typeface="Trebuchet MS"/>
                <a:cs typeface="Trebuchet MS"/>
              </a:rPr>
              <a:t>runs</a:t>
            </a:r>
            <a:r>
              <a:rPr dirty="0" sz="2300" spc="-15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(1104)</a:t>
            </a:r>
            <a:r>
              <a:rPr dirty="0" sz="2300" spc="-10">
                <a:latin typeface="Trebuchet MS"/>
                <a:cs typeface="Trebuchet MS"/>
              </a:rPr>
              <a:t>.</a:t>
            </a:r>
            <a:endParaRPr sz="2300">
              <a:latin typeface="Trebuchet MS"/>
              <a:cs typeface="Trebuchet MS"/>
            </a:endParaRPr>
          </a:p>
          <a:p>
            <a:pPr marL="137160" marR="5080">
              <a:lnSpc>
                <a:spcPct val="100400"/>
              </a:lnSpc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20">
                <a:latin typeface="Trebuchet MS"/>
                <a:cs typeface="Trebuchet MS"/>
              </a:rPr>
              <a:t>us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compare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performance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3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different</a:t>
            </a:r>
            <a:r>
              <a:rPr dirty="0" sz="2300" spc="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teams.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6942" rIns="0" bIns="0" rtlCol="0" vert="horz">
            <a:spAutoFit/>
          </a:bodyPr>
          <a:lstStyle/>
          <a:p>
            <a:pPr marL="864235" marR="5080" indent="1017269">
              <a:lnSpc>
                <a:spcPct val="100000"/>
              </a:lnSpc>
              <a:spcBef>
                <a:spcPts val="105"/>
              </a:spcBef>
            </a:pPr>
            <a:r>
              <a:rPr dirty="0" spc="350"/>
              <a:t>GRAPHICAL </a:t>
            </a:r>
            <a:r>
              <a:rPr dirty="0" spc="305"/>
              <a:t>REPRESENTATION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704" y="1541150"/>
            <a:ext cx="6841516" cy="46535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7792" y="1960908"/>
            <a:ext cx="8050530" cy="3898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pie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chart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illustrates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distribution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total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runs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different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IPL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teams.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Each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slicerepresents</a:t>
            </a:r>
            <a:r>
              <a:rPr dirty="0" sz="2300" spc="5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team's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contribution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total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runs.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Delhi </a:t>
            </a:r>
            <a:r>
              <a:rPr dirty="0" sz="2300" spc="110">
                <a:latin typeface="Trebuchet MS"/>
                <a:cs typeface="Trebuchet MS"/>
              </a:rPr>
              <a:t>Capitals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have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largest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share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at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13.5%,indicating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total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among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teams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shown,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by </a:t>
            </a:r>
            <a:r>
              <a:rPr dirty="0" sz="2300" spc="55">
                <a:latin typeface="Trebuchet MS"/>
                <a:cs typeface="Trebuchet MS"/>
              </a:rPr>
              <a:t>Gujarat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Titans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(12.0%)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LucknowSuper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Giants </a:t>
            </a:r>
            <a:r>
              <a:rPr dirty="0" sz="2300" spc="95">
                <a:latin typeface="Trebuchet MS"/>
                <a:cs typeface="Trebuchet MS"/>
              </a:rPr>
              <a:t>(11.6%).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On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other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hand,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KolkataKnight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Riders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(8.1%), </a:t>
            </a:r>
            <a:r>
              <a:rPr dirty="0" sz="2300" spc="175">
                <a:latin typeface="Trebuchet MS"/>
                <a:cs typeface="Trebuchet MS"/>
              </a:rPr>
              <a:t>Sunrisers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Hyderabad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(7.4%),and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Chennai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Super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204">
                <a:latin typeface="Trebuchet MS"/>
                <a:cs typeface="Trebuchet MS"/>
              </a:rPr>
              <a:t>Kings </a:t>
            </a:r>
            <a:r>
              <a:rPr dirty="0" sz="2300" spc="120">
                <a:latin typeface="Trebuchet MS"/>
                <a:cs typeface="Trebuchet MS"/>
              </a:rPr>
              <a:t>(6.7%)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have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comparativelysmaller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shares.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relativelybalanced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distribution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total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among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teams.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0938" rIns="0" bIns="0" rtlCol="0" vert="horz">
            <a:spAutoFit/>
          </a:bodyPr>
          <a:lstStyle/>
          <a:p>
            <a:pPr marL="2092325" marR="5080" indent="-539750">
              <a:lnSpc>
                <a:spcPct val="100000"/>
              </a:lnSpc>
              <a:spcBef>
                <a:spcPts val="105"/>
              </a:spcBef>
            </a:pPr>
            <a:r>
              <a:rPr dirty="0" spc="225"/>
              <a:t>STATISTICAL </a:t>
            </a:r>
            <a:r>
              <a:rPr dirty="0" spc="250"/>
              <a:t>ANALYSIS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7687" y="1057655"/>
            <a:ext cx="3712952" cy="56014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916" y="1770326"/>
            <a:ext cx="8462010" cy="3898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analysis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average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runs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32.78</a:t>
            </a:r>
            <a:r>
              <a:rPr dirty="0" sz="2300" spc="-10">
                <a:latin typeface="Trebuchet MS"/>
                <a:cs typeface="Trebuchet MS"/>
              </a:rPr>
              <a:t>,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median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-30" b="1">
                <a:latin typeface="Trebuchet MS"/>
                <a:cs typeface="Trebuchet MS"/>
              </a:rPr>
              <a:t>20</a:t>
            </a:r>
            <a:r>
              <a:rPr dirty="0" sz="2300" spc="-30">
                <a:latin typeface="Trebuchet MS"/>
                <a:cs typeface="Trebuchet MS"/>
              </a:rPr>
              <a:t>,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indicating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high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increase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average.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most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common </a:t>
            </a:r>
            <a:r>
              <a:rPr dirty="0" sz="2300" spc="175">
                <a:latin typeface="Trebuchet MS"/>
                <a:cs typeface="Trebuchet MS"/>
              </a:rPr>
              <a:t>score</a:t>
            </a:r>
            <a:r>
              <a:rPr dirty="0" sz="2300" spc="-17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-55" b="1">
                <a:latin typeface="Trebuchet MS"/>
                <a:cs typeface="Trebuchet MS"/>
              </a:rPr>
              <a:t>0</a:t>
            </a:r>
            <a:r>
              <a:rPr dirty="0" sz="2300" spc="-55">
                <a:latin typeface="Trebuchet MS"/>
                <a:cs typeface="Trebuchet MS"/>
              </a:rPr>
              <a:t>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meaning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many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were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dismissed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35">
                <a:latin typeface="Trebuchet MS"/>
                <a:cs typeface="Trebuchet MS"/>
              </a:rPr>
              <a:t>without </a:t>
            </a:r>
            <a:r>
              <a:rPr dirty="0" sz="2300" spc="120">
                <a:latin typeface="Trebuchet MS"/>
                <a:cs typeface="Trebuchet MS"/>
              </a:rPr>
              <a:t>scoring.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204">
                <a:latin typeface="Trebuchet MS"/>
                <a:cs typeface="Trebuchet MS"/>
              </a:rPr>
              <a:t>Runs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range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from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0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to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114</a:t>
            </a:r>
            <a:r>
              <a:rPr dirty="0" sz="2300" spc="-25">
                <a:latin typeface="Trebuchet MS"/>
                <a:cs typeface="Trebuchet MS"/>
              </a:rPr>
              <a:t>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showing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wide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variation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performance.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economy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rate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204">
                <a:latin typeface="Trebuchet MS"/>
                <a:cs typeface="Trebuchet MS"/>
              </a:rPr>
              <a:t>has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variance</a:t>
            </a:r>
            <a:endParaRPr sz="2300">
              <a:latin typeface="Trebuchet MS"/>
              <a:cs typeface="Trebuchet MS"/>
            </a:endParaRPr>
          </a:p>
          <a:p>
            <a:pPr marL="12700" marR="36195">
              <a:lnSpc>
                <a:spcPct val="100400"/>
              </a:lnSpc>
            </a:pP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6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18.06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standard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deviation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4.25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suggesting </a:t>
            </a:r>
            <a:r>
              <a:rPr dirty="0" sz="2300" spc="90">
                <a:latin typeface="Trebuchet MS"/>
                <a:cs typeface="Trebuchet MS"/>
              </a:rPr>
              <a:t>moderate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differences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among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bowlers.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correlation </a:t>
            </a:r>
            <a:r>
              <a:rPr dirty="0" sz="2300" spc="90">
                <a:latin typeface="Trebuchet MS"/>
                <a:cs typeface="Trebuchet MS"/>
              </a:rPr>
              <a:t>between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30" b="1">
                <a:latin typeface="Trebuchet MS"/>
                <a:cs typeface="Trebuchet MS"/>
              </a:rPr>
              <a:t>Runs</a:t>
            </a:r>
            <a:r>
              <a:rPr dirty="0" sz="2300" spc="-10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Rate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50" b="1">
                <a:latin typeface="Trebuchet MS"/>
                <a:cs typeface="Trebuchet MS"/>
              </a:rPr>
              <a:t>0.64</a:t>
            </a:r>
            <a:r>
              <a:rPr dirty="0" sz="2300" spc="-50">
                <a:latin typeface="Trebuchet MS"/>
                <a:cs typeface="Trebuchet MS"/>
              </a:rPr>
              <a:t>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which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indicates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 </a:t>
            </a:r>
            <a:r>
              <a:rPr dirty="0" sz="2300" spc="75">
                <a:latin typeface="Trebuchet MS"/>
                <a:cs typeface="Trebuchet MS"/>
              </a:rPr>
              <a:t>moderately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strong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positive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relationship—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who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score </a:t>
            </a:r>
            <a:r>
              <a:rPr dirty="0" sz="2300" spc="120">
                <a:latin typeface="Trebuchet MS"/>
                <a:cs typeface="Trebuchet MS"/>
              </a:rPr>
              <a:t>more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runs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generally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tend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have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higher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strike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5524" rIns="0" bIns="0" rtlCol="0" vert="horz">
            <a:spAutoFit/>
          </a:bodyPr>
          <a:lstStyle/>
          <a:p>
            <a:pPr marL="597535" marR="5080" indent="1023619">
              <a:lnSpc>
                <a:spcPct val="100000"/>
              </a:lnSpc>
              <a:spcBef>
                <a:spcPts val="105"/>
              </a:spcBef>
            </a:pPr>
            <a:r>
              <a:rPr dirty="0" spc="350"/>
              <a:t>GRAPHICAL </a:t>
            </a:r>
            <a:r>
              <a:rPr dirty="0" spc="305"/>
              <a:t>REPRESENTATION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933" y="1623755"/>
            <a:ext cx="8079836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5128" y="1915094"/>
            <a:ext cx="7374890" cy="3195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histogram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distribution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player </a:t>
            </a:r>
            <a:r>
              <a:rPr dirty="0" sz="2300" spc="135">
                <a:latin typeface="Trebuchet MS"/>
                <a:cs typeface="Trebuchet MS"/>
              </a:rPr>
              <a:t>scores.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Most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0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00" b="1">
                <a:latin typeface="Trebuchet MS"/>
                <a:cs typeface="Trebuchet MS"/>
              </a:rPr>
              <a:t>and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20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runs</a:t>
            </a:r>
            <a:r>
              <a:rPr dirty="0" sz="2300" spc="-10">
                <a:latin typeface="Trebuchet MS"/>
                <a:cs typeface="Trebuchet MS"/>
              </a:rPr>
              <a:t>,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indicated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by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highest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bars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left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side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of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chart.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310">
                <a:latin typeface="Trebuchet MS"/>
                <a:cs typeface="Trebuchet MS"/>
              </a:rPr>
              <a:t>As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number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55">
                <a:latin typeface="Trebuchet MS"/>
                <a:cs typeface="Trebuchet MS"/>
              </a:rPr>
              <a:t> runs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increases,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95">
                <a:latin typeface="Trebuchet MS"/>
                <a:cs typeface="Trebuchet MS"/>
              </a:rPr>
              <a:t>frequency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9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decreases.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Only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5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players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50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runs</a:t>
            </a:r>
            <a:r>
              <a:rPr dirty="0" sz="2300" spc="-150" b="1">
                <a:latin typeface="Trebuchet MS"/>
                <a:cs typeface="Trebuchet MS"/>
              </a:rPr>
              <a:t> </a:t>
            </a:r>
            <a:r>
              <a:rPr dirty="0" sz="2300" spc="70" b="1">
                <a:latin typeface="Trebuchet MS"/>
                <a:cs typeface="Trebuchet MS"/>
              </a:rPr>
              <a:t>or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more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very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above </a:t>
            </a:r>
            <a:r>
              <a:rPr dirty="0" sz="2300" b="1">
                <a:latin typeface="Trebuchet MS"/>
                <a:cs typeface="Trebuchet MS"/>
              </a:rPr>
              <a:t>100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spc="65" b="1">
                <a:latin typeface="Trebuchet MS"/>
                <a:cs typeface="Trebuchet MS"/>
              </a:rPr>
              <a:t>runs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rare.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95">
                <a:latin typeface="Trebuchet MS"/>
                <a:cs typeface="Trebuchet MS"/>
              </a:rPr>
              <a:t>suggests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that </a:t>
            </a:r>
            <a:r>
              <a:rPr dirty="0" sz="2300" spc="85">
                <a:latin typeface="Trebuchet MS"/>
                <a:cs typeface="Trebuchet MS"/>
              </a:rPr>
              <a:t>low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moderate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scores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were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much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more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common </a:t>
            </a:r>
            <a:r>
              <a:rPr dirty="0" sz="2300" spc="70">
                <a:latin typeface="Trebuchet MS"/>
                <a:cs typeface="Trebuchet MS"/>
              </a:rPr>
              <a:t>than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scores</a:t>
            </a:r>
            <a:r>
              <a:rPr dirty="0" sz="1450" spc="160"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2120" rIns="0" bIns="0" rtlCol="0" vert="horz">
            <a:spAutoFit/>
          </a:bodyPr>
          <a:lstStyle/>
          <a:p>
            <a:pPr marL="1198245">
              <a:lnSpc>
                <a:spcPct val="100000"/>
              </a:lnSpc>
              <a:spcBef>
                <a:spcPts val="105"/>
              </a:spcBef>
            </a:pPr>
            <a:r>
              <a:rPr dirty="0" spc="200"/>
              <a:t>VISUALIZATION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5439" y="1623755"/>
            <a:ext cx="7015941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332" y="1691192"/>
            <a:ext cx="8115300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line</a:t>
            </a:r>
            <a:r>
              <a:rPr dirty="0" sz="2300" spc="-3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210">
                <a:latin typeface="Trebuchet MS"/>
                <a:cs typeface="Trebuchet MS"/>
              </a:rPr>
              <a:t>shows</a:t>
            </a:r>
            <a:r>
              <a:rPr dirty="0" sz="2300" spc="-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Virat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Kohli's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match-</a:t>
            </a:r>
            <a:r>
              <a:rPr dirty="0" sz="2300" spc="120">
                <a:latin typeface="Trebuchet MS"/>
                <a:cs typeface="Trebuchet MS"/>
              </a:rPr>
              <a:t>wise </a:t>
            </a:r>
            <a:r>
              <a:rPr dirty="0" sz="2300" spc="114">
                <a:latin typeface="Trebuchet MS"/>
                <a:cs typeface="Trebuchet MS"/>
              </a:rPr>
              <a:t>performance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00">
                <a:latin typeface="Trebuchet MS"/>
                <a:cs typeface="Trebuchet MS"/>
              </a:rPr>
              <a:t>across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five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matches.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He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high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7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93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Match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11,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followed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sharp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decline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23,10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16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runs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Matches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12,13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14.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His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performance </a:t>
            </a:r>
            <a:r>
              <a:rPr dirty="0" sz="2300" spc="65">
                <a:latin typeface="Trebuchet MS"/>
                <a:cs typeface="Trebuchet MS"/>
              </a:rPr>
              <a:t>then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improved,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scoring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40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Match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15.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95">
                <a:latin typeface="Trebuchet MS"/>
                <a:cs typeface="Trebuchet MS"/>
              </a:rPr>
              <a:t>chart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highlights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excellent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start,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temporary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dip</a:t>
            </a:r>
            <a:r>
              <a:rPr dirty="0" sz="2300" spc="-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in </a:t>
            </a:r>
            <a:r>
              <a:rPr dirty="0" sz="2300">
                <a:latin typeface="Trebuchet MS"/>
                <a:cs typeface="Trebuchet MS"/>
              </a:rPr>
              <a:t>form,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gradual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recovery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later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match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975" y="1623755"/>
            <a:ext cx="7680284" cy="44890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280" y="1662181"/>
            <a:ext cx="7999730" cy="2842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scatter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plot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15">
                <a:latin typeface="Trebuchet MS"/>
                <a:cs typeface="Trebuchet MS"/>
              </a:rPr>
              <a:t>shows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5">
                <a:latin typeface="Trebuchet MS"/>
                <a:cs typeface="Trebuchet MS"/>
              </a:rPr>
              <a:t>relationship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 b="1">
                <a:latin typeface="Trebuchet MS"/>
                <a:cs typeface="Trebuchet MS"/>
              </a:rPr>
              <a:t>Runs scored</a:t>
            </a:r>
            <a:r>
              <a:rPr dirty="0" sz="2300" spc="-114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Strike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Rate</a:t>
            </a:r>
            <a:r>
              <a:rPr dirty="0" sz="2300">
                <a:latin typeface="Trebuchet MS"/>
                <a:cs typeface="Trebuchet MS"/>
              </a:rPr>
              <a:t>.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points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indicate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10" b="1">
                <a:latin typeface="Trebuchet MS"/>
                <a:cs typeface="Trebuchet MS"/>
              </a:rPr>
              <a:t>moderate </a:t>
            </a:r>
            <a:r>
              <a:rPr dirty="0" sz="2300" b="1">
                <a:latin typeface="Trebuchet MS"/>
                <a:cs typeface="Trebuchet MS"/>
              </a:rPr>
              <a:t>positive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correlation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meaning</a:t>
            </a:r>
            <a:r>
              <a:rPr dirty="0" sz="2300" spc="-4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players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who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score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more </a:t>
            </a:r>
            <a:r>
              <a:rPr dirty="0" sz="2300" spc="155">
                <a:latin typeface="Trebuchet MS"/>
                <a:cs typeface="Trebuchet MS"/>
              </a:rPr>
              <a:t>runs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generally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tend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to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have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higher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strike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rates.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Most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have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strike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rates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between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100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and</a:t>
            </a:r>
            <a:r>
              <a:rPr dirty="0" sz="2300" spc="-130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180</a:t>
            </a:r>
            <a:r>
              <a:rPr dirty="0" sz="2300" spc="-25">
                <a:latin typeface="Trebuchet MS"/>
                <a:cs typeface="Trebuchet MS"/>
              </a:rPr>
              <a:t>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while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a </a:t>
            </a:r>
            <a:r>
              <a:rPr dirty="0" sz="2300">
                <a:latin typeface="Trebuchet MS"/>
                <a:cs typeface="Trebuchet MS"/>
              </a:rPr>
              <a:t>few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exceptional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reach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above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200</a:t>
            </a:r>
            <a:r>
              <a:rPr dirty="0" sz="2300" spc="-25">
                <a:latin typeface="Trebuchet MS"/>
                <a:cs typeface="Trebuchet MS"/>
              </a:rPr>
              <a:t>.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Overall,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chart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suggests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that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higher-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innings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often </a:t>
            </a:r>
            <a:r>
              <a:rPr dirty="0" sz="2300" spc="140">
                <a:latin typeface="Trebuchet MS"/>
                <a:cs typeface="Trebuchet MS"/>
              </a:rPr>
              <a:t>associated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faster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9278" y="3108323"/>
            <a:ext cx="1405890" cy="9309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5900" spc="370">
                <a:latin typeface="Verdana"/>
                <a:cs typeface="Verdana"/>
              </a:rPr>
              <a:t>PPI</a:t>
            </a:r>
            <a:endParaRPr sz="5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9" y="1244538"/>
            <a:ext cx="8195309" cy="2125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combines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player's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ability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scoring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speed </a:t>
            </a:r>
            <a:r>
              <a:rPr dirty="0" sz="2300">
                <a:latin typeface="Trebuchet MS"/>
                <a:cs typeface="Trebuchet MS"/>
              </a:rPr>
              <a:t>into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single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value.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295">
                <a:latin typeface="Trebuchet MS"/>
                <a:cs typeface="Trebuchet MS"/>
              </a:rPr>
              <a:t>A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higher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PPI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indicates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better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overall </a:t>
            </a:r>
            <a:r>
              <a:rPr dirty="0" sz="2300" spc="60">
                <a:latin typeface="Trebuchet MS"/>
                <a:cs typeface="Trebuchet MS"/>
              </a:rPr>
              <a:t>batting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performance,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reflecting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both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consistency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and </a:t>
            </a:r>
            <a:r>
              <a:rPr dirty="0" sz="2300" spc="160">
                <a:latin typeface="Trebuchet MS"/>
                <a:cs typeface="Trebuchet MS"/>
              </a:rPr>
              <a:t>aggressive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scoring.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It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useful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for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comparing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55">
                <a:latin typeface="Trebuchet MS"/>
                <a:cs typeface="Trebuchet MS"/>
              </a:rPr>
              <a:t>identifying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top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performers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dataset.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ts val="2665"/>
              </a:lnSpc>
            </a:pPr>
            <a:r>
              <a:rPr dirty="0" sz="2300" b="1">
                <a:latin typeface="Calibri"/>
                <a:cs typeface="Calibri"/>
              </a:rPr>
              <a:t>PPI</a:t>
            </a:r>
            <a:r>
              <a:rPr dirty="0" sz="2300" spc="-25" b="1">
                <a:latin typeface="Calibri"/>
                <a:cs typeface="Calibri"/>
              </a:rPr>
              <a:t> </a:t>
            </a:r>
            <a:r>
              <a:rPr dirty="0" sz="2300" spc="-10" b="1">
                <a:latin typeface="Calibri"/>
                <a:cs typeface="Calibri"/>
              </a:rPr>
              <a:t>Formula: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51660" y="3483864"/>
            <a:ext cx="965200" cy="175260"/>
          </a:xfrm>
          <a:custGeom>
            <a:avLst/>
            <a:gdLst/>
            <a:ahLst/>
            <a:cxnLst/>
            <a:rect l="l" t="t" r="r" b="b"/>
            <a:pathLst>
              <a:path w="965200" h="175260">
                <a:moveTo>
                  <a:pt x="909827" y="175260"/>
                </a:moveTo>
                <a:lnTo>
                  <a:pt x="906779" y="167640"/>
                </a:lnTo>
                <a:lnTo>
                  <a:pt x="917352" y="163353"/>
                </a:lnTo>
                <a:lnTo>
                  <a:pt x="926210" y="157353"/>
                </a:lnTo>
                <a:lnTo>
                  <a:pt x="946975" y="116395"/>
                </a:lnTo>
                <a:lnTo>
                  <a:pt x="949393" y="88392"/>
                </a:lnTo>
                <a:lnTo>
                  <a:pt x="949451" y="86868"/>
                </a:lnTo>
                <a:lnTo>
                  <a:pt x="943665" y="45934"/>
                </a:lnTo>
                <a:lnTo>
                  <a:pt x="917352" y="11906"/>
                </a:lnTo>
                <a:lnTo>
                  <a:pt x="906779" y="7620"/>
                </a:lnTo>
                <a:lnTo>
                  <a:pt x="909827" y="0"/>
                </a:lnTo>
                <a:lnTo>
                  <a:pt x="943260" y="19931"/>
                </a:lnTo>
                <a:lnTo>
                  <a:pt x="961263" y="57150"/>
                </a:lnTo>
                <a:lnTo>
                  <a:pt x="963773" y="71699"/>
                </a:lnTo>
                <a:lnTo>
                  <a:pt x="963834" y="72056"/>
                </a:lnTo>
                <a:lnTo>
                  <a:pt x="964612" y="86868"/>
                </a:lnTo>
                <a:lnTo>
                  <a:pt x="964692" y="88392"/>
                </a:lnTo>
                <a:lnTo>
                  <a:pt x="963932" y="102274"/>
                </a:lnTo>
                <a:lnTo>
                  <a:pt x="963834" y="104060"/>
                </a:lnTo>
                <a:lnTo>
                  <a:pt x="950975" y="144780"/>
                </a:lnTo>
                <a:lnTo>
                  <a:pt x="922686" y="170711"/>
                </a:lnTo>
                <a:lnTo>
                  <a:pt x="909827" y="175260"/>
                </a:lnTo>
                <a:close/>
              </a:path>
              <a:path w="965200" h="175260">
                <a:moveTo>
                  <a:pt x="54863" y="175260"/>
                </a:moveTo>
                <a:lnTo>
                  <a:pt x="22288" y="155328"/>
                </a:lnTo>
                <a:lnTo>
                  <a:pt x="3428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5" y="30480"/>
                </a:lnTo>
                <a:lnTo>
                  <a:pt x="42862" y="4548"/>
                </a:lnTo>
                <a:lnTo>
                  <a:pt x="54863" y="0"/>
                </a:lnTo>
                <a:lnTo>
                  <a:pt x="57911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7" y="140208"/>
                </a:lnTo>
                <a:lnTo>
                  <a:pt x="57911" y="167640"/>
                </a:lnTo>
                <a:lnTo>
                  <a:pt x="54863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75432" y="3483864"/>
            <a:ext cx="1160145" cy="175260"/>
          </a:xfrm>
          <a:custGeom>
            <a:avLst/>
            <a:gdLst/>
            <a:ahLst/>
            <a:cxnLst/>
            <a:rect l="l" t="t" r="r" b="b"/>
            <a:pathLst>
              <a:path w="1160145" h="175260">
                <a:moveTo>
                  <a:pt x="1104900" y="175260"/>
                </a:moveTo>
                <a:lnTo>
                  <a:pt x="1101852" y="167640"/>
                </a:lnTo>
                <a:lnTo>
                  <a:pt x="1112424" y="163353"/>
                </a:lnTo>
                <a:lnTo>
                  <a:pt x="1121283" y="157353"/>
                </a:lnTo>
                <a:lnTo>
                  <a:pt x="1142047" y="116395"/>
                </a:lnTo>
                <a:lnTo>
                  <a:pt x="1144465" y="88392"/>
                </a:lnTo>
                <a:lnTo>
                  <a:pt x="1144524" y="86868"/>
                </a:lnTo>
                <a:lnTo>
                  <a:pt x="1138737" y="45934"/>
                </a:lnTo>
                <a:lnTo>
                  <a:pt x="1112424" y="11906"/>
                </a:lnTo>
                <a:lnTo>
                  <a:pt x="1101852" y="7620"/>
                </a:lnTo>
                <a:lnTo>
                  <a:pt x="1104900" y="0"/>
                </a:lnTo>
                <a:lnTo>
                  <a:pt x="1138332" y="19931"/>
                </a:lnTo>
                <a:lnTo>
                  <a:pt x="1156335" y="57150"/>
                </a:lnTo>
                <a:lnTo>
                  <a:pt x="1158845" y="71699"/>
                </a:lnTo>
                <a:lnTo>
                  <a:pt x="1158906" y="72056"/>
                </a:lnTo>
                <a:lnTo>
                  <a:pt x="1159684" y="86868"/>
                </a:lnTo>
                <a:lnTo>
                  <a:pt x="1159764" y="88392"/>
                </a:lnTo>
                <a:lnTo>
                  <a:pt x="1159004" y="102274"/>
                </a:lnTo>
                <a:lnTo>
                  <a:pt x="1158906" y="104060"/>
                </a:lnTo>
                <a:lnTo>
                  <a:pt x="1146048" y="144780"/>
                </a:lnTo>
                <a:lnTo>
                  <a:pt x="1117758" y="170711"/>
                </a:lnTo>
                <a:lnTo>
                  <a:pt x="1104900" y="175260"/>
                </a:lnTo>
                <a:close/>
              </a:path>
              <a:path w="1160145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92752" y="3483864"/>
            <a:ext cx="1047115" cy="175260"/>
          </a:xfrm>
          <a:custGeom>
            <a:avLst/>
            <a:gdLst/>
            <a:ahLst/>
            <a:cxnLst/>
            <a:rect l="l" t="t" r="r" b="b"/>
            <a:pathLst>
              <a:path w="1047114" h="175260">
                <a:moveTo>
                  <a:pt x="992124" y="175260"/>
                </a:moveTo>
                <a:lnTo>
                  <a:pt x="989076" y="167640"/>
                </a:lnTo>
                <a:lnTo>
                  <a:pt x="999648" y="163353"/>
                </a:lnTo>
                <a:lnTo>
                  <a:pt x="1008507" y="157353"/>
                </a:lnTo>
                <a:lnTo>
                  <a:pt x="1029271" y="116395"/>
                </a:lnTo>
                <a:lnTo>
                  <a:pt x="1031689" y="88392"/>
                </a:lnTo>
                <a:lnTo>
                  <a:pt x="1031748" y="86868"/>
                </a:lnTo>
                <a:lnTo>
                  <a:pt x="1025961" y="45934"/>
                </a:lnTo>
                <a:lnTo>
                  <a:pt x="999648" y="11906"/>
                </a:lnTo>
                <a:lnTo>
                  <a:pt x="989076" y="7620"/>
                </a:lnTo>
                <a:lnTo>
                  <a:pt x="992124" y="0"/>
                </a:lnTo>
                <a:lnTo>
                  <a:pt x="1025556" y="19931"/>
                </a:lnTo>
                <a:lnTo>
                  <a:pt x="1043559" y="57150"/>
                </a:lnTo>
                <a:lnTo>
                  <a:pt x="1046069" y="71699"/>
                </a:lnTo>
                <a:lnTo>
                  <a:pt x="1046130" y="72056"/>
                </a:lnTo>
                <a:lnTo>
                  <a:pt x="1046908" y="86868"/>
                </a:lnTo>
                <a:lnTo>
                  <a:pt x="1046988" y="88392"/>
                </a:lnTo>
                <a:lnTo>
                  <a:pt x="1046228" y="102274"/>
                </a:lnTo>
                <a:lnTo>
                  <a:pt x="1046130" y="104060"/>
                </a:lnTo>
                <a:lnTo>
                  <a:pt x="1033272" y="144780"/>
                </a:lnTo>
                <a:lnTo>
                  <a:pt x="1004982" y="170711"/>
                </a:lnTo>
                <a:lnTo>
                  <a:pt x="992124" y="175260"/>
                </a:lnTo>
                <a:close/>
              </a:path>
              <a:path w="1047114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4" y="17907"/>
                </a:lnTo>
                <a:lnTo>
                  <a:pt x="18288" y="58102"/>
                </a:lnTo>
                <a:lnTo>
                  <a:pt x="15240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98820" y="3483864"/>
            <a:ext cx="1422400" cy="175260"/>
          </a:xfrm>
          <a:custGeom>
            <a:avLst/>
            <a:gdLst/>
            <a:ahLst/>
            <a:cxnLst/>
            <a:rect l="l" t="t" r="r" b="b"/>
            <a:pathLst>
              <a:path w="1422400" h="175260">
                <a:moveTo>
                  <a:pt x="1367028" y="175260"/>
                </a:moveTo>
                <a:lnTo>
                  <a:pt x="1363980" y="167640"/>
                </a:lnTo>
                <a:lnTo>
                  <a:pt x="1374552" y="163353"/>
                </a:lnTo>
                <a:lnTo>
                  <a:pt x="1383411" y="157353"/>
                </a:lnTo>
                <a:lnTo>
                  <a:pt x="1404175" y="116395"/>
                </a:lnTo>
                <a:lnTo>
                  <a:pt x="1406593" y="88392"/>
                </a:lnTo>
                <a:lnTo>
                  <a:pt x="1406652" y="86868"/>
                </a:lnTo>
                <a:lnTo>
                  <a:pt x="1400865" y="45934"/>
                </a:lnTo>
                <a:lnTo>
                  <a:pt x="1374552" y="11906"/>
                </a:lnTo>
                <a:lnTo>
                  <a:pt x="1363980" y="7620"/>
                </a:lnTo>
                <a:lnTo>
                  <a:pt x="1367028" y="0"/>
                </a:lnTo>
                <a:lnTo>
                  <a:pt x="1400460" y="19931"/>
                </a:lnTo>
                <a:lnTo>
                  <a:pt x="1418463" y="57150"/>
                </a:lnTo>
                <a:lnTo>
                  <a:pt x="1420973" y="71699"/>
                </a:lnTo>
                <a:lnTo>
                  <a:pt x="1421034" y="72056"/>
                </a:lnTo>
                <a:lnTo>
                  <a:pt x="1421812" y="86868"/>
                </a:lnTo>
                <a:lnTo>
                  <a:pt x="1421892" y="88392"/>
                </a:lnTo>
                <a:lnTo>
                  <a:pt x="1421132" y="102274"/>
                </a:lnTo>
                <a:lnTo>
                  <a:pt x="1421034" y="104060"/>
                </a:lnTo>
                <a:lnTo>
                  <a:pt x="1408176" y="144780"/>
                </a:lnTo>
                <a:lnTo>
                  <a:pt x="1379886" y="170711"/>
                </a:lnTo>
                <a:lnTo>
                  <a:pt x="1367028" y="175260"/>
                </a:lnTo>
                <a:close/>
              </a:path>
              <a:path w="1422400" h="175260">
                <a:moveTo>
                  <a:pt x="54864" y="175260"/>
                </a:moveTo>
                <a:lnTo>
                  <a:pt x="22288" y="155328"/>
                </a:lnTo>
                <a:lnTo>
                  <a:pt x="3429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6" y="30480"/>
                </a:lnTo>
                <a:lnTo>
                  <a:pt x="42862" y="4548"/>
                </a:lnTo>
                <a:lnTo>
                  <a:pt x="54864" y="0"/>
                </a:lnTo>
                <a:lnTo>
                  <a:pt x="57912" y="7620"/>
                </a:lnTo>
                <a:lnTo>
                  <a:pt x="48196" y="11906"/>
                </a:lnTo>
                <a:lnTo>
                  <a:pt x="39624" y="17907"/>
                </a:lnTo>
                <a:lnTo>
                  <a:pt x="18288" y="58102"/>
                </a:lnTo>
                <a:lnTo>
                  <a:pt x="15240" y="86868"/>
                </a:lnTo>
                <a:lnTo>
                  <a:pt x="16049" y="102274"/>
                </a:lnTo>
                <a:lnTo>
                  <a:pt x="25908" y="140208"/>
                </a:lnTo>
                <a:lnTo>
                  <a:pt x="57912" y="167640"/>
                </a:lnTo>
                <a:lnTo>
                  <a:pt x="5486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478268" y="3483864"/>
            <a:ext cx="1152525" cy="175260"/>
          </a:xfrm>
          <a:custGeom>
            <a:avLst/>
            <a:gdLst/>
            <a:ahLst/>
            <a:cxnLst/>
            <a:rect l="l" t="t" r="r" b="b"/>
            <a:pathLst>
              <a:path w="1152525" h="175260">
                <a:moveTo>
                  <a:pt x="1097280" y="175260"/>
                </a:moveTo>
                <a:lnTo>
                  <a:pt x="1094232" y="167640"/>
                </a:lnTo>
                <a:lnTo>
                  <a:pt x="1104804" y="163353"/>
                </a:lnTo>
                <a:lnTo>
                  <a:pt x="1113663" y="157353"/>
                </a:lnTo>
                <a:lnTo>
                  <a:pt x="1134427" y="116395"/>
                </a:lnTo>
                <a:lnTo>
                  <a:pt x="1136845" y="88392"/>
                </a:lnTo>
                <a:lnTo>
                  <a:pt x="1136904" y="86868"/>
                </a:lnTo>
                <a:lnTo>
                  <a:pt x="1131117" y="45934"/>
                </a:lnTo>
                <a:lnTo>
                  <a:pt x="1104804" y="11906"/>
                </a:lnTo>
                <a:lnTo>
                  <a:pt x="1094232" y="7620"/>
                </a:lnTo>
                <a:lnTo>
                  <a:pt x="1097280" y="0"/>
                </a:lnTo>
                <a:lnTo>
                  <a:pt x="1130712" y="19931"/>
                </a:lnTo>
                <a:lnTo>
                  <a:pt x="1148715" y="57150"/>
                </a:lnTo>
                <a:lnTo>
                  <a:pt x="1151225" y="71699"/>
                </a:lnTo>
                <a:lnTo>
                  <a:pt x="1151286" y="72056"/>
                </a:lnTo>
                <a:lnTo>
                  <a:pt x="1152064" y="86868"/>
                </a:lnTo>
                <a:lnTo>
                  <a:pt x="1152144" y="88392"/>
                </a:lnTo>
                <a:lnTo>
                  <a:pt x="1151384" y="102274"/>
                </a:lnTo>
                <a:lnTo>
                  <a:pt x="1151286" y="104060"/>
                </a:lnTo>
                <a:lnTo>
                  <a:pt x="1138428" y="144780"/>
                </a:lnTo>
                <a:lnTo>
                  <a:pt x="1110138" y="170711"/>
                </a:lnTo>
                <a:lnTo>
                  <a:pt x="1097280" y="175260"/>
                </a:lnTo>
                <a:close/>
              </a:path>
              <a:path w="1152525" h="175260">
                <a:moveTo>
                  <a:pt x="54863" y="175260"/>
                </a:moveTo>
                <a:lnTo>
                  <a:pt x="22288" y="155328"/>
                </a:lnTo>
                <a:lnTo>
                  <a:pt x="3428" y="118872"/>
                </a:lnTo>
                <a:lnTo>
                  <a:pt x="0" y="88392"/>
                </a:lnTo>
                <a:lnTo>
                  <a:pt x="857" y="72056"/>
                </a:lnTo>
                <a:lnTo>
                  <a:pt x="13715" y="30480"/>
                </a:lnTo>
                <a:lnTo>
                  <a:pt x="42862" y="4548"/>
                </a:lnTo>
                <a:lnTo>
                  <a:pt x="54863" y="0"/>
                </a:lnTo>
                <a:lnTo>
                  <a:pt x="57911" y="7620"/>
                </a:lnTo>
                <a:lnTo>
                  <a:pt x="48196" y="11906"/>
                </a:lnTo>
                <a:lnTo>
                  <a:pt x="39623" y="17907"/>
                </a:lnTo>
                <a:lnTo>
                  <a:pt x="18287" y="58102"/>
                </a:lnTo>
                <a:lnTo>
                  <a:pt x="15239" y="86868"/>
                </a:lnTo>
                <a:lnTo>
                  <a:pt x="16049" y="102274"/>
                </a:lnTo>
                <a:lnTo>
                  <a:pt x="25907" y="140208"/>
                </a:lnTo>
                <a:lnTo>
                  <a:pt x="57911" y="167640"/>
                </a:lnTo>
                <a:lnTo>
                  <a:pt x="54863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9952" y="3354323"/>
            <a:ext cx="7551420" cy="447040"/>
          </a:xfrm>
          <a:prstGeom prst="rect">
            <a:avLst/>
          </a:prstGeom>
          <a:ln w="10667">
            <a:solidFill>
              <a:srgbClr val="BF0000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60"/>
              </a:spcBef>
              <a:tabLst>
                <a:tab pos="770890" algn="l"/>
              </a:tabLst>
            </a:pPr>
            <a:r>
              <a:rPr dirty="0" sz="2300">
                <a:latin typeface="Calibri"/>
                <a:cs typeface="Calibri"/>
              </a:rPr>
              <a:t>PPI</a:t>
            </a:r>
            <a:r>
              <a:rPr dirty="0" sz="2300" spc="110">
                <a:latin typeface="Calibri"/>
                <a:cs typeface="Calibri"/>
              </a:rPr>
              <a:t> </a:t>
            </a:r>
            <a:r>
              <a:rPr dirty="0" sz="1450" spc="-50">
                <a:latin typeface="Cambria Math"/>
                <a:cs typeface="Cambria Math"/>
              </a:rPr>
              <a:t>=</a:t>
            </a:r>
            <a:r>
              <a:rPr dirty="0" sz="1450">
                <a:latin typeface="Cambria Math"/>
                <a:cs typeface="Cambria Math"/>
              </a:rPr>
              <a:t>	0.4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0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Runs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25</a:t>
            </a:r>
            <a:r>
              <a:rPr dirty="0" sz="1450" spc="3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2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Wickets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5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Catches</a:t>
            </a:r>
            <a:r>
              <a:rPr dirty="0" sz="1450" spc="175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180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0.1</a:t>
            </a:r>
            <a:r>
              <a:rPr dirty="0" sz="1450" spc="1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25">
                <a:latin typeface="Cambria Math"/>
                <a:cs typeface="Cambria Math"/>
              </a:rPr>
              <a:t> </a:t>
            </a:r>
            <a:r>
              <a:rPr dirty="0" sz="1450">
                <a:latin typeface="Calibri"/>
                <a:cs typeface="Calibri"/>
              </a:rPr>
              <a:t>Strike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Rate</a:t>
            </a:r>
            <a:r>
              <a:rPr dirty="0" sz="1450" spc="170">
                <a:latin typeface="Calibri"/>
                <a:cs typeface="Calibri"/>
              </a:rPr>
              <a:t>  </a:t>
            </a:r>
            <a:r>
              <a:rPr dirty="0" sz="1450">
                <a:latin typeface="Cambria Math"/>
                <a:cs typeface="Cambria Math"/>
              </a:rPr>
              <a:t>−</a:t>
            </a:r>
            <a:r>
              <a:rPr dirty="0" sz="1450" spc="175">
                <a:latin typeface="Cambria Math"/>
                <a:cs typeface="Cambria Math"/>
              </a:rPr>
              <a:t>  </a:t>
            </a:r>
            <a:r>
              <a:rPr dirty="0" sz="1450">
                <a:latin typeface="Cambria Math"/>
                <a:cs typeface="Cambria Math"/>
              </a:rPr>
              <a:t>2</a:t>
            </a:r>
            <a:r>
              <a:rPr dirty="0" sz="1450" spc="40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×</a:t>
            </a:r>
            <a:r>
              <a:rPr dirty="0" sz="1450" spc="30">
                <a:latin typeface="Cambria Math"/>
                <a:cs typeface="Cambria Math"/>
              </a:rPr>
              <a:t> </a:t>
            </a:r>
            <a:r>
              <a:rPr dirty="0" sz="1450" spc="-10">
                <a:latin typeface="Calibri"/>
                <a:cs typeface="Calibri"/>
              </a:rPr>
              <a:t>Economy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9" y="4039645"/>
            <a:ext cx="7567930" cy="24911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latin typeface="Calibri"/>
                <a:cs typeface="Calibri"/>
              </a:rPr>
              <a:t>Where: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300" b="1">
                <a:latin typeface="Calibri"/>
                <a:cs typeface="Calibri"/>
              </a:rPr>
              <a:t>Runs</a:t>
            </a:r>
            <a:r>
              <a:rPr dirty="0" sz="2300" spc="-7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measure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batting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contribution.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300" b="1">
                <a:latin typeface="Calibri"/>
                <a:cs typeface="Calibri"/>
              </a:rPr>
              <a:t>Wickets</a:t>
            </a:r>
            <a:r>
              <a:rPr dirty="0" sz="2300" spc="-65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carry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highest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weight,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reflecting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bowling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impact.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300" b="1">
                <a:latin typeface="Calibri"/>
                <a:cs typeface="Calibri"/>
              </a:rPr>
              <a:t>Catches</a:t>
            </a:r>
            <a:r>
              <a:rPr dirty="0" sz="2300" spc="-6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reward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fielding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performance.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300" b="1">
                <a:latin typeface="Calibri"/>
                <a:cs typeface="Calibri"/>
              </a:rPr>
              <a:t>Strike</a:t>
            </a:r>
            <a:r>
              <a:rPr dirty="0" sz="2300" spc="-75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Rate</a:t>
            </a:r>
            <a:r>
              <a:rPr dirty="0" sz="2300" spc="-80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rewards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faster</a:t>
            </a:r>
            <a:r>
              <a:rPr dirty="0" sz="2300" spc="-10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scoring.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b="1">
                <a:latin typeface="Calibri"/>
                <a:cs typeface="Calibri"/>
              </a:rPr>
              <a:t>Economy</a:t>
            </a:r>
            <a:r>
              <a:rPr dirty="0" sz="2300" spc="-100" b="1">
                <a:latin typeface="Calibri"/>
                <a:cs typeface="Calibri"/>
              </a:rPr>
              <a:t> </a:t>
            </a:r>
            <a:r>
              <a:rPr dirty="0" sz="2300" b="1">
                <a:latin typeface="Calibri"/>
                <a:cs typeface="Calibri"/>
              </a:rPr>
              <a:t>Rate</a:t>
            </a:r>
            <a:r>
              <a:rPr dirty="0" sz="2300" spc="-45" b="1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subtracted,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as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lower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economy</a:t>
            </a:r>
            <a:r>
              <a:rPr dirty="0" sz="2300" spc="-7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indicates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better bowling.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80" y="1188138"/>
            <a:ext cx="3818039" cy="52358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5325" y="1357230"/>
            <a:ext cx="4295317" cy="38944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350" y="1640782"/>
            <a:ext cx="8085455" cy="4251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25">
                <a:latin typeface="Trebuchet MS"/>
                <a:cs typeface="Trebuchet MS"/>
              </a:rPr>
              <a:t>This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output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ranks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players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on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their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45" b="1">
                <a:latin typeface="Trebuchet MS"/>
                <a:cs typeface="Trebuchet MS"/>
              </a:rPr>
              <a:t>Player </a:t>
            </a:r>
            <a:r>
              <a:rPr dirty="0" sz="2300" spc="50" b="1">
                <a:latin typeface="Trebuchet MS"/>
                <a:cs typeface="Trebuchet MS"/>
              </a:rPr>
              <a:t>Performance</a:t>
            </a:r>
            <a:r>
              <a:rPr dirty="0" sz="2300" spc="-7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Index</a:t>
            </a:r>
            <a:r>
              <a:rPr dirty="0" sz="2300" spc="-5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(PPI)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6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which</a:t>
            </a:r>
            <a:r>
              <a:rPr dirty="0" sz="2300" spc="-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combines</a:t>
            </a:r>
            <a:r>
              <a:rPr dirty="0" sz="230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fielding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contributions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into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single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score. </a:t>
            </a:r>
            <a:r>
              <a:rPr dirty="0" sz="2300" spc="70" b="1">
                <a:latin typeface="Trebuchet MS"/>
                <a:cs typeface="Trebuchet MS"/>
              </a:rPr>
              <a:t>Axar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Patel</a:t>
            </a:r>
            <a:r>
              <a:rPr dirty="0" sz="2300" spc="-105" b="1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tops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list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190">
                <a:latin typeface="Trebuchet MS"/>
                <a:cs typeface="Trebuchet MS"/>
              </a:rPr>
              <a:t> </a:t>
            </a:r>
            <a:r>
              <a:rPr dirty="0" sz="2300" spc="-40" b="1">
                <a:latin typeface="Trebuchet MS"/>
                <a:cs typeface="Trebuchet MS"/>
              </a:rPr>
              <a:t>59.62</a:t>
            </a:r>
            <a:r>
              <a:rPr dirty="0" sz="2300" spc="-40">
                <a:latin typeface="Trebuchet MS"/>
                <a:cs typeface="Trebuchet MS"/>
              </a:rPr>
              <a:t>,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followed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by </a:t>
            </a:r>
            <a:r>
              <a:rPr dirty="0" sz="2300" spc="120" b="1">
                <a:latin typeface="Trebuchet MS"/>
                <a:cs typeface="Trebuchet MS"/>
              </a:rPr>
              <a:t>Rashid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20" b="1">
                <a:latin typeface="Trebuchet MS"/>
                <a:cs typeface="Trebuchet MS"/>
              </a:rPr>
              <a:t>Khan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25" b="1">
                <a:latin typeface="Trebuchet MS"/>
                <a:cs typeface="Trebuchet MS"/>
              </a:rPr>
              <a:t>(55.33)</a:t>
            </a:r>
            <a:r>
              <a:rPr dirty="0" sz="2300" spc="-140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Shivam</a:t>
            </a:r>
            <a:r>
              <a:rPr dirty="0" sz="2300" spc="-165" b="1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Dube</a:t>
            </a:r>
            <a:r>
              <a:rPr dirty="0" sz="2300" spc="-135" b="1">
                <a:latin typeface="Trebuchet MS"/>
                <a:cs typeface="Trebuchet MS"/>
              </a:rPr>
              <a:t> </a:t>
            </a:r>
            <a:r>
              <a:rPr dirty="0" sz="2300" spc="-40" b="1">
                <a:latin typeface="Trebuchet MS"/>
                <a:cs typeface="Trebuchet MS"/>
              </a:rPr>
              <a:t>(51.15)</a:t>
            </a:r>
            <a:r>
              <a:rPr dirty="0" sz="2300" spc="-40">
                <a:latin typeface="Trebuchet MS"/>
                <a:cs typeface="Trebuchet MS"/>
              </a:rPr>
              <a:t>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70">
                <a:latin typeface="Trebuchet MS"/>
                <a:cs typeface="Trebuchet MS"/>
              </a:rPr>
              <a:t>indicating </a:t>
            </a:r>
            <a:r>
              <a:rPr dirty="0" sz="2300" spc="105">
                <a:latin typeface="Trebuchet MS"/>
                <a:cs typeface="Trebuchet MS"/>
              </a:rPr>
              <a:t>outstanding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all-</a:t>
            </a:r>
            <a:r>
              <a:rPr dirty="0" sz="2300" spc="120">
                <a:latin typeface="Trebuchet MS"/>
                <a:cs typeface="Trebuchet MS"/>
              </a:rPr>
              <a:t>round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performances.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Players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85">
                <a:latin typeface="Trebuchet MS"/>
                <a:cs typeface="Trebuchet MS"/>
              </a:rPr>
              <a:t>such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210">
                <a:latin typeface="Trebuchet MS"/>
                <a:cs typeface="Trebuchet MS"/>
              </a:rPr>
              <a:t>as </a:t>
            </a:r>
            <a:r>
              <a:rPr dirty="0" sz="2300" spc="65" b="1">
                <a:latin typeface="Trebuchet MS"/>
                <a:cs typeface="Trebuchet MS"/>
              </a:rPr>
              <a:t>Ravindra</a:t>
            </a:r>
            <a:r>
              <a:rPr dirty="0" sz="2300" spc="-12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Jadeja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Shubman</a:t>
            </a:r>
            <a:r>
              <a:rPr dirty="0" sz="2300" spc="-11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Gill</a:t>
            </a:r>
            <a:r>
              <a:rPr dirty="0" sz="2300">
                <a:latin typeface="Trebuchet MS"/>
                <a:cs typeface="Trebuchet MS"/>
              </a:rPr>
              <a:t>,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5" b="1">
                <a:latin typeface="Trebuchet MS"/>
                <a:cs typeface="Trebuchet MS"/>
              </a:rPr>
              <a:t>Rishabh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b="1">
                <a:latin typeface="Trebuchet MS"/>
                <a:cs typeface="Trebuchet MS"/>
              </a:rPr>
              <a:t>Pant</a:t>
            </a:r>
            <a:r>
              <a:rPr dirty="0" sz="2300" spc="-90" b="1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also rank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highly.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At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lower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end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of</a:t>
            </a:r>
            <a:r>
              <a:rPr dirty="0" sz="2300" spc="20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list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are</a:t>
            </a:r>
            <a:r>
              <a:rPr dirty="0" sz="2300" spc="-7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like </a:t>
            </a:r>
            <a:r>
              <a:rPr dirty="0" sz="2300" b="1">
                <a:latin typeface="Trebuchet MS"/>
                <a:cs typeface="Trebuchet MS"/>
              </a:rPr>
              <a:t>Varun</a:t>
            </a:r>
            <a:r>
              <a:rPr dirty="0" sz="2300" spc="-125" b="1">
                <a:latin typeface="Trebuchet MS"/>
                <a:cs typeface="Trebuchet MS"/>
              </a:rPr>
              <a:t> </a:t>
            </a:r>
            <a:r>
              <a:rPr dirty="0" sz="2300" spc="55" b="1">
                <a:latin typeface="Trebuchet MS"/>
                <a:cs typeface="Trebuchet MS"/>
              </a:rPr>
              <a:t>Chakravarthy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80" b="1">
                <a:latin typeface="Trebuchet MS"/>
                <a:cs typeface="Trebuchet MS"/>
              </a:rPr>
              <a:t>Abhishek</a:t>
            </a:r>
            <a:r>
              <a:rPr dirty="0" sz="2300" spc="-95" b="1">
                <a:latin typeface="Trebuchet MS"/>
                <a:cs typeface="Trebuchet MS"/>
              </a:rPr>
              <a:t> </a:t>
            </a:r>
            <a:r>
              <a:rPr dirty="0" sz="2300" spc="90" b="1">
                <a:latin typeface="Trebuchet MS"/>
                <a:cs typeface="Trebuchet MS"/>
              </a:rPr>
              <a:t>Sharma</a:t>
            </a:r>
            <a:r>
              <a:rPr dirty="0" sz="2300" spc="90">
                <a:latin typeface="Trebuchet MS"/>
                <a:cs typeface="Trebuchet MS"/>
              </a:rPr>
              <a:t>.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Overall,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190">
                <a:latin typeface="Trebuchet MS"/>
                <a:cs typeface="Trebuchet MS"/>
              </a:rPr>
              <a:t>PPI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ranking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provides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comprehensive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comparison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of </a:t>
            </a:r>
            <a:r>
              <a:rPr dirty="0" sz="2300" spc="85">
                <a:latin typeface="Trebuchet MS"/>
                <a:cs typeface="Trebuchet MS"/>
              </a:rPr>
              <a:t>player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identify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most </a:t>
            </a:r>
            <a:r>
              <a:rPr dirty="0" sz="2300" spc="55">
                <a:latin typeface="Trebuchet MS"/>
                <a:cs typeface="Trebuchet MS"/>
              </a:rPr>
              <a:t>impactful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in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dataset.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7889" rIns="0" bIns="0" rtlCol="0" vert="horz">
            <a:spAutoFit/>
          </a:bodyPr>
          <a:lstStyle/>
          <a:p>
            <a:pPr marL="972185">
              <a:lnSpc>
                <a:spcPct val="100000"/>
              </a:lnSpc>
              <a:spcBef>
                <a:spcPts val="105"/>
              </a:spcBef>
            </a:pPr>
            <a:r>
              <a:rPr dirty="0" spc="260"/>
              <a:t>IDEAL</a:t>
            </a:r>
            <a:r>
              <a:rPr dirty="0" spc="-125"/>
              <a:t> </a:t>
            </a:r>
            <a:r>
              <a:rPr dirty="0" spc="340"/>
              <a:t>PLAYING</a:t>
            </a:r>
            <a:r>
              <a:rPr dirty="0" spc="-105"/>
              <a:t> </a:t>
            </a:r>
            <a:r>
              <a:rPr dirty="0" spc="114"/>
              <a:t>XI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097" y="2232203"/>
            <a:ext cx="7288530" cy="2491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Ideal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Playing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XI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selected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by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60">
                <a:latin typeface="Trebuchet MS"/>
                <a:cs typeface="Trebuchet MS"/>
              </a:rPr>
              <a:t>choosing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25">
                <a:latin typeface="Trebuchet MS"/>
                <a:cs typeface="Trebuchet MS"/>
              </a:rPr>
              <a:t>the </a:t>
            </a:r>
            <a:r>
              <a:rPr dirty="0" sz="2300" spc="80">
                <a:latin typeface="Trebuchet MS"/>
                <a:cs typeface="Trebuchet MS"/>
              </a:rPr>
              <a:t>best-</a:t>
            </a:r>
            <a:r>
              <a:rPr dirty="0" sz="2300" spc="100">
                <a:latin typeface="Trebuchet MS"/>
                <a:cs typeface="Trebuchet MS"/>
              </a:rPr>
              <a:t>performing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players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55">
                <a:latin typeface="Trebuchet MS"/>
                <a:cs typeface="Trebuchet MS"/>
              </a:rPr>
              <a:t>from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analysis.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It </a:t>
            </a:r>
            <a:r>
              <a:rPr dirty="0" sz="2300" spc="114">
                <a:latin typeface="Trebuchet MS"/>
                <a:cs typeface="Trebuchet MS"/>
              </a:rPr>
              <a:t>includes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65">
                <a:latin typeface="Trebuchet MS"/>
                <a:cs typeface="Trebuchet MS"/>
              </a:rPr>
              <a:t>top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batsmen,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effective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bowlers,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and </a:t>
            </a:r>
            <a:r>
              <a:rPr dirty="0" sz="2300" spc="45">
                <a:latin typeface="Trebuchet MS"/>
                <a:cs typeface="Trebuchet MS"/>
              </a:rPr>
              <a:t>reliable</a:t>
            </a:r>
            <a:r>
              <a:rPr dirty="0" sz="2300" spc="-70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35">
                <a:latin typeface="Trebuchet MS"/>
                <a:cs typeface="Trebuchet MS"/>
              </a:rPr>
              <a:t>rounders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80">
                <a:latin typeface="Trebuchet MS"/>
                <a:cs typeface="Trebuchet MS"/>
              </a:rPr>
              <a:t>based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on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their</a:t>
            </a:r>
            <a:r>
              <a:rPr dirty="0" sz="2300" spc="-8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runs,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wickets, </a:t>
            </a:r>
            <a:r>
              <a:rPr dirty="0" sz="2300" spc="85">
                <a:latin typeface="Trebuchet MS"/>
                <a:cs typeface="Trebuchet MS"/>
              </a:rPr>
              <a:t>strike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rate,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economy,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60">
                <a:latin typeface="Trebuchet MS"/>
                <a:cs typeface="Trebuchet MS"/>
              </a:rPr>
              <a:t>overall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performance.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This </a:t>
            </a:r>
            <a:r>
              <a:rPr dirty="0" sz="2300" spc="135">
                <a:latin typeface="Trebuchet MS"/>
                <a:cs typeface="Trebuchet MS"/>
              </a:rPr>
              <a:t>helps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create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balanced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team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with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strong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batting, </a:t>
            </a:r>
            <a:r>
              <a:rPr dirty="0" sz="2300" spc="75">
                <a:latin typeface="Trebuchet MS"/>
                <a:cs typeface="Trebuchet MS"/>
              </a:rPr>
              <a:t>bowling,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14">
                <a:latin typeface="Trebuchet MS"/>
                <a:cs typeface="Trebuchet MS"/>
              </a:rPr>
              <a:t>round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-10">
                <a:latin typeface="Trebuchet MS"/>
                <a:cs typeface="Trebuchet MS"/>
              </a:rPr>
              <a:t>abilities.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2576" y="2044376"/>
            <a:ext cx="6349046" cy="414876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873" y="1980727"/>
            <a:ext cx="8277225" cy="3195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7785">
              <a:lnSpc>
                <a:spcPct val="100400"/>
              </a:lnSpc>
              <a:spcBef>
                <a:spcPts val="105"/>
              </a:spcBef>
            </a:pPr>
            <a:r>
              <a:rPr dirty="0" sz="2300" spc="11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program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5">
                <a:latin typeface="Trebuchet MS"/>
                <a:cs typeface="Trebuchet MS"/>
              </a:rPr>
              <a:t>selects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the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Ideal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Playing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00">
                <a:latin typeface="Trebuchet MS"/>
                <a:cs typeface="Trebuchet MS"/>
              </a:rPr>
              <a:t>XI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by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comparing </a:t>
            </a:r>
            <a:r>
              <a:rPr dirty="0" sz="2300" spc="125">
                <a:latin typeface="Trebuchet MS"/>
                <a:cs typeface="Trebuchet MS"/>
              </a:rPr>
              <a:t>players'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performances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using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80">
                <a:latin typeface="Trebuchet MS"/>
                <a:cs typeface="Trebuchet MS"/>
              </a:rPr>
              <a:t>runs,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catches,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0">
                <a:latin typeface="Trebuchet MS"/>
                <a:cs typeface="Trebuchet MS"/>
              </a:rPr>
              <a:t>and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wickets.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It </a:t>
            </a:r>
            <a:r>
              <a:rPr dirty="0" sz="2300" spc="195">
                <a:latin typeface="Trebuchet MS"/>
                <a:cs typeface="Trebuchet MS"/>
              </a:rPr>
              <a:t>chooses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50">
                <a:latin typeface="Trebuchet MS"/>
                <a:cs typeface="Trebuchet MS"/>
              </a:rPr>
              <a:t>the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best</a:t>
            </a:r>
            <a:r>
              <a:rPr dirty="0" sz="2300" spc="-13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batsmen,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all-</a:t>
            </a:r>
            <a:r>
              <a:rPr dirty="0" sz="2300" spc="95">
                <a:latin typeface="Trebuchet MS"/>
                <a:cs typeface="Trebuchet MS"/>
              </a:rPr>
              <a:t>rounders,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25">
                <a:latin typeface="Trebuchet MS"/>
                <a:cs typeface="Trebuchet MS"/>
              </a:rPr>
              <a:t>bowlers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to </a:t>
            </a:r>
            <a:r>
              <a:rPr dirty="0" sz="2300" spc="65">
                <a:latin typeface="Trebuchet MS"/>
                <a:cs typeface="Trebuchet MS"/>
              </a:rPr>
              <a:t>form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30">
                <a:latin typeface="Trebuchet MS"/>
                <a:cs typeface="Trebuchet MS"/>
              </a:rPr>
              <a:t>balanced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team.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00400"/>
              </a:lnSpc>
            </a:pPr>
            <a:r>
              <a:rPr dirty="0" sz="2300" spc="85">
                <a:latin typeface="Trebuchet MS"/>
                <a:cs typeface="Trebuchet MS"/>
              </a:rPr>
              <a:t>Example: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Shubman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Gill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selected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20">
                <a:latin typeface="Trebuchet MS"/>
                <a:cs typeface="Trebuchet MS"/>
              </a:rPr>
              <a:t>he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140">
                <a:latin typeface="Trebuchet MS"/>
                <a:cs typeface="Trebuchet MS"/>
              </a:rPr>
              <a:t>371 </a:t>
            </a:r>
            <a:r>
              <a:rPr dirty="0" sz="2300" spc="75">
                <a:latin typeface="Trebuchet MS"/>
                <a:cs typeface="Trebuchet MS"/>
              </a:rPr>
              <a:t>runs.</a:t>
            </a:r>
            <a:r>
              <a:rPr dirty="0" sz="2300" spc="-135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Axar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Patel</a:t>
            </a:r>
            <a:r>
              <a:rPr dirty="0" sz="2300" spc="-10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85">
                <a:latin typeface="Trebuchet MS"/>
                <a:cs typeface="Trebuchet MS"/>
              </a:rPr>
              <a:t> </a:t>
            </a:r>
            <a:r>
              <a:rPr dirty="0" sz="2300" spc="114">
                <a:latin typeface="Trebuchet MS"/>
                <a:cs typeface="Trebuchet MS"/>
              </a:rPr>
              <a:t>selected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0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-20">
                <a:latin typeface="Trebuchet MS"/>
                <a:cs typeface="Trebuchet MS"/>
              </a:rPr>
              <a:t>all-</a:t>
            </a:r>
            <a:r>
              <a:rPr dirty="0" sz="2300" spc="114">
                <a:latin typeface="Trebuchet MS"/>
                <a:cs typeface="Trebuchet MS"/>
              </a:rPr>
              <a:t>rounder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he </a:t>
            </a:r>
            <a:r>
              <a:rPr dirty="0" sz="2300" spc="170">
                <a:latin typeface="Trebuchet MS"/>
                <a:cs typeface="Trebuchet MS"/>
              </a:rPr>
              <a:t>scored</a:t>
            </a:r>
            <a:r>
              <a:rPr dirty="0" sz="2300" spc="-14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345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85">
                <a:latin typeface="Trebuchet MS"/>
                <a:cs typeface="Trebuchet MS"/>
              </a:rPr>
              <a:t>runs,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took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4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catches,</a:t>
            </a:r>
            <a:r>
              <a:rPr dirty="0" sz="2300" spc="-160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and</a:t>
            </a:r>
            <a:r>
              <a:rPr dirty="0" sz="2300" spc="-125">
                <a:latin typeface="Trebuchet MS"/>
                <a:cs typeface="Trebuchet MS"/>
              </a:rPr>
              <a:t> </a:t>
            </a:r>
            <a:r>
              <a:rPr dirty="0" sz="2300" spc="90">
                <a:latin typeface="Trebuchet MS"/>
                <a:cs typeface="Trebuchet MS"/>
              </a:rPr>
              <a:t>claimed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4</a:t>
            </a:r>
            <a:r>
              <a:rPr dirty="0" sz="2300" spc="-95">
                <a:latin typeface="Trebuchet MS"/>
                <a:cs typeface="Trebuchet MS"/>
              </a:rPr>
              <a:t> </a:t>
            </a:r>
            <a:r>
              <a:rPr dirty="0" sz="2300" spc="45">
                <a:latin typeface="Trebuchet MS"/>
                <a:cs typeface="Trebuchet MS"/>
              </a:rPr>
              <a:t>wickets.</a:t>
            </a:r>
            <a:endParaRPr sz="2300">
              <a:latin typeface="Trebuchet MS"/>
              <a:cs typeface="Trebuchet MS"/>
            </a:endParaRPr>
          </a:p>
          <a:p>
            <a:pPr marL="12700" marR="619760">
              <a:lnSpc>
                <a:spcPts val="2770"/>
              </a:lnSpc>
              <a:spcBef>
                <a:spcPts val="95"/>
              </a:spcBef>
            </a:pPr>
            <a:r>
              <a:rPr dirty="0" sz="2300" spc="155">
                <a:latin typeface="Trebuchet MS"/>
                <a:cs typeface="Trebuchet MS"/>
              </a:rPr>
              <a:t>Mohammed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Shami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145">
                <a:latin typeface="Trebuchet MS"/>
                <a:cs typeface="Trebuchet MS"/>
              </a:rPr>
              <a:t>is</a:t>
            </a:r>
            <a:r>
              <a:rPr dirty="0" sz="2300" spc="-90">
                <a:latin typeface="Trebuchet MS"/>
                <a:cs typeface="Trebuchet MS"/>
              </a:rPr>
              <a:t> </a:t>
            </a:r>
            <a:r>
              <a:rPr dirty="0" sz="2300" spc="110">
                <a:latin typeface="Trebuchet MS"/>
                <a:cs typeface="Trebuchet MS"/>
              </a:rPr>
              <a:t>selected</a:t>
            </a:r>
            <a:r>
              <a:rPr dirty="0" sz="2300" spc="-120">
                <a:latin typeface="Trebuchet MS"/>
                <a:cs typeface="Trebuchet MS"/>
              </a:rPr>
              <a:t> </a:t>
            </a:r>
            <a:r>
              <a:rPr dirty="0" sz="2300" spc="245">
                <a:latin typeface="Trebuchet MS"/>
                <a:cs typeface="Trebuchet MS"/>
              </a:rPr>
              <a:t>as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55">
                <a:latin typeface="Trebuchet MS"/>
                <a:cs typeface="Trebuchet MS"/>
              </a:rPr>
              <a:t>a</a:t>
            </a:r>
            <a:r>
              <a:rPr dirty="0" sz="2300" spc="-114">
                <a:latin typeface="Trebuchet MS"/>
                <a:cs typeface="Trebuchet MS"/>
              </a:rPr>
              <a:t> </a:t>
            </a:r>
            <a:r>
              <a:rPr dirty="0" sz="2300" spc="105">
                <a:latin typeface="Trebuchet MS"/>
                <a:cs typeface="Trebuchet MS"/>
              </a:rPr>
              <a:t>bowler</a:t>
            </a:r>
            <a:r>
              <a:rPr dirty="0" sz="2300" spc="-150">
                <a:latin typeface="Trebuchet MS"/>
                <a:cs typeface="Trebuchet MS"/>
              </a:rPr>
              <a:t> </a:t>
            </a:r>
            <a:r>
              <a:rPr dirty="0" sz="2300" spc="175">
                <a:latin typeface="Trebuchet MS"/>
                <a:cs typeface="Trebuchet MS"/>
              </a:rPr>
              <a:t>because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he </a:t>
            </a:r>
            <a:r>
              <a:rPr dirty="0" sz="2300" spc="90">
                <a:latin typeface="Trebuchet MS"/>
                <a:cs typeface="Trebuchet MS"/>
              </a:rPr>
              <a:t>took</a:t>
            </a:r>
            <a:r>
              <a:rPr dirty="0" sz="2300" spc="-140">
                <a:latin typeface="Trebuchet MS"/>
                <a:cs typeface="Trebuchet MS"/>
              </a:rPr>
              <a:t> </a:t>
            </a:r>
            <a:r>
              <a:rPr dirty="0" sz="2300" spc="170">
                <a:latin typeface="Trebuchet MS"/>
                <a:cs typeface="Trebuchet MS"/>
              </a:rPr>
              <a:t>10</a:t>
            </a:r>
            <a:r>
              <a:rPr dirty="0" sz="2300" spc="-110">
                <a:latin typeface="Trebuchet MS"/>
                <a:cs typeface="Trebuchet MS"/>
              </a:rPr>
              <a:t> </a:t>
            </a:r>
            <a:r>
              <a:rPr dirty="0" sz="2300" spc="40">
                <a:latin typeface="Trebuchet MS"/>
                <a:cs typeface="Trebuchet MS"/>
              </a:rPr>
              <a:t>wickets.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6166" y="3177921"/>
            <a:ext cx="6761988" cy="1067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cricket analyses</dc:title>
  <dcterms:created xsi:type="dcterms:W3CDTF">2026-07-23T14:21:44Z</dcterms:created>
  <dcterms:modified xsi:type="dcterms:W3CDTF">2026-07-23T14:21:44Z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2026-07-23T00:00:00Z</vt:filetime>
  </property>
  <property fmtid="{D5CDD505-2E9C-101B-9397-08002B2CF9AE}" pid="4" name="LastSaved">
    <vt:filetime>2026-07-23T00:00:00Z</vt:filetime>
  </property>
  <property fmtid="{D5CDD505-2E9C-101B-9397-08002B2CF9AE}" pid="5" name="Producer">
    <vt:lpwstr>Microsoft: Print To PDF</vt:lpwstr>
  </property>
</Properties>
</file>